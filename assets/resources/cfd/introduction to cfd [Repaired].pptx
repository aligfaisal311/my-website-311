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4" r:id="rId1"/>
  </p:sldMasterIdLst>
  <p:notesMasterIdLst>
    <p:notesMasterId r:id="rId14"/>
  </p:notesMasterIdLst>
  <p:sldIdLst>
    <p:sldId id="286" r:id="rId2"/>
    <p:sldId id="294" r:id="rId3"/>
    <p:sldId id="332" r:id="rId4"/>
    <p:sldId id="293" r:id="rId5"/>
    <p:sldId id="501" r:id="rId6"/>
    <p:sldId id="331" r:id="rId7"/>
    <p:sldId id="430" r:id="rId8"/>
    <p:sldId id="270" r:id="rId9"/>
    <p:sldId id="262" r:id="rId10"/>
    <p:sldId id="502" r:id="rId11"/>
    <p:sldId id="503" r:id="rId12"/>
    <p:sldId id="50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2B2B"/>
    <a:srgbClr val="28B78D"/>
    <a:srgbClr val="969696"/>
    <a:srgbClr val="D7DDE1"/>
    <a:srgbClr val="E99C01"/>
    <a:srgbClr val="4FD9B2"/>
    <a:srgbClr val="E88484"/>
    <a:srgbClr val="FEC148"/>
    <a:srgbClr val="24A882"/>
    <a:srgbClr val="BF2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384" autoAdjust="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C5E2A-21E8-4890-B22E-8850CBFE187B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D1B007-7757-450E-B07D-76E5081B8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174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,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adipiscing</a:t>
            </a:r>
            <a:r>
              <a:rPr lang="en-IN" dirty="0"/>
              <a:t> </a:t>
            </a:r>
            <a:r>
              <a:rPr lang="en-IN" dirty="0" err="1"/>
              <a:t>elit</a:t>
            </a:r>
            <a:r>
              <a:rPr lang="en-IN" dirty="0"/>
              <a:t>, </a:t>
            </a:r>
            <a:r>
              <a:rPr lang="en-IN" dirty="0" err="1"/>
              <a:t>sed</a:t>
            </a:r>
            <a:r>
              <a:rPr lang="en-IN" dirty="0"/>
              <a:t> do </a:t>
            </a:r>
            <a:r>
              <a:rPr lang="en-IN" dirty="0" err="1"/>
              <a:t>eiusmod</a:t>
            </a:r>
            <a:r>
              <a:rPr lang="en-IN" dirty="0"/>
              <a:t> </a:t>
            </a:r>
            <a:r>
              <a:rPr lang="en-IN" dirty="0" err="1"/>
              <a:t>tempor</a:t>
            </a:r>
            <a:r>
              <a:rPr lang="en-IN" dirty="0"/>
              <a:t> </a:t>
            </a:r>
            <a:r>
              <a:rPr lang="en-IN" dirty="0" err="1"/>
              <a:t>incididunt</a:t>
            </a:r>
            <a:r>
              <a:rPr lang="en-IN" dirty="0"/>
              <a:t> </a:t>
            </a:r>
            <a:r>
              <a:rPr lang="en-IN" dirty="0" err="1"/>
              <a:t>ut</a:t>
            </a:r>
            <a:r>
              <a:rPr lang="en-IN" dirty="0"/>
              <a:t> </a:t>
            </a:r>
            <a:r>
              <a:rPr lang="en-IN" dirty="0" err="1"/>
              <a:t>labore</a:t>
            </a:r>
            <a:r>
              <a:rPr lang="en-IN" dirty="0"/>
              <a:t> et </a:t>
            </a:r>
            <a:r>
              <a:rPr lang="en-IN" dirty="0" err="1"/>
              <a:t>dolore</a:t>
            </a:r>
            <a:r>
              <a:rPr lang="en-IN" dirty="0"/>
              <a:t> magna </a:t>
            </a:r>
            <a:r>
              <a:rPr lang="en-IN" dirty="0" err="1"/>
              <a:t>aliqua</a:t>
            </a:r>
            <a:r>
              <a:rPr lang="en-IN" dirty="0"/>
              <a:t>. </a:t>
            </a:r>
            <a:r>
              <a:rPr lang="en-IN" dirty="0" err="1"/>
              <a:t>Ut</a:t>
            </a:r>
            <a:r>
              <a:rPr lang="en-IN" dirty="0"/>
              <a:t> </a:t>
            </a:r>
            <a:r>
              <a:rPr lang="en-IN" dirty="0" err="1"/>
              <a:t>enim</a:t>
            </a:r>
            <a:r>
              <a:rPr lang="en-IN" dirty="0"/>
              <a:t> ad minim </a:t>
            </a:r>
            <a:r>
              <a:rPr lang="en-IN" dirty="0" err="1"/>
              <a:t>veniam</a:t>
            </a:r>
            <a:r>
              <a:rPr lang="en-IN" dirty="0"/>
              <a:t>, </a:t>
            </a:r>
            <a:r>
              <a:rPr lang="en-IN" dirty="0" err="1"/>
              <a:t>quis</a:t>
            </a:r>
            <a:r>
              <a:rPr lang="en-IN" dirty="0"/>
              <a:t> </a:t>
            </a:r>
            <a:r>
              <a:rPr lang="en-IN" dirty="0" err="1"/>
              <a:t>nostrud</a:t>
            </a:r>
            <a:r>
              <a:rPr lang="en-IN" dirty="0"/>
              <a:t> exercitation </a:t>
            </a:r>
            <a:r>
              <a:rPr lang="en-IN" dirty="0" err="1"/>
              <a:t>ullamco</a:t>
            </a:r>
            <a:r>
              <a:rPr lang="en-IN" dirty="0"/>
              <a:t> </a:t>
            </a:r>
            <a:r>
              <a:rPr lang="en-IN" dirty="0" err="1"/>
              <a:t>laboris</a:t>
            </a:r>
            <a:r>
              <a:rPr lang="en-IN" dirty="0"/>
              <a:t> nisi </a:t>
            </a:r>
            <a:r>
              <a:rPr lang="en-IN" dirty="0" err="1"/>
              <a:t>ut</a:t>
            </a:r>
            <a:r>
              <a:rPr lang="en-IN" dirty="0"/>
              <a:t> </a:t>
            </a:r>
            <a:r>
              <a:rPr lang="en-IN" dirty="0" err="1"/>
              <a:t>aliquip</a:t>
            </a:r>
            <a:r>
              <a:rPr lang="en-IN" dirty="0"/>
              <a:t> ex </a:t>
            </a:r>
            <a:r>
              <a:rPr lang="en-IN" dirty="0" err="1"/>
              <a:t>ea</a:t>
            </a:r>
            <a:r>
              <a:rPr lang="en-IN" dirty="0"/>
              <a:t> </a:t>
            </a:r>
            <a:r>
              <a:rPr lang="en-IN" dirty="0" err="1"/>
              <a:t>commodo</a:t>
            </a:r>
            <a:r>
              <a:rPr lang="en-IN" dirty="0"/>
              <a:t> </a:t>
            </a:r>
            <a:r>
              <a:rPr lang="en-IN" dirty="0" err="1"/>
              <a:t>consequat</a:t>
            </a:r>
            <a:r>
              <a:rPr lang="en-IN" dirty="0"/>
              <a:t>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E7574-73BD-46E4-95FE-00EB5B2818E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391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6AFDFE-F0F8-4C62-8598-B3BB3A01B36D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707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D1B007-7757-450E-B07D-76E5081B877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776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B0771836-D83A-4D7F-B84A-239E042A49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2025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2025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2025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2025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FF92E2-5124-40F7-AB39-D4CED77B6F65}" type="slidenum">
              <a:rPr lang="en-US" altLang="en-US" sz="1200" b="0">
                <a:latin typeface="Times New Roman" panose="02020603050405020304" pitchFamily="18" charset="0"/>
              </a:rPr>
              <a:pPr/>
              <a:t>5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19756995-9FD7-4A82-B2A2-4972E9AA14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3AB5436A-48BB-4481-9B3F-11A3C5C4EE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F9A26C60-E4C2-4DF0-B186-8C3447B7CE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B6E4229-BC4C-4813-897A-75723F779DF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9E13AD87-CA67-4CCB-B692-38B5770370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96761AB5-3B25-41AA-B748-07A7C971FD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3054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902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935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844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592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025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243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023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573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663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262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465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93807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1740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640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0977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314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228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C8C5A-7ABE-4919-93C0-0D9E33C0CE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28040" y="333054"/>
            <a:ext cx="7335921" cy="691118"/>
          </a:xfrm>
        </p:spPr>
        <p:txBody>
          <a:bodyPr>
            <a:normAutofit/>
          </a:bodyPr>
          <a:lstStyle>
            <a:lvl1pPr algn="ctr">
              <a:defRPr sz="5400" b="1"/>
            </a:lvl1pPr>
          </a:lstStyle>
          <a:p>
            <a:r>
              <a:rPr lang="en-US" dirty="0"/>
              <a:t>Click to edit the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0A42B-9D04-49A2-8FE2-3B201F287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F2CA-194E-4E64-8649-81384584209B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AB63D-048F-4445-9C3D-7DEBF1EC6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44217-F973-4DE6-BE86-A2CABE76C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94FE7-5537-4176-BAD0-1BA98FC90E8E}" type="slidenum">
              <a:rPr lang="en-US" smtClean="0"/>
              <a:t>‹#›</a:t>
            </a:fld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9CE1A98F-261D-48B2-A44A-0C03EE9F132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45906" y="2347880"/>
            <a:ext cx="1517752" cy="1517752"/>
          </a:xfrm>
          <a:prstGeom prst="roundRect">
            <a:avLst>
              <a:gd name="adj" fmla="val 9279"/>
            </a:avLst>
          </a:prstGeo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dirty="0"/>
              <a:t>Click to add icon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D0AA82E-ACAA-4DD4-94A4-4C9156C7E18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4247" y="4943494"/>
            <a:ext cx="3481070" cy="376141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Add the Job Position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B3CE0873-274D-4854-B44B-EE81B179C1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4247" y="4380249"/>
            <a:ext cx="3481070" cy="555625"/>
          </a:xfrm>
        </p:spPr>
        <p:txBody>
          <a:bodyPr>
            <a:noAutofit/>
          </a:bodyPr>
          <a:lstStyle>
            <a:lvl1pPr marL="0" indent="0" algn="ctr">
              <a:buNone/>
              <a:defRPr sz="2800" b="1">
                <a:latin typeface="+mj-lt"/>
              </a:defRPr>
            </a:lvl1pPr>
            <a:lvl2pPr marL="457200" indent="0" algn="ctr">
              <a:buNone/>
              <a:defRPr sz="3200" b="1"/>
            </a:lvl2pPr>
            <a:lvl3pPr marL="914400" indent="0" algn="ctr">
              <a:buNone/>
              <a:defRPr sz="3200" b="1"/>
            </a:lvl3pPr>
            <a:lvl4pPr marL="1371600" indent="0" algn="ctr">
              <a:buNone/>
              <a:defRPr sz="3200" b="1"/>
            </a:lvl4pPr>
            <a:lvl5pPr marL="1828800" indent="0" algn="ctr">
              <a:buNone/>
              <a:defRPr sz="3200" b="1"/>
            </a:lvl5pPr>
          </a:lstStyle>
          <a:p>
            <a:pPr lvl="0"/>
            <a:r>
              <a:rPr lang="en-US" dirty="0"/>
              <a:t>Add Member Name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8817E144-40C1-45AC-A676-58D5F60DFC7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945192" y="1031558"/>
            <a:ext cx="8305800" cy="625475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dirty="0"/>
              <a:t>Add Some Brief Text Here As a Subtitle and Remember This is Just a Demo Text So Consider Replacing This With Your Own Information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F6BFA4EA-874F-4341-BED5-21D05560D5F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7739" y="5331192"/>
            <a:ext cx="2874085" cy="863283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Add Some Brief Text Here As a Subtitle and Remember This is Just a Demo Text</a:t>
            </a:r>
          </a:p>
        </p:txBody>
      </p:sp>
      <p:sp>
        <p:nvSpPr>
          <p:cNvPr id="28" name="Picture Placeholder 30">
            <a:extLst>
              <a:ext uri="{FF2B5EF4-FFF2-40B4-BE49-F238E27FC236}">
                <a16:creationId xmlns:a16="http://schemas.microsoft.com/office/drawing/2014/main" id="{951A010E-C355-4D11-8B0A-BCA4F43E61E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309858" y="2347880"/>
            <a:ext cx="1517752" cy="1517752"/>
          </a:xfrm>
          <a:prstGeom prst="roundRect">
            <a:avLst>
              <a:gd name="adj" fmla="val 9279"/>
            </a:avLst>
          </a:prstGeo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dirty="0"/>
              <a:t>Click to add icon</a:t>
            </a:r>
          </a:p>
        </p:txBody>
      </p:sp>
      <p:sp>
        <p:nvSpPr>
          <p:cNvPr id="29" name="Text Placeholder 41">
            <a:extLst>
              <a:ext uri="{FF2B5EF4-FFF2-40B4-BE49-F238E27FC236}">
                <a16:creationId xmlns:a16="http://schemas.microsoft.com/office/drawing/2014/main" id="{057E9956-8649-47AE-92BB-68E60A03FA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28199" y="4943494"/>
            <a:ext cx="3481070" cy="376141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Add the Job Position</a:t>
            </a:r>
          </a:p>
        </p:txBody>
      </p:sp>
      <p:sp>
        <p:nvSpPr>
          <p:cNvPr id="30" name="Text Placeholder 43">
            <a:extLst>
              <a:ext uri="{FF2B5EF4-FFF2-40B4-BE49-F238E27FC236}">
                <a16:creationId xmlns:a16="http://schemas.microsoft.com/office/drawing/2014/main" id="{92F9FF1A-DFBB-4F53-B1DA-3948F0EB7D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28199" y="4380249"/>
            <a:ext cx="3481070" cy="555625"/>
          </a:xfrm>
        </p:spPr>
        <p:txBody>
          <a:bodyPr>
            <a:noAutofit/>
          </a:bodyPr>
          <a:lstStyle>
            <a:lvl1pPr marL="0" indent="0" algn="ctr">
              <a:buNone/>
              <a:defRPr sz="2800" b="1">
                <a:latin typeface="+mj-lt"/>
              </a:defRPr>
            </a:lvl1pPr>
            <a:lvl2pPr marL="457200" indent="0" algn="ctr">
              <a:buNone/>
              <a:defRPr sz="3200" b="1"/>
            </a:lvl2pPr>
            <a:lvl3pPr marL="914400" indent="0" algn="ctr">
              <a:buNone/>
              <a:defRPr sz="3200" b="1"/>
            </a:lvl3pPr>
            <a:lvl4pPr marL="1371600" indent="0" algn="ctr">
              <a:buNone/>
              <a:defRPr sz="3200" b="1"/>
            </a:lvl4pPr>
            <a:lvl5pPr marL="1828800" indent="0" algn="ctr">
              <a:buNone/>
              <a:defRPr sz="3200" b="1"/>
            </a:lvl5pPr>
          </a:lstStyle>
          <a:p>
            <a:pPr lvl="0"/>
            <a:r>
              <a:rPr lang="en-US" dirty="0"/>
              <a:t>Add Member Name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B338A0C4-BC94-4741-9ADE-D0FC5B8627D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31691" y="5331192"/>
            <a:ext cx="2874085" cy="863283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Add Some Brief Text Here As a Subtitle and Remember This is Just a Demo Text</a:t>
            </a:r>
          </a:p>
        </p:txBody>
      </p:sp>
      <p:sp>
        <p:nvSpPr>
          <p:cNvPr id="36" name="Picture Placeholder 30">
            <a:extLst>
              <a:ext uri="{FF2B5EF4-FFF2-40B4-BE49-F238E27FC236}">
                <a16:creationId xmlns:a16="http://schemas.microsoft.com/office/drawing/2014/main" id="{C6F26513-C595-41D2-A609-617034A7EEFE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981759" y="2347880"/>
            <a:ext cx="1517752" cy="1517752"/>
          </a:xfrm>
          <a:prstGeom prst="roundRect">
            <a:avLst>
              <a:gd name="adj" fmla="val 9279"/>
            </a:avLst>
          </a:prstGeo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dirty="0"/>
              <a:t>Click to add icon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B5167220-F2DE-4075-93A2-03F55BD0526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00100" y="4943494"/>
            <a:ext cx="3481070" cy="376141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Add the Job Position</a:t>
            </a:r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E76F1D0F-0878-4EC8-AD91-DB31A2202D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000100" y="4380249"/>
            <a:ext cx="3481070" cy="555625"/>
          </a:xfrm>
        </p:spPr>
        <p:txBody>
          <a:bodyPr>
            <a:noAutofit/>
          </a:bodyPr>
          <a:lstStyle>
            <a:lvl1pPr marL="0" indent="0" algn="ctr">
              <a:buNone/>
              <a:defRPr sz="2800" b="1">
                <a:latin typeface="+mj-lt"/>
              </a:defRPr>
            </a:lvl1pPr>
            <a:lvl2pPr marL="457200" indent="0" algn="ctr">
              <a:buNone/>
              <a:defRPr sz="3200" b="1"/>
            </a:lvl2pPr>
            <a:lvl3pPr marL="914400" indent="0" algn="ctr">
              <a:buNone/>
              <a:defRPr sz="3200" b="1"/>
            </a:lvl3pPr>
            <a:lvl4pPr marL="1371600" indent="0" algn="ctr">
              <a:buNone/>
              <a:defRPr sz="3200" b="1"/>
            </a:lvl4pPr>
            <a:lvl5pPr marL="1828800" indent="0" algn="ctr">
              <a:buNone/>
              <a:defRPr sz="3200" b="1"/>
            </a:lvl5pPr>
          </a:lstStyle>
          <a:p>
            <a:pPr lvl="0"/>
            <a:r>
              <a:rPr lang="en-US" dirty="0"/>
              <a:t>Add Member Name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8DF7DC31-F76B-4C81-ABA1-033FEA42415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03592" y="5331192"/>
            <a:ext cx="2874085" cy="863283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Add Some Brief Text Here As a Subtitle and Remember This is Just a Demo Text</a:t>
            </a:r>
          </a:p>
        </p:txBody>
      </p:sp>
    </p:spTree>
    <p:extLst>
      <p:ext uri="{BB962C8B-B14F-4D97-AF65-F5344CB8AC3E}">
        <p14:creationId xmlns:p14="http://schemas.microsoft.com/office/powerpoint/2010/main" val="1410436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5C68CD7-D335-4E82-8529-CEAACD27A903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905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  <p:sldLayoutId id="2147483885" r:id="rId11"/>
    <p:sldLayoutId id="2147483886" r:id="rId12"/>
    <p:sldLayoutId id="2147483887" r:id="rId13"/>
    <p:sldLayoutId id="2147483888" r:id="rId14"/>
    <p:sldLayoutId id="2147483889" r:id="rId15"/>
    <p:sldLayoutId id="2147483890" r:id="rId16"/>
    <p:sldLayoutId id="2147483891" r:id="rId17"/>
    <p:sldLayoutId id="2147483892" r:id="rId18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jp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jpg"/><Relationship Id="rId9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E579FD99-9C0B-48EB-AA30-BFEEC75F9C83}"/>
              </a:ext>
            </a:extLst>
          </p:cNvPr>
          <p:cNvGrpSpPr/>
          <p:nvPr/>
        </p:nvGrpSpPr>
        <p:grpSpPr>
          <a:xfrm>
            <a:off x="349247" y="851568"/>
            <a:ext cx="11679036" cy="5607473"/>
            <a:chOff x="213065" y="400994"/>
            <a:chExt cx="11679036" cy="5607473"/>
          </a:xfrm>
        </p:grpSpPr>
        <p:grpSp>
          <p:nvGrpSpPr>
            <p:cNvPr id="19" name="Group 18"/>
            <p:cNvGrpSpPr/>
            <p:nvPr/>
          </p:nvGrpSpPr>
          <p:grpSpPr>
            <a:xfrm>
              <a:off x="2081982" y="400994"/>
              <a:ext cx="7209914" cy="4854353"/>
              <a:chOff x="2482211" y="1745"/>
              <a:chExt cx="7209914" cy="4854353"/>
            </a:xfrm>
          </p:grpSpPr>
          <p:sp>
            <p:nvSpPr>
              <p:cNvPr id="7" name="Rectangle 6"/>
              <p:cNvSpPr/>
              <p:nvPr/>
            </p:nvSpPr>
            <p:spPr>
              <a:xfrm rot="2700000">
                <a:off x="3300334" y="2337750"/>
                <a:ext cx="2518348" cy="2518348"/>
              </a:xfrm>
              <a:prstGeom prst="rect">
                <a:avLst/>
              </a:prstGeom>
              <a:blipFill dpi="0" rotWithShape="0">
                <a:blip r:embed="rId3"/>
                <a:srcRect/>
                <a:stretch>
                  <a:fillRect r="-12000" b="-63000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8" name="Rectangle 7"/>
              <p:cNvSpPr/>
              <p:nvPr/>
            </p:nvSpPr>
            <p:spPr>
              <a:xfrm rot="2700000">
                <a:off x="7173777" y="2337750"/>
                <a:ext cx="2518348" cy="2518348"/>
              </a:xfrm>
              <a:prstGeom prst="rect">
                <a:avLst/>
              </a:prstGeom>
              <a:blipFill dpi="0" rotWithShape="0">
                <a:blip r:embed="rId4"/>
                <a:srcRect/>
                <a:stretch>
                  <a:fillRect l="-46000" t="-8000" r="-11000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" name="Rectangle 8"/>
              <p:cNvSpPr/>
              <p:nvPr/>
            </p:nvSpPr>
            <p:spPr>
              <a:xfrm rot="2700000">
                <a:off x="5956229" y="2455768"/>
                <a:ext cx="1080000" cy="1080000"/>
              </a:xfrm>
              <a:prstGeom prst="rect">
                <a:avLst/>
              </a:prstGeom>
              <a:solidFill>
                <a:srgbClr val="5858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2482211" y="1745"/>
                <a:ext cx="5459896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200" b="1" spc="300" dirty="0">
                    <a:solidFill>
                      <a:srgbClr val="0070C0"/>
                    </a:solidFill>
                    <a:highlight>
                      <a:srgbClr val="000000"/>
                    </a:highlight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Instructor</a:t>
                </a:r>
              </a:p>
              <a:p>
                <a:pPr algn="ctr"/>
                <a:r>
                  <a:rPr lang="en-IN" sz="2200" b="1" spc="300" dirty="0">
                    <a:solidFill>
                      <a:srgbClr val="0070C0"/>
                    </a:solidFill>
                    <a:highlight>
                      <a:srgbClr val="000000"/>
                    </a:highlight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</a:t>
                </a:r>
              </a:p>
              <a:p>
                <a:pPr algn="ctr"/>
                <a:r>
                  <a:rPr lang="en-IN" sz="2200" b="1" spc="300" dirty="0">
                    <a:solidFill>
                      <a:srgbClr val="0070C0"/>
                    </a:solidFill>
                    <a:highlight>
                      <a:srgbClr val="000000"/>
                    </a:highlight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Faisal Shameem</a:t>
                </a:r>
              </a:p>
            </p:txBody>
          </p:sp>
          <p:pic>
            <p:nvPicPr>
              <p:cNvPr id="13" name="Graphic 12" descr="Handshake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039030" y="254259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5" name="Rectangle 14"/>
              <p:cNvSpPr/>
              <p:nvPr/>
            </p:nvSpPr>
            <p:spPr>
              <a:xfrm>
                <a:off x="6473370" y="3820771"/>
                <a:ext cx="45719" cy="86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6426572" y="4722495"/>
                <a:ext cx="128337" cy="12833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DABBCF6-FE0B-4A49-B640-B5598D775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915660">
              <a:off x="6782007" y="2721707"/>
              <a:ext cx="2552174" cy="2574129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87253798-1CA7-4635-A786-A682E1693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728402">
              <a:off x="2699287" y="2702519"/>
              <a:ext cx="2742898" cy="2881195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B847848-5E3D-478E-8F71-A0452BB3C7C6}"/>
                </a:ext>
              </a:extLst>
            </p:cNvPr>
            <p:cNvSpPr txBox="1"/>
            <p:nvPr/>
          </p:nvSpPr>
          <p:spPr>
            <a:xfrm>
              <a:off x="3104608" y="5635883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A089ECC-714A-41C6-BB29-E099BACCB02B}"/>
                </a:ext>
              </a:extLst>
            </p:cNvPr>
            <p:cNvSpPr txBox="1"/>
            <p:nvPr/>
          </p:nvSpPr>
          <p:spPr>
            <a:xfrm>
              <a:off x="213065" y="4716733"/>
              <a:ext cx="32736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709DB56-1F60-4AA8-85ED-FE8CBD31BD2C}"/>
                </a:ext>
              </a:extLst>
            </p:cNvPr>
            <p:cNvSpPr txBox="1"/>
            <p:nvPr/>
          </p:nvSpPr>
          <p:spPr>
            <a:xfrm>
              <a:off x="9397257" y="5639135"/>
              <a:ext cx="24948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9E05211-B93F-4044-99EC-1CF329EB6AAB}"/>
                </a:ext>
              </a:extLst>
            </p:cNvPr>
            <p:cNvSpPr txBox="1"/>
            <p:nvPr/>
          </p:nvSpPr>
          <p:spPr>
            <a:xfrm>
              <a:off x="2412592" y="511966"/>
              <a:ext cx="828121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4200" dirty="0">
                <a:solidFill>
                  <a:srgbClr val="0070C0"/>
                </a:solidFill>
                <a:highlight>
                  <a:srgbClr val="FFFF00"/>
                </a:highlight>
              </a:endParaRP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0AEA1CFF-2B56-4B84-996C-1EF395F57D6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8" y="4838875"/>
            <a:ext cx="2220317" cy="20362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DAEC9AC-28BE-405E-9085-EB4BEB6E88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46749" y="19632"/>
            <a:ext cx="3298519" cy="258611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7454C86-02B5-4F41-AF43-D5530AA0AA6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16891" y="4982199"/>
            <a:ext cx="2494844" cy="185616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2CE9015-7E49-48FF-8AC2-5B3EA504EAE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93482" y="-5522"/>
            <a:ext cx="3298518" cy="258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03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/>
          <p:cNvSpPr/>
          <p:nvPr/>
        </p:nvSpPr>
        <p:spPr>
          <a:xfrm>
            <a:off x="22151" y="-11017"/>
            <a:ext cx="12192000" cy="6858000"/>
          </a:xfrm>
          <a:prstGeom prst="rect">
            <a:avLst/>
          </a:prstGeom>
          <a:pattFill prst="smGrid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/>
          <p:cNvSpPr/>
          <p:nvPr/>
        </p:nvSpPr>
        <p:spPr>
          <a:xfrm>
            <a:off x="1040414" y="1759024"/>
            <a:ext cx="12192000" cy="6858000"/>
          </a:xfrm>
          <a:prstGeom prst="rect">
            <a:avLst/>
          </a:prstGeom>
          <a:gradFill>
            <a:gsLst>
              <a:gs pos="0">
                <a:srgbClr val="BDC6CB">
                  <a:alpha val="77000"/>
                </a:srgbClr>
              </a:gs>
              <a:gs pos="100000">
                <a:srgbClr val="EEEFF1">
                  <a:alpha val="77000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10" name="Group 109"/>
          <p:cNvGrpSpPr/>
          <p:nvPr/>
        </p:nvGrpSpPr>
        <p:grpSpPr>
          <a:xfrm>
            <a:off x="2553913" y="79513"/>
            <a:ext cx="9950152" cy="5376300"/>
            <a:chOff x="1478383" y="794467"/>
            <a:chExt cx="9950152" cy="5376300"/>
          </a:xfrm>
        </p:grpSpPr>
        <p:sp>
          <p:nvSpPr>
            <p:cNvPr id="56" name="Oval 55"/>
            <p:cNvSpPr/>
            <p:nvPr/>
          </p:nvSpPr>
          <p:spPr>
            <a:xfrm>
              <a:off x="1478383" y="1277371"/>
              <a:ext cx="4446163" cy="4446163"/>
            </a:xfrm>
            <a:prstGeom prst="ellipse">
              <a:avLst/>
            </a:prstGeom>
            <a:pattFill prst="smGrid">
              <a:fgClr>
                <a:schemeClr val="bg1">
                  <a:lumMod val="95000"/>
                </a:schemeClr>
              </a:fgClr>
              <a:bgClr>
                <a:srgbClr val="DDE1E2"/>
              </a:bgClr>
            </a:pattFill>
            <a:ln>
              <a:noFill/>
            </a:ln>
            <a:effectLst>
              <a:innerShdw blurRad="952500">
                <a:schemeClr val="tx1">
                  <a:lumMod val="50000"/>
                  <a:lumOff val="5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Oval 53"/>
            <p:cNvSpPr/>
            <p:nvPr/>
          </p:nvSpPr>
          <p:spPr>
            <a:xfrm>
              <a:off x="1850758" y="1649746"/>
              <a:ext cx="3701413" cy="3701413"/>
            </a:xfrm>
            <a:prstGeom prst="ellipse">
              <a:avLst/>
            </a:prstGeom>
            <a:gradFill flip="none" rotWithShape="1">
              <a:gsLst>
                <a:gs pos="0">
                  <a:srgbClr val="DDE1E2"/>
                </a:gs>
                <a:gs pos="100000">
                  <a:srgbClr val="FFFFFF"/>
                </a:gs>
              </a:gsLst>
              <a:lin ang="16200000" scaled="1"/>
              <a:tileRect/>
            </a:gradFill>
            <a:ln w="558800">
              <a:noFill/>
            </a:ln>
            <a:effectLst>
              <a:outerShdw blurRad="508000" dist="76200" dir="2700000" sx="102000" sy="102000" algn="tl" rotWithShape="0">
                <a:schemeClr val="tx1">
                  <a:lumMod val="65000"/>
                  <a:lumOff val="35000"/>
                  <a:alpha val="40000"/>
                </a:schemeClr>
              </a:outerShdw>
            </a:effectLst>
            <a:scene3d>
              <a:camera prst="orthographicFront"/>
              <a:lightRig rig="threePt" dir="t"/>
            </a:scene3d>
            <a:sp3d extrusionH="152400" prstMaterial="matte">
              <a:bevelT w="101600" h="12700" prst="softRound"/>
              <a:contourClr>
                <a:schemeClr val="bg1">
                  <a:lumMod val="7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Freeform: Shape 32"/>
            <p:cNvSpPr/>
            <p:nvPr/>
          </p:nvSpPr>
          <p:spPr>
            <a:xfrm>
              <a:off x="3885125" y="794467"/>
              <a:ext cx="2688152" cy="5376300"/>
            </a:xfrm>
            <a:custGeom>
              <a:avLst/>
              <a:gdLst>
                <a:gd name="connsiteX0" fmla="*/ 0 w 2688152"/>
                <a:gd name="connsiteY0" fmla="*/ 0 h 5376300"/>
                <a:gd name="connsiteX1" fmla="*/ 2 w 2688152"/>
                <a:gd name="connsiteY1" fmla="*/ 0 h 5376300"/>
                <a:gd name="connsiteX2" fmla="*/ 2688152 w 2688152"/>
                <a:gd name="connsiteY2" fmla="*/ 2688150 h 5376300"/>
                <a:gd name="connsiteX3" fmla="*/ 2 w 2688152"/>
                <a:gd name="connsiteY3" fmla="*/ 5376300 h 5376300"/>
                <a:gd name="connsiteX4" fmla="*/ 0 w 2688152"/>
                <a:gd name="connsiteY4" fmla="*/ 5376300 h 5376300"/>
                <a:gd name="connsiteX5" fmla="*/ 0 w 2688152"/>
                <a:gd name="connsiteY5" fmla="*/ 5268071 h 5376300"/>
                <a:gd name="connsiteX6" fmla="*/ 186213 w 2688152"/>
                <a:gd name="connsiteY6" fmla="*/ 5258902 h 5376300"/>
                <a:gd name="connsiteX7" fmla="*/ 2565270 w 2688152"/>
                <a:gd name="connsiteY7" fmla="*/ 2688151 h 5376300"/>
                <a:gd name="connsiteX8" fmla="*/ 186213 w 2688152"/>
                <a:gd name="connsiteY8" fmla="*/ 117401 h 5376300"/>
                <a:gd name="connsiteX9" fmla="*/ 0 w 2688152"/>
                <a:gd name="connsiteY9" fmla="*/ 108231 h 53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88152" h="5376300">
                  <a:moveTo>
                    <a:pt x="0" y="0"/>
                  </a:moveTo>
                  <a:lnTo>
                    <a:pt x="2" y="0"/>
                  </a:lnTo>
                  <a:cubicBezTo>
                    <a:pt x="1484626" y="0"/>
                    <a:pt x="2688152" y="1203526"/>
                    <a:pt x="2688152" y="2688150"/>
                  </a:cubicBezTo>
                  <a:cubicBezTo>
                    <a:pt x="2688152" y="4172775"/>
                    <a:pt x="1484626" y="5376300"/>
                    <a:pt x="2" y="5376300"/>
                  </a:cubicBezTo>
                  <a:lnTo>
                    <a:pt x="0" y="5376300"/>
                  </a:lnTo>
                  <a:lnTo>
                    <a:pt x="0" y="5268071"/>
                  </a:lnTo>
                  <a:lnTo>
                    <a:pt x="186213" y="5258902"/>
                  </a:lnTo>
                  <a:cubicBezTo>
                    <a:pt x="1522494" y="5126571"/>
                    <a:pt x="2565270" y="4026109"/>
                    <a:pt x="2565270" y="2688151"/>
                  </a:cubicBezTo>
                  <a:cubicBezTo>
                    <a:pt x="2565270" y="1350193"/>
                    <a:pt x="1522494" y="249732"/>
                    <a:pt x="186213" y="117401"/>
                  </a:cubicBezTo>
                  <a:lnTo>
                    <a:pt x="0" y="108231"/>
                  </a:lnTo>
                  <a:close/>
                </a:path>
              </a:pathLst>
            </a:custGeom>
            <a:gradFill flip="none" rotWithShape="1">
              <a:gsLst>
                <a:gs pos="75000">
                  <a:srgbClr val="60509C"/>
                </a:gs>
                <a:gs pos="50000">
                  <a:srgbClr val="C74399"/>
                </a:gs>
                <a:gs pos="25000">
                  <a:srgbClr val="F4941D"/>
                </a:gs>
                <a:gs pos="0">
                  <a:srgbClr val="FFD63A"/>
                </a:gs>
                <a:gs pos="100000">
                  <a:srgbClr val="00ACBE"/>
                </a:gs>
              </a:gsLst>
              <a:lin ang="5400000" scaled="1"/>
              <a:tileRect/>
            </a:gradFill>
            <a:ln w="82550">
              <a:solidFill>
                <a:schemeClr val="bg1">
                  <a:lumMod val="95000"/>
                </a:schemeClr>
              </a:solidFill>
            </a:ln>
            <a:effectLst>
              <a:glow rad="76200">
                <a:schemeClr val="accent5">
                  <a:satMod val="175000"/>
                  <a:alpha val="9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64" name="Oval 63"/>
            <p:cNvSpPr/>
            <p:nvPr/>
          </p:nvSpPr>
          <p:spPr>
            <a:xfrm>
              <a:off x="1964415" y="1740532"/>
              <a:ext cx="3474097" cy="3474097"/>
            </a:xfrm>
            <a:prstGeom prst="ellipse">
              <a:avLst/>
            </a:prstGeom>
            <a:noFill/>
            <a:ln w="1587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5" name="Oval 64"/>
            <p:cNvSpPr/>
            <p:nvPr/>
          </p:nvSpPr>
          <p:spPr>
            <a:xfrm>
              <a:off x="2018723" y="1793986"/>
              <a:ext cx="3367188" cy="3367188"/>
            </a:xfrm>
            <a:prstGeom prst="ellipse">
              <a:avLst/>
            </a:prstGeom>
            <a:noFill/>
            <a:ln w="15875">
              <a:solidFill>
                <a:schemeClr val="bg1">
                  <a:lumMod val="75000"/>
                </a:schemeClr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6" name="Oval 65"/>
            <p:cNvSpPr/>
            <p:nvPr/>
          </p:nvSpPr>
          <p:spPr>
            <a:xfrm>
              <a:off x="3642887" y="1712814"/>
              <a:ext cx="112102" cy="11210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7" name="Oval 66"/>
            <p:cNvSpPr/>
            <p:nvPr/>
          </p:nvSpPr>
          <p:spPr>
            <a:xfrm>
              <a:off x="3642887" y="5128127"/>
              <a:ext cx="112102" cy="11210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8" name="Oval 67"/>
            <p:cNvSpPr/>
            <p:nvPr/>
          </p:nvSpPr>
          <p:spPr>
            <a:xfrm>
              <a:off x="5364358" y="3421529"/>
              <a:ext cx="112102" cy="11210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9" name="Oval 68"/>
            <p:cNvSpPr/>
            <p:nvPr/>
          </p:nvSpPr>
          <p:spPr>
            <a:xfrm>
              <a:off x="1949728" y="3421529"/>
              <a:ext cx="112102" cy="11210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81" name="Graphic 80" descr="Single gear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65919" y="4359281"/>
              <a:ext cx="360000" cy="360000"/>
            </a:xfrm>
            <a:prstGeom prst="rect">
              <a:avLst/>
            </a:prstGeom>
          </p:spPr>
        </p:pic>
        <p:pic>
          <p:nvPicPr>
            <p:cNvPr id="83" name="Graphic 82" descr="Stopwatch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207528" y="3954903"/>
              <a:ext cx="360000" cy="360000"/>
            </a:xfrm>
            <a:prstGeom prst="rect">
              <a:avLst/>
            </a:prstGeom>
          </p:spPr>
        </p:pic>
        <p:pic>
          <p:nvPicPr>
            <p:cNvPr id="85" name="Graphic 84" descr="Lightbulb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520599" y="4701357"/>
              <a:ext cx="360000" cy="360000"/>
            </a:xfrm>
            <a:prstGeom prst="rect">
              <a:avLst/>
            </a:prstGeom>
          </p:spPr>
        </p:pic>
        <p:pic>
          <p:nvPicPr>
            <p:cNvPr id="87" name="Graphic 86" descr="Head with Gears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010956" y="4633974"/>
              <a:ext cx="360000" cy="360000"/>
            </a:xfrm>
            <a:prstGeom prst="rect">
              <a:avLst/>
            </a:prstGeom>
          </p:spPr>
        </p:pic>
        <p:sp>
          <p:nvSpPr>
            <p:cNvPr id="88" name="Oval 87"/>
            <p:cNvSpPr/>
            <p:nvPr/>
          </p:nvSpPr>
          <p:spPr>
            <a:xfrm>
              <a:off x="4041120" y="4826944"/>
              <a:ext cx="112102" cy="11210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9" name="Oval 88"/>
            <p:cNvSpPr/>
            <p:nvPr/>
          </p:nvSpPr>
          <p:spPr>
            <a:xfrm>
              <a:off x="4333200" y="4709737"/>
              <a:ext cx="112102" cy="11210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0" name="Oval 89"/>
            <p:cNvSpPr/>
            <p:nvPr/>
          </p:nvSpPr>
          <p:spPr>
            <a:xfrm>
              <a:off x="4591554" y="4545692"/>
              <a:ext cx="112102" cy="11210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2540581" y="2885587"/>
              <a:ext cx="23108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IN" sz="1400" spc="300" dirty="0">
                <a:solidFill>
                  <a:schemeClr val="bg1">
                    <a:lumMod val="65000"/>
                  </a:schemeClr>
                </a:solidFill>
                <a:latin typeface="Open Sans Condensed" panose="020B0806030504020204" pitchFamily="34" charset="0"/>
                <a:ea typeface="Open Sans Condensed" panose="020B0806030504020204" pitchFamily="34" charset="0"/>
                <a:cs typeface="Open Sans Condensed" panose="020B0806030504020204" pitchFamily="34" charset="0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2399850" y="3322663"/>
              <a:ext cx="26103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IN" sz="1400" dirty="0">
                <a:solidFill>
                  <a:schemeClr val="bg1">
                    <a:lumMod val="6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7799272" y="887240"/>
              <a:ext cx="329121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N" sz="1600" b="1" dirty="0">
                <a:solidFill>
                  <a:schemeClr val="bg1"/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8412288" y="2167843"/>
              <a:ext cx="261031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dirty="0">
                  <a:solidFill>
                    <a:schemeClr val="bg1"/>
                  </a:solidFill>
                  <a:latin typeface="Open Sans Condensed Light" panose="020B0306030504020204" pitchFamily="34" charset="0"/>
                  <a:ea typeface="Open Sans Condensed Light" panose="020B0306030504020204" pitchFamily="34" charset="0"/>
                  <a:cs typeface="Open Sans Condensed Light" panose="020B0306030504020204" pitchFamily="34" charset="0"/>
                </a:rPr>
                <a:t>.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8818218" y="3185192"/>
              <a:ext cx="26103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N" sz="2000" dirty="0">
                <a:solidFill>
                  <a:schemeClr val="bg1"/>
                </a:solidFill>
                <a:latin typeface="Open Sans Condensed" panose="020B0806030504020204" pitchFamily="34" charset="0"/>
                <a:ea typeface="Open Sans Condensed" panose="020B0806030504020204" pitchFamily="34" charset="0"/>
                <a:cs typeface="Open Sans Condensed" panose="020B0806030504020204" pitchFamily="34" charset="0"/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8395541" y="4207028"/>
              <a:ext cx="26103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N" sz="2000" dirty="0">
                <a:solidFill>
                  <a:schemeClr val="bg1"/>
                </a:solidFill>
                <a:latin typeface="Open Sans Condensed" panose="020B0806030504020204" pitchFamily="34" charset="0"/>
                <a:ea typeface="Open Sans Condensed" panose="020B0806030504020204" pitchFamily="34" charset="0"/>
                <a:cs typeface="Open Sans Condensed" panose="020B0806030504020204" pitchFamily="34" charset="0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7890319" y="5230921"/>
              <a:ext cx="261031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N" sz="1100" dirty="0">
                <a:solidFill>
                  <a:schemeClr val="bg1"/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endParaRPr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3266670" y="2207623"/>
            <a:ext cx="31234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70C0"/>
                </a:solidFill>
              </a:rPr>
              <a:t>Introduction to CFD </a:t>
            </a:r>
          </a:p>
          <a:p>
            <a:pPr algn="ctr"/>
            <a:r>
              <a:rPr lang="en-US" sz="3200" dirty="0">
                <a:solidFill>
                  <a:srgbClr val="0070C0"/>
                </a:solidFill>
              </a:rPr>
              <a:t> 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065316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427937D4-1B88-4D28-B208-E0ADD2A8C1FA}"/>
              </a:ext>
            </a:extLst>
          </p:cNvPr>
          <p:cNvGrpSpPr/>
          <p:nvPr/>
        </p:nvGrpSpPr>
        <p:grpSpPr>
          <a:xfrm rot="8100000">
            <a:off x="3459362" y="-99154"/>
            <a:ext cx="2995077" cy="1306797"/>
            <a:chOff x="3909753" y="3162185"/>
            <a:chExt cx="4372494" cy="1070794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E62E24A-85A4-4A60-9874-4A7CAB795FC0}"/>
                </a:ext>
              </a:extLst>
            </p:cNvPr>
            <p:cNvSpPr/>
            <p:nvPr/>
          </p:nvSpPr>
          <p:spPr>
            <a:xfrm>
              <a:off x="3909753" y="3162185"/>
              <a:ext cx="4372494" cy="535397"/>
            </a:xfrm>
            <a:custGeom>
              <a:avLst/>
              <a:gdLst>
                <a:gd name="connsiteX0" fmla="*/ 4372494 w 4372494"/>
                <a:gd name="connsiteY0" fmla="*/ 0 h 535397"/>
                <a:gd name="connsiteX1" fmla="*/ 4372494 w 4372494"/>
                <a:gd name="connsiteY1" fmla="*/ 535397 h 535397"/>
                <a:gd name="connsiteX2" fmla="*/ 0 w 4372494"/>
                <a:gd name="connsiteY2" fmla="*/ 535397 h 535397"/>
                <a:gd name="connsiteX3" fmla="*/ 0 w 4372494"/>
                <a:gd name="connsiteY3" fmla="*/ 0 h 535397"/>
                <a:gd name="connsiteX4" fmla="*/ 39384 w 4372494"/>
                <a:gd name="connsiteY4" fmla="*/ 14676 h 535397"/>
                <a:gd name="connsiteX5" fmla="*/ 2186247 w 4372494"/>
                <a:gd name="connsiteY5" fmla="*/ 245550 h 535397"/>
                <a:gd name="connsiteX6" fmla="*/ 4333110 w 4372494"/>
                <a:gd name="connsiteY6" fmla="*/ 14676 h 53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2494" h="535397">
                  <a:moveTo>
                    <a:pt x="4372494" y="0"/>
                  </a:moveTo>
                  <a:lnTo>
                    <a:pt x="4372494" y="535397"/>
                  </a:lnTo>
                  <a:lnTo>
                    <a:pt x="0" y="535397"/>
                  </a:lnTo>
                  <a:lnTo>
                    <a:pt x="0" y="0"/>
                  </a:lnTo>
                  <a:lnTo>
                    <a:pt x="39384" y="14676"/>
                  </a:lnTo>
                  <a:cubicBezTo>
                    <a:pt x="504652" y="153969"/>
                    <a:pt x="1292572" y="245550"/>
                    <a:pt x="2186247" y="245550"/>
                  </a:cubicBezTo>
                  <a:cubicBezTo>
                    <a:pt x="3079923" y="245550"/>
                    <a:pt x="3867843" y="153969"/>
                    <a:pt x="4333110" y="14676"/>
                  </a:cubicBezTo>
                  <a:close/>
                </a:path>
              </a:pathLst>
            </a:custGeom>
            <a:solidFill>
              <a:srgbClr val="FDA8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6402617-FDAD-463A-BD4B-364F99B1E2AA}"/>
                </a:ext>
              </a:extLst>
            </p:cNvPr>
            <p:cNvSpPr/>
            <p:nvPr/>
          </p:nvSpPr>
          <p:spPr>
            <a:xfrm flipV="1">
              <a:off x="3909753" y="3697582"/>
              <a:ext cx="4372494" cy="535397"/>
            </a:xfrm>
            <a:custGeom>
              <a:avLst/>
              <a:gdLst>
                <a:gd name="connsiteX0" fmla="*/ 4372494 w 4372494"/>
                <a:gd name="connsiteY0" fmla="*/ 0 h 535397"/>
                <a:gd name="connsiteX1" fmla="*/ 4372494 w 4372494"/>
                <a:gd name="connsiteY1" fmla="*/ 535397 h 535397"/>
                <a:gd name="connsiteX2" fmla="*/ 0 w 4372494"/>
                <a:gd name="connsiteY2" fmla="*/ 535397 h 535397"/>
                <a:gd name="connsiteX3" fmla="*/ 0 w 4372494"/>
                <a:gd name="connsiteY3" fmla="*/ 0 h 535397"/>
                <a:gd name="connsiteX4" fmla="*/ 39384 w 4372494"/>
                <a:gd name="connsiteY4" fmla="*/ 14676 h 535397"/>
                <a:gd name="connsiteX5" fmla="*/ 2186247 w 4372494"/>
                <a:gd name="connsiteY5" fmla="*/ 245550 h 535397"/>
                <a:gd name="connsiteX6" fmla="*/ 4333110 w 4372494"/>
                <a:gd name="connsiteY6" fmla="*/ 14676 h 53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2494" h="535397">
                  <a:moveTo>
                    <a:pt x="4372494" y="0"/>
                  </a:moveTo>
                  <a:lnTo>
                    <a:pt x="4372494" y="535397"/>
                  </a:lnTo>
                  <a:lnTo>
                    <a:pt x="0" y="535397"/>
                  </a:lnTo>
                  <a:lnTo>
                    <a:pt x="0" y="0"/>
                  </a:lnTo>
                  <a:lnTo>
                    <a:pt x="39384" y="14676"/>
                  </a:lnTo>
                  <a:cubicBezTo>
                    <a:pt x="504652" y="153969"/>
                    <a:pt x="1292572" y="245550"/>
                    <a:pt x="2186247" y="245550"/>
                  </a:cubicBezTo>
                  <a:cubicBezTo>
                    <a:pt x="3079923" y="245550"/>
                    <a:pt x="3867843" y="153969"/>
                    <a:pt x="4333110" y="14676"/>
                  </a:cubicBezTo>
                  <a:close/>
                </a:path>
              </a:pathLst>
            </a:custGeom>
            <a:solidFill>
              <a:srgbClr val="D58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0CEB94A-8A50-487C-BFB1-350EA864EE80}"/>
              </a:ext>
            </a:extLst>
          </p:cNvPr>
          <p:cNvGrpSpPr/>
          <p:nvPr/>
        </p:nvGrpSpPr>
        <p:grpSpPr>
          <a:xfrm rot="16200000">
            <a:off x="4577007" y="334729"/>
            <a:ext cx="3023779" cy="1293018"/>
            <a:chOff x="3909753" y="3162185"/>
            <a:chExt cx="4372494" cy="1070794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D021502-A712-4431-BECE-5DEAE6920720}"/>
                </a:ext>
              </a:extLst>
            </p:cNvPr>
            <p:cNvSpPr/>
            <p:nvPr/>
          </p:nvSpPr>
          <p:spPr>
            <a:xfrm>
              <a:off x="3909753" y="3162185"/>
              <a:ext cx="4372494" cy="535397"/>
            </a:xfrm>
            <a:custGeom>
              <a:avLst/>
              <a:gdLst>
                <a:gd name="connsiteX0" fmla="*/ 4372494 w 4372494"/>
                <a:gd name="connsiteY0" fmla="*/ 0 h 535397"/>
                <a:gd name="connsiteX1" fmla="*/ 4372494 w 4372494"/>
                <a:gd name="connsiteY1" fmla="*/ 535397 h 535397"/>
                <a:gd name="connsiteX2" fmla="*/ 0 w 4372494"/>
                <a:gd name="connsiteY2" fmla="*/ 535397 h 535397"/>
                <a:gd name="connsiteX3" fmla="*/ 0 w 4372494"/>
                <a:gd name="connsiteY3" fmla="*/ 0 h 535397"/>
                <a:gd name="connsiteX4" fmla="*/ 39384 w 4372494"/>
                <a:gd name="connsiteY4" fmla="*/ 14676 h 535397"/>
                <a:gd name="connsiteX5" fmla="*/ 2186247 w 4372494"/>
                <a:gd name="connsiteY5" fmla="*/ 245550 h 535397"/>
                <a:gd name="connsiteX6" fmla="*/ 4333110 w 4372494"/>
                <a:gd name="connsiteY6" fmla="*/ 14676 h 53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2494" h="535397">
                  <a:moveTo>
                    <a:pt x="4372494" y="0"/>
                  </a:moveTo>
                  <a:lnTo>
                    <a:pt x="4372494" y="535397"/>
                  </a:lnTo>
                  <a:lnTo>
                    <a:pt x="0" y="535397"/>
                  </a:lnTo>
                  <a:lnTo>
                    <a:pt x="0" y="0"/>
                  </a:lnTo>
                  <a:lnTo>
                    <a:pt x="39384" y="14676"/>
                  </a:lnTo>
                  <a:cubicBezTo>
                    <a:pt x="504652" y="153969"/>
                    <a:pt x="1292572" y="245550"/>
                    <a:pt x="2186247" y="245550"/>
                  </a:cubicBezTo>
                  <a:cubicBezTo>
                    <a:pt x="3079923" y="245550"/>
                    <a:pt x="3867843" y="153969"/>
                    <a:pt x="4333110" y="14676"/>
                  </a:cubicBezTo>
                  <a:close/>
                </a:path>
              </a:pathLst>
            </a:custGeom>
            <a:solidFill>
              <a:srgbClr val="24A8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E05F514-3351-4360-8FEF-3349A53FE8F9}"/>
                </a:ext>
              </a:extLst>
            </p:cNvPr>
            <p:cNvSpPr/>
            <p:nvPr/>
          </p:nvSpPr>
          <p:spPr>
            <a:xfrm flipV="1">
              <a:off x="3909753" y="3697582"/>
              <a:ext cx="4372494" cy="535397"/>
            </a:xfrm>
            <a:custGeom>
              <a:avLst/>
              <a:gdLst>
                <a:gd name="connsiteX0" fmla="*/ 4372494 w 4372494"/>
                <a:gd name="connsiteY0" fmla="*/ 0 h 535397"/>
                <a:gd name="connsiteX1" fmla="*/ 4372494 w 4372494"/>
                <a:gd name="connsiteY1" fmla="*/ 535397 h 535397"/>
                <a:gd name="connsiteX2" fmla="*/ 0 w 4372494"/>
                <a:gd name="connsiteY2" fmla="*/ 535397 h 535397"/>
                <a:gd name="connsiteX3" fmla="*/ 0 w 4372494"/>
                <a:gd name="connsiteY3" fmla="*/ 0 h 535397"/>
                <a:gd name="connsiteX4" fmla="*/ 39384 w 4372494"/>
                <a:gd name="connsiteY4" fmla="*/ 14676 h 535397"/>
                <a:gd name="connsiteX5" fmla="*/ 2186247 w 4372494"/>
                <a:gd name="connsiteY5" fmla="*/ 245550 h 535397"/>
                <a:gd name="connsiteX6" fmla="*/ 4333110 w 4372494"/>
                <a:gd name="connsiteY6" fmla="*/ 14676 h 53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2494" h="535397">
                  <a:moveTo>
                    <a:pt x="4372494" y="0"/>
                  </a:moveTo>
                  <a:lnTo>
                    <a:pt x="4372494" y="535397"/>
                  </a:lnTo>
                  <a:lnTo>
                    <a:pt x="0" y="535397"/>
                  </a:lnTo>
                  <a:lnTo>
                    <a:pt x="0" y="0"/>
                  </a:lnTo>
                  <a:lnTo>
                    <a:pt x="39384" y="14676"/>
                  </a:lnTo>
                  <a:cubicBezTo>
                    <a:pt x="504652" y="153969"/>
                    <a:pt x="1292572" y="245550"/>
                    <a:pt x="2186247" y="245550"/>
                  </a:cubicBezTo>
                  <a:cubicBezTo>
                    <a:pt x="3079923" y="245550"/>
                    <a:pt x="3867843" y="153969"/>
                    <a:pt x="4333110" y="14676"/>
                  </a:cubicBezTo>
                  <a:close/>
                </a:path>
              </a:pathLst>
            </a:custGeom>
            <a:solidFill>
              <a:srgbClr val="28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45833C2-2130-4E52-A3F2-ABCE331E88A2}"/>
              </a:ext>
            </a:extLst>
          </p:cNvPr>
          <p:cNvGrpSpPr/>
          <p:nvPr/>
        </p:nvGrpSpPr>
        <p:grpSpPr>
          <a:xfrm rot="2700000">
            <a:off x="5634890" y="-110294"/>
            <a:ext cx="3023779" cy="1294391"/>
            <a:chOff x="3909753" y="3162185"/>
            <a:chExt cx="4372494" cy="1070794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2412F63-A45D-4F45-9580-08119A1E21D8}"/>
                </a:ext>
              </a:extLst>
            </p:cNvPr>
            <p:cNvSpPr/>
            <p:nvPr/>
          </p:nvSpPr>
          <p:spPr>
            <a:xfrm>
              <a:off x="3909753" y="3162185"/>
              <a:ext cx="4372494" cy="535397"/>
            </a:xfrm>
            <a:custGeom>
              <a:avLst/>
              <a:gdLst>
                <a:gd name="connsiteX0" fmla="*/ 4372494 w 4372494"/>
                <a:gd name="connsiteY0" fmla="*/ 0 h 535397"/>
                <a:gd name="connsiteX1" fmla="*/ 4372494 w 4372494"/>
                <a:gd name="connsiteY1" fmla="*/ 535397 h 535397"/>
                <a:gd name="connsiteX2" fmla="*/ 0 w 4372494"/>
                <a:gd name="connsiteY2" fmla="*/ 535397 h 535397"/>
                <a:gd name="connsiteX3" fmla="*/ 0 w 4372494"/>
                <a:gd name="connsiteY3" fmla="*/ 0 h 535397"/>
                <a:gd name="connsiteX4" fmla="*/ 39384 w 4372494"/>
                <a:gd name="connsiteY4" fmla="*/ 14676 h 535397"/>
                <a:gd name="connsiteX5" fmla="*/ 2186247 w 4372494"/>
                <a:gd name="connsiteY5" fmla="*/ 245550 h 535397"/>
                <a:gd name="connsiteX6" fmla="*/ 4333110 w 4372494"/>
                <a:gd name="connsiteY6" fmla="*/ 14676 h 53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2494" h="535397">
                  <a:moveTo>
                    <a:pt x="4372494" y="0"/>
                  </a:moveTo>
                  <a:lnTo>
                    <a:pt x="4372494" y="535397"/>
                  </a:lnTo>
                  <a:lnTo>
                    <a:pt x="0" y="535397"/>
                  </a:lnTo>
                  <a:lnTo>
                    <a:pt x="0" y="0"/>
                  </a:lnTo>
                  <a:lnTo>
                    <a:pt x="39384" y="14676"/>
                  </a:lnTo>
                  <a:cubicBezTo>
                    <a:pt x="504652" y="153969"/>
                    <a:pt x="1292572" y="245550"/>
                    <a:pt x="2186247" y="245550"/>
                  </a:cubicBezTo>
                  <a:cubicBezTo>
                    <a:pt x="3079923" y="245550"/>
                    <a:pt x="3867843" y="153969"/>
                    <a:pt x="4333110" y="14676"/>
                  </a:cubicBezTo>
                  <a:close/>
                </a:path>
              </a:pathLst>
            </a:custGeom>
            <a:solidFill>
              <a:srgbClr val="D82B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975F656-9A90-4920-BB48-B0F29BF2B37A}"/>
                </a:ext>
              </a:extLst>
            </p:cNvPr>
            <p:cNvSpPr/>
            <p:nvPr/>
          </p:nvSpPr>
          <p:spPr>
            <a:xfrm flipV="1">
              <a:off x="3909753" y="3697582"/>
              <a:ext cx="4372494" cy="535397"/>
            </a:xfrm>
            <a:custGeom>
              <a:avLst/>
              <a:gdLst>
                <a:gd name="connsiteX0" fmla="*/ 4372494 w 4372494"/>
                <a:gd name="connsiteY0" fmla="*/ 0 h 535397"/>
                <a:gd name="connsiteX1" fmla="*/ 4372494 w 4372494"/>
                <a:gd name="connsiteY1" fmla="*/ 535397 h 535397"/>
                <a:gd name="connsiteX2" fmla="*/ 0 w 4372494"/>
                <a:gd name="connsiteY2" fmla="*/ 535397 h 535397"/>
                <a:gd name="connsiteX3" fmla="*/ 0 w 4372494"/>
                <a:gd name="connsiteY3" fmla="*/ 0 h 535397"/>
                <a:gd name="connsiteX4" fmla="*/ 39384 w 4372494"/>
                <a:gd name="connsiteY4" fmla="*/ 14676 h 535397"/>
                <a:gd name="connsiteX5" fmla="*/ 2186247 w 4372494"/>
                <a:gd name="connsiteY5" fmla="*/ 245550 h 535397"/>
                <a:gd name="connsiteX6" fmla="*/ 4333110 w 4372494"/>
                <a:gd name="connsiteY6" fmla="*/ 14676 h 53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2494" h="535397">
                  <a:moveTo>
                    <a:pt x="4372494" y="0"/>
                  </a:moveTo>
                  <a:lnTo>
                    <a:pt x="4372494" y="535397"/>
                  </a:lnTo>
                  <a:lnTo>
                    <a:pt x="0" y="535397"/>
                  </a:lnTo>
                  <a:lnTo>
                    <a:pt x="0" y="0"/>
                  </a:lnTo>
                  <a:lnTo>
                    <a:pt x="39384" y="14676"/>
                  </a:lnTo>
                  <a:cubicBezTo>
                    <a:pt x="504652" y="153969"/>
                    <a:pt x="1292572" y="245550"/>
                    <a:pt x="2186247" y="245550"/>
                  </a:cubicBezTo>
                  <a:cubicBezTo>
                    <a:pt x="3079923" y="245550"/>
                    <a:pt x="3867843" y="153969"/>
                    <a:pt x="4333110" y="14676"/>
                  </a:cubicBezTo>
                  <a:close/>
                </a:path>
              </a:pathLst>
            </a:custGeom>
            <a:solidFill>
              <a:srgbClr val="BF23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7637D665-4C34-43AC-835B-3C4CF668FF35}"/>
              </a:ext>
            </a:extLst>
          </p:cNvPr>
          <p:cNvSpPr/>
          <p:nvPr/>
        </p:nvSpPr>
        <p:spPr>
          <a:xfrm>
            <a:off x="4520840" y="-1501253"/>
            <a:ext cx="3136111" cy="3166165"/>
          </a:xfrm>
          <a:prstGeom prst="ellipse">
            <a:avLst/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/>
              </a:gs>
            </a:gsLst>
            <a:lin ang="2700000" scaled="1"/>
            <a:tileRect/>
          </a:gradFill>
          <a:ln>
            <a:noFill/>
          </a:ln>
          <a:effectLst>
            <a:outerShdw blurRad="355600" dist="127000" dir="2700000" algn="tl" rotWithShape="0">
              <a:schemeClr val="tx1">
                <a:lumMod val="85000"/>
                <a:lumOff val="15000"/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 contourW="12700">
            <a:bevelT w="120650" h="25400" prst="relaxedInset"/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B63412A-9033-4BFF-8E20-3D75387D796D}"/>
              </a:ext>
            </a:extLst>
          </p:cNvPr>
          <p:cNvGrpSpPr/>
          <p:nvPr/>
        </p:nvGrpSpPr>
        <p:grpSpPr>
          <a:xfrm>
            <a:off x="3064914" y="932059"/>
            <a:ext cx="1519674" cy="1534237"/>
            <a:chOff x="1965157" y="4479564"/>
            <a:chExt cx="1804738" cy="1804738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10C90F3-9E34-479B-B26F-62B7027389BD}"/>
                </a:ext>
              </a:extLst>
            </p:cNvPr>
            <p:cNvSpPr/>
            <p:nvPr/>
          </p:nvSpPr>
          <p:spPr>
            <a:xfrm>
              <a:off x="1965157" y="4479564"/>
              <a:ext cx="1804738" cy="1804738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F71F785-8D51-4A18-87B8-6583B67875EF}"/>
                </a:ext>
              </a:extLst>
            </p:cNvPr>
            <p:cNvSpPr/>
            <p:nvPr/>
          </p:nvSpPr>
          <p:spPr>
            <a:xfrm>
              <a:off x="2099508" y="4638264"/>
              <a:ext cx="1540044" cy="1487338"/>
            </a:xfrm>
            <a:prstGeom prst="ellipse">
              <a:avLst/>
            </a:prstGeom>
            <a:gradFill flip="none" rotWithShape="1">
              <a:gsLst>
                <a:gs pos="100000">
                  <a:srgbClr val="FEC148"/>
                </a:gs>
                <a:gs pos="0">
                  <a:srgbClr val="D58E0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9ABEC56-61F4-4A3F-AA53-7D65D2DFC010}"/>
              </a:ext>
            </a:extLst>
          </p:cNvPr>
          <p:cNvGrpSpPr/>
          <p:nvPr/>
        </p:nvGrpSpPr>
        <p:grpSpPr>
          <a:xfrm>
            <a:off x="5329060" y="1731055"/>
            <a:ext cx="1519674" cy="1534237"/>
            <a:chOff x="5205649" y="4805381"/>
            <a:chExt cx="1716288" cy="1732736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3ED092D-D605-4579-BD21-13FAD5231F0D}"/>
                </a:ext>
              </a:extLst>
            </p:cNvPr>
            <p:cNvSpPr/>
            <p:nvPr/>
          </p:nvSpPr>
          <p:spPr>
            <a:xfrm>
              <a:off x="5205649" y="4805381"/>
              <a:ext cx="1716288" cy="1732736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2F8CE97-89AA-4B60-8166-C57CFD38D0B1}"/>
                </a:ext>
              </a:extLst>
            </p:cNvPr>
            <p:cNvSpPr/>
            <p:nvPr/>
          </p:nvSpPr>
          <p:spPr>
            <a:xfrm>
              <a:off x="5331509" y="4969327"/>
              <a:ext cx="1464568" cy="1428000"/>
            </a:xfrm>
            <a:prstGeom prst="ellipse">
              <a:avLst/>
            </a:prstGeom>
            <a:gradFill flip="none" rotWithShape="1">
              <a:gsLst>
                <a:gs pos="100000">
                  <a:srgbClr val="4FD9B2"/>
                </a:gs>
                <a:gs pos="0">
                  <a:srgbClr val="24A882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C8419F-E85B-4C3E-8B5F-39D359C24418}"/>
              </a:ext>
            </a:extLst>
          </p:cNvPr>
          <p:cNvGrpSpPr/>
          <p:nvPr/>
        </p:nvGrpSpPr>
        <p:grpSpPr>
          <a:xfrm>
            <a:off x="7607411" y="932059"/>
            <a:ext cx="1519674" cy="1534237"/>
            <a:chOff x="8133347" y="4479564"/>
            <a:chExt cx="1804738" cy="1804738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CACE1D5-2823-4C5F-96D0-B8BC358C9E52}"/>
                </a:ext>
              </a:extLst>
            </p:cNvPr>
            <p:cNvSpPr/>
            <p:nvPr/>
          </p:nvSpPr>
          <p:spPr>
            <a:xfrm>
              <a:off x="8133347" y="4479564"/>
              <a:ext cx="1804738" cy="1804738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473F644-818C-4596-9D89-E8DCCCF31CE5}"/>
                </a:ext>
              </a:extLst>
            </p:cNvPr>
            <p:cNvSpPr/>
            <p:nvPr/>
          </p:nvSpPr>
          <p:spPr>
            <a:xfrm>
              <a:off x="8265694" y="4638264"/>
              <a:ext cx="1540044" cy="1487338"/>
            </a:xfrm>
            <a:prstGeom prst="ellipse">
              <a:avLst/>
            </a:prstGeom>
            <a:gradFill flip="none" rotWithShape="1">
              <a:gsLst>
                <a:gs pos="100000">
                  <a:srgbClr val="E88484"/>
                </a:gs>
                <a:gs pos="0">
                  <a:srgbClr val="BF2323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92AE1A93-F2C6-479D-B360-E95AAD09A690}"/>
              </a:ext>
            </a:extLst>
          </p:cNvPr>
          <p:cNvSpPr/>
          <p:nvPr/>
        </p:nvSpPr>
        <p:spPr>
          <a:xfrm flipV="1">
            <a:off x="4441976" y="-2395962"/>
            <a:ext cx="1101223" cy="951949"/>
          </a:xfrm>
          <a:custGeom>
            <a:avLst/>
            <a:gdLst>
              <a:gd name="connsiteX0" fmla="*/ 298968 w 1243699"/>
              <a:gd name="connsiteY0" fmla="*/ 0 h 1075112"/>
              <a:gd name="connsiteX1" fmla="*/ 308798 w 1243699"/>
              <a:gd name="connsiteY1" fmla="*/ 16179 h 1075112"/>
              <a:gd name="connsiteX2" fmla="*/ 1134118 w 1243699"/>
              <a:gd name="connsiteY2" fmla="*/ 695811 h 1075112"/>
              <a:gd name="connsiteX3" fmla="*/ 1243699 w 1243699"/>
              <a:gd name="connsiteY3" fmla="*/ 735919 h 1075112"/>
              <a:gd name="connsiteX4" fmla="*/ 1127210 w 1243699"/>
              <a:gd name="connsiteY4" fmla="*/ 1075112 h 1075112"/>
              <a:gd name="connsiteX5" fmla="*/ 994417 w 1243699"/>
              <a:gd name="connsiteY5" fmla="*/ 1026509 h 1075112"/>
              <a:gd name="connsiteX6" fmla="*/ 11190 w 1243699"/>
              <a:gd name="connsiteY6" fmla="*/ 216845 h 1075112"/>
              <a:gd name="connsiteX7" fmla="*/ 0 w 1243699"/>
              <a:gd name="connsiteY7" fmla="*/ 198425 h 107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3699" h="1075112">
                <a:moveTo>
                  <a:pt x="298968" y="0"/>
                </a:moveTo>
                <a:lnTo>
                  <a:pt x="308798" y="16179"/>
                </a:lnTo>
                <a:cubicBezTo>
                  <a:pt x="511060" y="315568"/>
                  <a:pt x="797482" y="553426"/>
                  <a:pt x="1134118" y="695811"/>
                </a:cubicBezTo>
                <a:lnTo>
                  <a:pt x="1243699" y="735919"/>
                </a:lnTo>
                <a:lnTo>
                  <a:pt x="1127210" y="1075112"/>
                </a:lnTo>
                <a:lnTo>
                  <a:pt x="994417" y="1026509"/>
                </a:lnTo>
                <a:cubicBezTo>
                  <a:pt x="593373" y="856882"/>
                  <a:pt x="252151" y="573514"/>
                  <a:pt x="11190" y="216845"/>
                </a:cubicBezTo>
                <a:lnTo>
                  <a:pt x="0" y="198425"/>
                </a:lnTo>
                <a:close/>
              </a:path>
            </a:pathLst>
          </a:custGeom>
          <a:solidFill>
            <a:srgbClr val="E99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7360AF3E-7D8B-4E5F-ABAD-EED2F80944A1}"/>
              </a:ext>
            </a:extLst>
          </p:cNvPr>
          <p:cNvSpPr/>
          <p:nvPr/>
        </p:nvSpPr>
        <p:spPr>
          <a:xfrm flipV="1">
            <a:off x="6595058" y="-2401364"/>
            <a:ext cx="1093191" cy="953926"/>
          </a:xfrm>
          <a:custGeom>
            <a:avLst/>
            <a:gdLst>
              <a:gd name="connsiteX0" fmla="*/ 935659 w 1234627"/>
              <a:gd name="connsiteY0" fmla="*/ 0 h 1077344"/>
              <a:gd name="connsiteX1" fmla="*/ 1234627 w 1234627"/>
              <a:gd name="connsiteY1" fmla="*/ 198425 h 1077344"/>
              <a:gd name="connsiteX2" fmla="*/ 1219100 w 1234627"/>
              <a:gd name="connsiteY2" fmla="*/ 223984 h 1077344"/>
              <a:gd name="connsiteX3" fmla="*/ 235874 w 1234627"/>
              <a:gd name="connsiteY3" fmla="*/ 1033648 h 1077344"/>
              <a:gd name="connsiteX4" fmla="*/ 116488 w 1234627"/>
              <a:gd name="connsiteY4" fmla="*/ 1077344 h 1077344"/>
              <a:gd name="connsiteX5" fmla="*/ 0 w 1234627"/>
              <a:gd name="connsiteY5" fmla="*/ 738150 h 1077344"/>
              <a:gd name="connsiteX6" fmla="*/ 96173 w 1234627"/>
              <a:gd name="connsiteY6" fmla="*/ 702950 h 1077344"/>
              <a:gd name="connsiteX7" fmla="*/ 921493 w 1234627"/>
              <a:gd name="connsiteY7" fmla="*/ 23318 h 1077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34627" h="1077344">
                <a:moveTo>
                  <a:pt x="935659" y="0"/>
                </a:moveTo>
                <a:lnTo>
                  <a:pt x="1234627" y="198425"/>
                </a:lnTo>
                <a:lnTo>
                  <a:pt x="1219100" y="223984"/>
                </a:lnTo>
                <a:cubicBezTo>
                  <a:pt x="978139" y="580653"/>
                  <a:pt x="636917" y="864021"/>
                  <a:pt x="235874" y="1033648"/>
                </a:cubicBezTo>
                <a:lnTo>
                  <a:pt x="116488" y="1077344"/>
                </a:lnTo>
                <a:lnTo>
                  <a:pt x="0" y="738150"/>
                </a:lnTo>
                <a:lnTo>
                  <a:pt x="96173" y="702950"/>
                </a:lnTo>
                <a:cubicBezTo>
                  <a:pt x="432809" y="560565"/>
                  <a:pt x="719230" y="322707"/>
                  <a:pt x="921493" y="23318"/>
                </a:cubicBezTo>
                <a:close/>
              </a:path>
            </a:pathLst>
          </a:custGeom>
          <a:solidFill>
            <a:srgbClr val="D82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0482570A-41ED-4524-A229-1B5AD85767AE}"/>
              </a:ext>
            </a:extLst>
          </p:cNvPr>
          <p:cNvSpPr/>
          <p:nvPr/>
        </p:nvSpPr>
        <p:spPr>
          <a:xfrm flipV="1">
            <a:off x="5440502" y="-2503293"/>
            <a:ext cx="1270413" cy="406835"/>
          </a:xfrm>
          <a:custGeom>
            <a:avLst/>
            <a:gdLst>
              <a:gd name="connsiteX0" fmla="*/ 115212 w 1434778"/>
              <a:gd name="connsiteY0" fmla="*/ 0 h 459471"/>
              <a:gd name="connsiteX1" fmla="*/ 159569 w 1434778"/>
              <a:gd name="connsiteY1" fmla="*/ 16235 h 459471"/>
              <a:gd name="connsiteX2" fmla="*/ 717390 w 1434778"/>
              <a:gd name="connsiteY2" fmla="*/ 100569 h 459471"/>
              <a:gd name="connsiteX3" fmla="*/ 1275212 w 1434778"/>
              <a:gd name="connsiteY3" fmla="*/ 16235 h 459471"/>
              <a:gd name="connsiteX4" fmla="*/ 1319566 w 1434778"/>
              <a:gd name="connsiteY4" fmla="*/ 1 h 459471"/>
              <a:gd name="connsiteX5" fmla="*/ 1434778 w 1434778"/>
              <a:gd name="connsiteY5" fmla="*/ 339661 h 459471"/>
              <a:gd name="connsiteX6" fmla="*/ 1381938 w 1434778"/>
              <a:gd name="connsiteY6" fmla="*/ 359001 h 459471"/>
              <a:gd name="connsiteX7" fmla="*/ 717390 w 1434778"/>
              <a:gd name="connsiteY7" fmla="*/ 459471 h 459471"/>
              <a:gd name="connsiteX8" fmla="*/ 52843 w 1434778"/>
              <a:gd name="connsiteY8" fmla="*/ 359001 h 459471"/>
              <a:gd name="connsiteX9" fmla="*/ 0 w 1434778"/>
              <a:gd name="connsiteY9" fmla="*/ 339660 h 459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34778" h="459471">
                <a:moveTo>
                  <a:pt x="115212" y="0"/>
                </a:moveTo>
                <a:lnTo>
                  <a:pt x="159569" y="16235"/>
                </a:lnTo>
                <a:cubicBezTo>
                  <a:pt x="335785" y="71043"/>
                  <a:pt x="523139" y="100569"/>
                  <a:pt x="717390" y="100569"/>
                </a:cubicBezTo>
                <a:cubicBezTo>
                  <a:pt x="911641" y="100569"/>
                  <a:pt x="1098996" y="71043"/>
                  <a:pt x="1275212" y="16235"/>
                </a:cubicBezTo>
                <a:lnTo>
                  <a:pt x="1319566" y="1"/>
                </a:lnTo>
                <a:lnTo>
                  <a:pt x="1434778" y="339661"/>
                </a:lnTo>
                <a:lnTo>
                  <a:pt x="1381938" y="359001"/>
                </a:lnTo>
                <a:cubicBezTo>
                  <a:pt x="1172008" y="424296"/>
                  <a:pt x="948807" y="459471"/>
                  <a:pt x="717390" y="459471"/>
                </a:cubicBezTo>
                <a:cubicBezTo>
                  <a:pt x="485974" y="459471"/>
                  <a:pt x="262773" y="424296"/>
                  <a:pt x="52843" y="359001"/>
                </a:cubicBezTo>
                <a:lnTo>
                  <a:pt x="0" y="339660"/>
                </a:lnTo>
                <a:close/>
              </a:path>
            </a:pathLst>
          </a:custGeom>
          <a:solidFill>
            <a:srgbClr val="4FD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93D38C-F4AD-4F4B-886F-9B87B33C61E3}"/>
              </a:ext>
            </a:extLst>
          </p:cNvPr>
          <p:cNvSpPr txBox="1"/>
          <p:nvPr/>
        </p:nvSpPr>
        <p:spPr>
          <a:xfrm>
            <a:off x="4726163" y="-40311"/>
            <a:ext cx="2852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70C0"/>
                </a:solidFill>
              </a:rPr>
              <a:t>Brief of CFD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16640E2-9882-46AF-850F-5738AFEC47F9}"/>
              </a:ext>
            </a:extLst>
          </p:cNvPr>
          <p:cNvSpPr txBox="1"/>
          <p:nvPr/>
        </p:nvSpPr>
        <p:spPr>
          <a:xfrm>
            <a:off x="3176158" y="1370726"/>
            <a:ext cx="13923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>
                <a:latin typeface="Eurostile BQ" pitchFamily="50" charset="0"/>
              </a:rPr>
              <a:t>What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77738CF-17EA-46EB-BEEB-8C9FE36F74F8}"/>
              </a:ext>
            </a:extLst>
          </p:cNvPr>
          <p:cNvSpPr txBox="1"/>
          <p:nvPr/>
        </p:nvSpPr>
        <p:spPr>
          <a:xfrm>
            <a:off x="5398516" y="2202463"/>
            <a:ext cx="1392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Why</a:t>
            </a:r>
            <a:endParaRPr lang="en-IN" sz="3200" b="1" dirty="0">
              <a:latin typeface="Eurostile BQ" pitchFamily="50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ECA944-B66B-4760-98EB-9446749813D6}"/>
              </a:ext>
            </a:extLst>
          </p:cNvPr>
          <p:cNvSpPr txBox="1"/>
          <p:nvPr/>
        </p:nvSpPr>
        <p:spPr>
          <a:xfrm>
            <a:off x="7671077" y="1367677"/>
            <a:ext cx="1392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How</a:t>
            </a:r>
            <a:endParaRPr lang="en-IN" sz="3200" b="1" dirty="0">
              <a:latin typeface="Eurostile BQ" pitchFamily="50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824F29-0677-43F1-B9A8-3A75E1AD62E9}"/>
              </a:ext>
            </a:extLst>
          </p:cNvPr>
          <p:cNvSpPr txBox="1"/>
          <p:nvPr/>
        </p:nvSpPr>
        <p:spPr>
          <a:xfrm>
            <a:off x="1513340" y="5791028"/>
            <a:ext cx="89334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baseline="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613F38-95C5-47DA-B095-20181935E652}"/>
              </a:ext>
            </a:extLst>
          </p:cNvPr>
          <p:cNvSpPr txBox="1"/>
          <p:nvPr/>
        </p:nvSpPr>
        <p:spPr>
          <a:xfrm>
            <a:off x="2139623" y="6419968"/>
            <a:ext cx="7752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baseline="0" dirty="0">
                <a:latin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23252B-2999-4379-9CD8-6312D8187B44}"/>
              </a:ext>
            </a:extLst>
          </p:cNvPr>
          <p:cNvSpPr txBox="1"/>
          <p:nvPr/>
        </p:nvSpPr>
        <p:spPr>
          <a:xfrm>
            <a:off x="686146" y="2814971"/>
            <a:ext cx="34552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Science of determining a numerical solution to the</a:t>
            </a:r>
            <a:br>
              <a:rPr lang="en-US" dirty="0"/>
            </a:br>
            <a:r>
              <a:rPr lang="en-US" dirty="0"/>
              <a:t>governing equations of fluid flow 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E46C9A-29FD-42DC-B65B-BF71559AC98E}"/>
              </a:ext>
            </a:extLst>
          </p:cNvPr>
          <p:cNvSpPr txBox="1"/>
          <p:nvPr/>
        </p:nvSpPr>
        <p:spPr>
          <a:xfrm>
            <a:off x="5297171" y="3553635"/>
            <a:ext cx="25957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Unable to solve Governing equations - PDE’s or integral form of equations 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96B615-BA96-40EA-BC4F-F0D75D0BE485}"/>
              </a:ext>
            </a:extLst>
          </p:cNvPr>
          <p:cNvSpPr txBox="1"/>
          <p:nvPr/>
        </p:nvSpPr>
        <p:spPr>
          <a:xfrm>
            <a:off x="8779659" y="2782132"/>
            <a:ext cx="25957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Times" panose="02020603050405020304" pitchFamily="18" charset="0"/>
                <a:cs typeface="Times" panose="02020603050405020304" pitchFamily="18" charset="0"/>
              </a:rPr>
              <a:t>Domain is discretized into a finite set of control volumes  or cells and discretized   algebraic equations of Fluid mechanics are solved at each cell or node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401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/>
      <p:bldP spid="43" grpId="0"/>
      <p:bldP spid="43" grpId="1"/>
      <p:bldP spid="45" grpId="0"/>
      <p:bldP spid="45" grpId="1"/>
      <p:bldP spid="4" grpId="0"/>
      <p:bldP spid="6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BD09256-2360-4931-A15C-894E2F25F29D}"/>
              </a:ext>
            </a:extLst>
          </p:cNvPr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F3947CD-295C-4AA1-BA45-8F4293806D2F}"/>
              </a:ext>
            </a:extLst>
          </p:cNvPr>
          <p:cNvGrpSpPr/>
          <p:nvPr/>
        </p:nvGrpSpPr>
        <p:grpSpPr>
          <a:xfrm>
            <a:off x="1511299" y="858192"/>
            <a:ext cx="3674849" cy="466734"/>
            <a:chOff x="1511300" y="858192"/>
            <a:chExt cx="3092742" cy="46673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4C6562D-805D-4DCF-9F0A-CE0275A17EDE}"/>
                </a:ext>
              </a:extLst>
            </p:cNvPr>
            <p:cNvSpPr/>
            <p:nvPr/>
          </p:nvSpPr>
          <p:spPr>
            <a:xfrm>
              <a:off x="1511300" y="858192"/>
              <a:ext cx="3092742" cy="466734"/>
            </a:xfrm>
            <a:prstGeom prst="roundRect">
              <a:avLst>
                <a:gd name="adj" fmla="val 50000"/>
              </a:avLst>
            </a:prstGeom>
            <a:solidFill>
              <a:srgbClr val="837A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Montserrat" panose="00000500000000000000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AAE02A2-E436-4D00-8F9D-4231677F6A5F}"/>
                </a:ext>
              </a:extLst>
            </p:cNvPr>
            <p:cNvSpPr txBox="1"/>
            <p:nvPr/>
          </p:nvSpPr>
          <p:spPr>
            <a:xfrm>
              <a:off x="1559617" y="904935"/>
              <a:ext cx="2976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Montserrat ExtraBold" panose="00000900000000000000" pitchFamily="2" charset="0"/>
                </a:rPr>
                <a:t>Experimental Approach</a:t>
              </a:r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4DAE9F14-010C-43E3-9F96-2358A71F899A}"/>
              </a:ext>
            </a:extLst>
          </p:cNvPr>
          <p:cNvSpPr/>
          <p:nvPr/>
        </p:nvSpPr>
        <p:spPr>
          <a:xfrm>
            <a:off x="656120" y="305385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F8A01AB-3E47-44B0-A7E9-B14464891F80}"/>
              </a:ext>
            </a:extLst>
          </p:cNvPr>
          <p:cNvSpPr/>
          <p:nvPr/>
        </p:nvSpPr>
        <p:spPr>
          <a:xfrm rot="10800000">
            <a:off x="-1" y="62048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8C860C2-CCE7-4AB6-9756-A9594B9869E4}"/>
              </a:ext>
            </a:extLst>
          </p:cNvPr>
          <p:cNvSpPr/>
          <p:nvPr/>
        </p:nvSpPr>
        <p:spPr>
          <a:xfrm rot="10800000">
            <a:off x="-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006332C-7924-45F6-8F1B-0029924742E8}"/>
              </a:ext>
            </a:extLst>
          </p:cNvPr>
          <p:cNvSpPr/>
          <p:nvPr/>
        </p:nvSpPr>
        <p:spPr>
          <a:xfrm>
            <a:off x="4719992" y="6350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3344FEB-2281-442D-A72E-BA4F1945E27F}"/>
              </a:ext>
            </a:extLst>
          </p:cNvPr>
          <p:cNvSpPr/>
          <p:nvPr/>
        </p:nvSpPr>
        <p:spPr>
          <a:xfrm>
            <a:off x="4341482" y="5565617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C3C6562-A7BF-45C4-8F1B-47634E9E4BD2}"/>
              </a:ext>
            </a:extLst>
          </p:cNvPr>
          <p:cNvSpPr/>
          <p:nvPr/>
        </p:nvSpPr>
        <p:spPr>
          <a:xfrm>
            <a:off x="5960309" y="17410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60A61356-271A-4F3F-BF03-642010FE8FD2}"/>
              </a:ext>
            </a:extLst>
          </p:cNvPr>
          <p:cNvSpPr/>
          <p:nvPr/>
        </p:nvSpPr>
        <p:spPr>
          <a:xfrm>
            <a:off x="5960309" y="559738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8A6A15F-EA2B-48B1-A142-A4B0C39E3F27}"/>
              </a:ext>
            </a:extLst>
          </p:cNvPr>
          <p:cNvCxnSpPr>
            <a:cxnSpLocks/>
          </p:cNvCxnSpPr>
          <p:nvPr/>
        </p:nvCxnSpPr>
        <p:spPr>
          <a:xfrm>
            <a:off x="1049700" y="3656158"/>
            <a:ext cx="0" cy="11266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Oval 110">
            <a:extLst>
              <a:ext uri="{FF2B5EF4-FFF2-40B4-BE49-F238E27FC236}">
                <a16:creationId xmlns:a16="http://schemas.microsoft.com/office/drawing/2014/main" id="{1193EA8F-BC4A-4C71-9BCC-C09677F8A73D}"/>
              </a:ext>
            </a:extLst>
          </p:cNvPr>
          <p:cNvSpPr/>
          <p:nvPr/>
        </p:nvSpPr>
        <p:spPr>
          <a:xfrm>
            <a:off x="1006837" y="2107831"/>
            <a:ext cx="85726" cy="8572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0E292DEE-4531-42A7-94E7-BE61FF6D36DC}"/>
              </a:ext>
            </a:extLst>
          </p:cNvPr>
          <p:cNvSpPr/>
          <p:nvPr/>
        </p:nvSpPr>
        <p:spPr>
          <a:xfrm>
            <a:off x="920160" y="2021154"/>
            <a:ext cx="259080" cy="259080"/>
          </a:xfrm>
          <a:prstGeom prst="ellipse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B3E0BDFA-97CA-4B2F-A0C2-6253332547FA}"/>
              </a:ext>
            </a:extLst>
          </p:cNvPr>
          <p:cNvCxnSpPr>
            <a:cxnSpLocks/>
          </p:cNvCxnSpPr>
          <p:nvPr/>
        </p:nvCxnSpPr>
        <p:spPr>
          <a:xfrm>
            <a:off x="1049700" y="2280234"/>
            <a:ext cx="0" cy="11266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DF5D618-7601-4683-B3BF-A155325FDDDF}"/>
              </a:ext>
            </a:extLst>
          </p:cNvPr>
          <p:cNvGrpSpPr/>
          <p:nvPr/>
        </p:nvGrpSpPr>
        <p:grpSpPr>
          <a:xfrm>
            <a:off x="1296952" y="1886930"/>
            <a:ext cx="4159637" cy="1133516"/>
            <a:chOff x="6681901" y="1442950"/>
            <a:chExt cx="4159637" cy="1133516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4F9D532-385A-41C2-9422-2C92CC173A59}"/>
                </a:ext>
              </a:extLst>
            </p:cNvPr>
            <p:cNvSpPr txBox="1"/>
            <p:nvPr/>
          </p:nvSpPr>
          <p:spPr>
            <a:xfrm>
              <a:off x="6681901" y="1442950"/>
              <a:ext cx="33070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Montserrat" panose="00000500000000000000" pitchFamily="2" charset="0"/>
                </a:rPr>
                <a:t> 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760135AF-AB8C-4A7A-B3FA-DBE2F74535E0}"/>
                </a:ext>
              </a:extLst>
            </p:cNvPr>
            <p:cNvSpPr txBox="1"/>
            <p:nvPr/>
          </p:nvSpPr>
          <p:spPr>
            <a:xfrm>
              <a:off x="6681901" y="1807025"/>
              <a:ext cx="415963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chemeClr val="bg1">
                      <a:lumMod val="95000"/>
                    </a:schemeClr>
                  </a:solidFill>
                  <a:latin typeface="Montserrat" panose="00000500000000000000" pitchFamily="2" charset="0"/>
                </a:rPr>
                <a:t>Description of flow field by measurement</a:t>
              </a:r>
            </a:p>
          </p:txBody>
        </p:sp>
      </p:grpSp>
      <p:sp>
        <p:nvSpPr>
          <p:cNvPr id="117" name="Oval 116">
            <a:extLst>
              <a:ext uri="{FF2B5EF4-FFF2-40B4-BE49-F238E27FC236}">
                <a16:creationId xmlns:a16="http://schemas.microsoft.com/office/drawing/2014/main" id="{B78728E8-4E2C-4F2C-A5FF-1F738F674ED5}"/>
              </a:ext>
            </a:extLst>
          </p:cNvPr>
          <p:cNvSpPr/>
          <p:nvPr/>
        </p:nvSpPr>
        <p:spPr>
          <a:xfrm>
            <a:off x="1006837" y="3487247"/>
            <a:ext cx="85726" cy="8572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99D80301-A86B-44E3-8C91-BC2F9945C8BD}"/>
              </a:ext>
            </a:extLst>
          </p:cNvPr>
          <p:cNvSpPr/>
          <p:nvPr/>
        </p:nvSpPr>
        <p:spPr>
          <a:xfrm>
            <a:off x="920160" y="3400570"/>
            <a:ext cx="259080" cy="259080"/>
          </a:xfrm>
          <a:prstGeom prst="ellipse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C200B673-9142-4B13-8DAD-F8BEEA621A56}"/>
              </a:ext>
            </a:extLst>
          </p:cNvPr>
          <p:cNvGrpSpPr/>
          <p:nvPr/>
        </p:nvGrpSpPr>
        <p:grpSpPr>
          <a:xfrm>
            <a:off x="1282220" y="3527024"/>
            <a:ext cx="4277348" cy="1200329"/>
            <a:chOff x="6681901" y="1442950"/>
            <a:chExt cx="4277348" cy="1200329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449A20D3-D1E3-48B2-AEB2-FE1E7D57A505}"/>
                </a:ext>
              </a:extLst>
            </p:cNvPr>
            <p:cNvSpPr txBox="1"/>
            <p:nvPr/>
          </p:nvSpPr>
          <p:spPr>
            <a:xfrm>
              <a:off x="6681901" y="1442950"/>
              <a:ext cx="427734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2400" b="1" i="0" dirty="0">
                  <a:solidFill>
                    <a:schemeClr val="bg1"/>
                  </a:solidFill>
                  <a:effectLst/>
                  <a:latin typeface="THSarabunNew"/>
                </a:rPr>
                <a:t>for a limited range of problems and operating conditions</a:t>
              </a:r>
              <a:endParaRPr lang="en-US" sz="2400" b="1" dirty="0">
                <a:solidFill>
                  <a:schemeClr val="bg1"/>
                </a:solidFill>
                <a:effectLst/>
              </a:endParaRPr>
            </a:p>
            <a:p>
              <a:endParaRPr lang="en-US" sz="2400" b="1" dirty="0">
                <a:solidFill>
                  <a:srgbClr val="92D050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CCDF64C5-151D-481A-8B31-0784219DA281}"/>
                </a:ext>
              </a:extLst>
            </p:cNvPr>
            <p:cNvSpPr txBox="1"/>
            <p:nvPr/>
          </p:nvSpPr>
          <p:spPr>
            <a:xfrm>
              <a:off x="6681901" y="1807025"/>
              <a:ext cx="41596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600" b="1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122" name="Oval 121">
            <a:extLst>
              <a:ext uri="{FF2B5EF4-FFF2-40B4-BE49-F238E27FC236}">
                <a16:creationId xmlns:a16="http://schemas.microsoft.com/office/drawing/2014/main" id="{A8808558-8D68-4E27-B823-FD4022468FA3}"/>
              </a:ext>
            </a:extLst>
          </p:cNvPr>
          <p:cNvSpPr/>
          <p:nvPr/>
        </p:nvSpPr>
        <p:spPr>
          <a:xfrm>
            <a:off x="1006837" y="4863171"/>
            <a:ext cx="85726" cy="8572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1837C953-D9D5-4AC0-9B9E-0CE4CA8014CD}"/>
              </a:ext>
            </a:extLst>
          </p:cNvPr>
          <p:cNvSpPr/>
          <p:nvPr/>
        </p:nvSpPr>
        <p:spPr>
          <a:xfrm>
            <a:off x="920160" y="4776494"/>
            <a:ext cx="259080" cy="259080"/>
          </a:xfrm>
          <a:prstGeom prst="ellipse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731F9B1-BC3B-4A35-A43C-A26AEF6BA42C}"/>
              </a:ext>
            </a:extLst>
          </p:cNvPr>
          <p:cNvGrpSpPr/>
          <p:nvPr/>
        </p:nvGrpSpPr>
        <p:grpSpPr>
          <a:xfrm>
            <a:off x="1296952" y="4618399"/>
            <a:ext cx="4159637" cy="825740"/>
            <a:chOff x="6681901" y="1442950"/>
            <a:chExt cx="4159637" cy="825740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675FC07F-ED9B-43C1-9713-FBD221391B89}"/>
                </a:ext>
              </a:extLst>
            </p:cNvPr>
            <p:cNvSpPr txBox="1"/>
            <p:nvPr/>
          </p:nvSpPr>
          <p:spPr>
            <a:xfrm>
              <a:off x="6681901" y="1442950"/>
              <a:ext cx="2542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Montserrat" panose="00000500000000000000" pitchFamily="2" charset="0"/>
                </a:rPr>
                <a:t> 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3FAEB4D-0416-4422-BB15-11931CBF514D}"/>
                </a:ext>
              </a:extLst>
            </p:cNvPr>
            <p:cNvSpPr txBox="1"/>
            <p:nvPr/>
          </p:nvSpPr>
          <p:spPr>
            <a:xfrm>
              <a:off x="6681901" y="1807025"/>
              <a:ext cx="41596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Montserrat" panose="00000500000000000000" pitchFamily="2" charset="0"/>
                </a:rPr>
                <a:t>Slow and expensive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0BD0C0E-8513-48E3-891D-E211E35A6661}"/>
              </a:ext>
            </a:extLst>
          </p:cNvPr>
          <p:cNvGrpSpPr/>
          <p:nvPr/>
        </p:nvGrpSpPr>
        <p:grpSpPr>
          <a:xfrm>
            <a:off x="7611984" y="858192"/>
            <a:ext cx="3092742" cy="466734"/>
            <a:chOff x="7611984" y="858192"/>
            <a:chExt cx="3092742" cy="466734"/>
          </a:xfrm>
        </p:grpSpPr>
        <p:sp>
          <p:nvSpPr>
            <p:cNvPr id="127" name="Rectangle: Rounded Corners 126">
              <a:extLst>
                <a:ext uri="{FF2B5EF4-FFF2-40B4-BE49-F238E27FC236}">
                  <a16:creationId xmlns:a16="http://schemas.microsoft.com/office/drawing/2014/main" id="{5EAC5BC0-1F7B-42B2-BDB9-8DD169BDCE3A}"/>
                </a:ext>
              </a:extLst>
            </p:cNvPr>
            <p:cNvSpPr/>
            <p:nvPr/>
          </p:nvSpPr>
          <p:spPr>
            <a:xfrm>
              <a:off x="7611984" y="858192"/>
              <a:ext cx="3092742" cy="466734"/>
            </a:xfrm>
            <a:prstGeom prst="roundRect">
              <a:avLst>
                <a:gd name="adj" fmla="val 50000"/>
              </a:avLst>
            </a:prstGeom>
            <a:solidFill>
              <a:srgbClr val="837A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Montserrat" panose="00000500000000000000" pitchFamily="2" charset="0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A3E640F7-B3EE-4178-9429-DCA4B0FEF316}"/>
                </a:ext>
              </a:extLst>
            </p:cNvPr>
            <p:cNvSpPr txBox="1"/>
            <p:nvPr/>
          </p:nvSpPr>
          <p:spPr>
            <a:xfrm>
              <a:off x="7660301" y="904935"/>
              <a:ext cx="2976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Montserrat ExtraBold" panose="00000900000000000000" pitchFamily="2" charset="0"/>
                </a:rPr>
                <a:t>Analytical Approach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45B3E930-5B54-4098-8DDE-4CA1633F61CE}"/>
              </a:ext>
            </a:extLst>
          </p:cNvPr>
          <p:cNvSpPr/>
          <p:nvPr/>
        </p:nvSpPr>
        <p:spPr>
          <a:xfrm>
            <a:off x="8477045" y="5835290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B2068FB-D538-423F-8081-D3F5E2537891}"/>
              </a:ext>
            </a:extLst>
          </p:cNvPr>
          <p:cNvSpPr/>
          <p:nvPr/>
        </p:nvSpPr>
        <p:spPr>
          <a:xfrm rot="5400000">
            <a:off x="6686913" y="666108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EAA200B-56CF-43D6-B662-0A8082F098C0}"/>
              </a:ext>
            </a:extLst>
          </p:cNvPr>
          <p:cNvSpPr/>
          <p:nvPr/>
        </p:nvSpPr>
        <p:spPr>
          <a:xfrm rot="10800000">
            <a:off x="6095998" y="251266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349701-D5FE-42FF-9E96-5385942D4CA8}"/>
              </a:ext>
            </a:extLst>
          </p:cNvPr>
          <p:cNvSpPr/>
          <p:nvPr/>
        </p:nvSpPr>
        <p:spPr>
          <a:xfrm>
            <a:off x="10815991" y="6350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CBDD39B-5DEC-4E93-BAC2-E2F0B7C40476}"/>
              </a:ext>
            </a:extLst>
          </p:cNvPr>
          <p:cNvSpPr/>
          <p:nvPr/>
        </p:nvSpPr>
        <p:spPr>
          <a:xfrm>
            <a:off x="10553431" y="6219262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87F1216-3F27-4917-A837-AD367EC70350}"/>
              </a:ext>
            </a:extLst>
          </p:cNvPr>
          <p:cNvSpPr/>
          <p:nvPr/>
        </p:nvSpPr>
        <p:spPr>
          <a:xfrm>
            <a:off x="12056308" y="17410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EB28C1-AB4C-4EC0-8920-BB6DE8083190}"/>
              </a:ext>
            </a:extLst>
          </p:cNvPr>
          <p:cNvSpPr/>
          <p:nvPr/>
        </p:nvSpPr>
        <p:spPr>
          <a:xfrm>
            <a:off x="12056308" y="559738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70032B8-53EE-460B-85FC-B73F4440997C}"/>
              </a:ext>
            </a:extLst>
          </p:cNvPr>
          <p:cNvCxnSpPr>
            <a:cxnSpLocks/>
          </p:cNvCxnSpPr>
          <p:nvPr/>
        </p:nvCxnSpPr>
        <p:spPr>
          <a:xfrm>
            <a:off x="7272119" y="3656158"/>
            <a:ext cx="0" cy="1126686"/>
          </a:xfrm>
          <a:prstGeom prst="line">
            <a:avLst/>
          </a:prstGeom>
          <a:ln w="28575">
            <a:solidFill>
              <a:srgbClr val="9188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9EE65680-0676-4143-A7B0-2D4EAB86F045}"/>
              </a:ext>
            </a:extLst>
          </p:cNvPr>
          <p:cNvSpPr/>
          <p:nvPr/>
        </p:nvSpPr>
        <p:spPr>
          <a:xfrm>
            <a:off x="7229256" y="2107831"/>
            <a:ext cx="85726" cy="85726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9188E5"/>
              </a:solidFill>
              <a:latin typeface="Montserrat" panose="00000500000000000000" pitchFamily="2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73873ED-590E-4DA5-B6E1-EADA9EFB5458}"/>
              </a:ext>
            </a:extLst>
          </p:cNvPr>
          <p:cNvSpPr/>
          <p:nvPr/>
        </p:nvSpPr>
        <p:spPr>
          <a:xfrm>
            <a:off x="7142579" y="2021154"/>
            <a:ext cx="259080" cy="259080"/>
          </a:xfrm>
          <a:prstGeom prst="ellipse">
            <a:avLst/>
          </a:prstGeom>
          <a:noFill/>
          <a:ln w="28575">
            <a:solidFill>
              <a:srgbClr val="9188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9188E5"/>
              </a:solidFill>
              <a:latin typeface="Montserrat" panose="00000500000000000000" pitchFamily="2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C73A631-6CD5-4D4D-98A4-737ED11539F6}"/>
              </a:ext>
            </a:extLst>
          </p:cNvPr>
          <p:cNvCxnSpPr>
            <a:cxnSpLocks/>
          </p:cNvCxnSpPr>
          <p:nvPr/>
        </p:nvCxnSpPr>
        <p:spPr>
          <a:xfrm>
            <a:off x="7272119" y="2280234"/>
            <a:ext cx="0" cy="1126686"/>
          </a:xfrm>
          <a:prstGeom prst="line">
            <a:avLst/>
          </a:prstGeom>
          <a:ln w="28575">
            <a:solidFill>
              <a:srgbClr val="9188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281584A-BE79-4EC0-BA31-AD1D89869FB6}"/>
              </a:ext>
            </a:extLst>
          </p:cNvPr>
          <p:cNvGrpSpPr/>
          <p:nvPr/>
        </p:nvGrpSpPr>
        <p:grpSpPr>
          <a:xfrm>
            <a:off x="7519371" y="1695699"/>
            <a:ext cx="4159637" cy="1133516"/>
            <a:chOff x="6681901" y="1442950"/>
            <a:chExt cx="4159637" cy="1133516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A2FAAB5-E833-4CC6-8830-6BEF70570816}"/>
                </a:ext>
              </a:extLst>
            </p:cNvPr>
            <p:cNvSpPr txBox="1"/>
            <p:nvPr/>
          </p:nvSpPr>
          <p:spPr>
            <a:xfrm>
              <a:off x="6681901" y="1442950"/>
              <a:ext cx="33070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9188E5"/>
                  </a:solidFill>
                  <a:latin typeface="Montserrat" panose="00000500000000000000" pitchFamily="2" charset="0"/>
                </a:rPr>
                <a:t> 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2630F91-8409-403B-98B7-7A91D7792F79}"/>
                </a:ext>
              </a:extLst>
            </p:cNvPr>
            <p:cNvSpPr txBox="1"/>
            <p:nvPr/>
          </p:nvSpPr>
          <p:spPr>
            <a:xfrm>
              <a:off x="6681901" y="1807025"/>
              <a:ext cx="415963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" panose="00000500000000000000" pitchFamily="2" charset="0"/>
                </a:rPr>
                <a:t>Solving Fundamental Governing equation</a:t>
              </a:r>
            </a:p>
          </p:txBody>
        </p:sp>
      </p:grpSp>
      <p:sp>
        <p:nvSpPr>
          <p:cNvPr id="65" name="Oval 64">
            <a:extLst>
              <a:ext uri="{FF2B5EF4-FFF2-40B4-BE49-F238E27FC236}">
                <a16:creationId xmlns:a16="http://schemas.microsoft.com/office/drawing/2014/main" id="{7D0BE69C-AF71-4CA9-A7FC-0D145B9B2F20}"/>
              </a:ext>
            </a:extLst>
          </p:cNvPr>
          <p:cNvSpPr/>
          <p:nvPr/>
        </p:nvSpPr>
        <p:spPr>
          <a:xfrm>
            <a:off x="7229256" y="3487247"/>
            <a:ext cx="85726" cy="85726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9188E5"/>
              </a:solidFill>
              <a:latin typeface="Montserrat" panose="00000500000000000000" pitchFamily="2" charset="0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34BAEAE-2A34-401F-B4F8-174F79D6B1AC}"/>
              </a:ext>
            </a:extLst>
          </p:cNvPr>
          <p:cNvSpPr/>
          <p:nvPr/>
        </p:nvSpPr>
        <p:spPr>
          <a:xfrm>
            <a:off x="7142579" y="3400570"/>
            <a:ext cx="259080" cy="259080"/>
          </a:xfrm>
          <a:prstGeom prst="ellipse">
            <a:avLst/>
          </a:prstGeom>
          <a:noFill/>
          <a:ln w="28575">
            <a:solidFill>
              <a:srgbClr val="9188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9188E5"/>
              </a:solidFill>
              <a:latin typeface="Montserrat" panose="00000500000000000000" pitchFamily="2" charset="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30B1F8B-CDAA-4278-8B32-22F216DBF922}"/>
              </a:ext>
            </a:extLst>
          </p:cNvPr>
          <p:cNvGrpSpPr/>
          <p:nvPr/>
        </p:nvGrpSpPr>
        <p:grpSpPr>
          <a:xfrm>
            <a:off x="7512723" y="3265571"/>
            <a:ext cx="4159637" cy="872822"/>
            <a:chOff x="6675253" y="1442950"/>
            <a:chExt cx="4159637" cy="872822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40E98A9-6D00-4AF0-9C84-27651352CAD7}"/>
                </a:ext>
              </a:extLst>
            </p:cNvPr>
            <p:cNvSpPr txBox="1"/>
            <p:nvPr/>
          </p:nvSpPr>
          <p:spPr>
            <a:xfrm>
              <a:off x="6681901" y="1442950"/>
              <a:ext cx="2542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9188E5"/>
                  </a:solidFill>
                  <a:latin typeface="Montserrat" panose="00000500000000000000" pitchFamily="2" charset="0"/>
                </a:rPr>
                <a:t> 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CAE11FC-E45D-4171-B126-42E058CBA3F1}"/>
                </a:ext>
              </a:extLst>
            </p:cNvPr>
            <p:cNvSpPr txBox="1"/>
            <p:nvPr/>
          </p:nvSpPr>
          <p:spPr>
            <a:xfrm>
              <a:off x="6675253" y="1546331"/>
              <a:ext cx="415963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" panose="00000500000000000000" pitchFamily="2" charset="0"/>
                </a:rPr>
                <a:t>PDE equation are non-linear</a:t>
              </a:r>
            </a:p>
          </p:txBody>
        </p:sp>
      </p:grpSp>
      <p:sp>
        <p:nvSpPr>
          <p:cNvPr id="70" name="Oval 69">
            <a:extLst>
              <a:ext uri="{FF2B5EF4-FFF2-40B4-BE49-F238E27FC236}">
                <a16:creationId xmlns:a16="http://schemas.microsoft.com/office/drawing/2014/main" id="{9E144A1C-9ABC-4646-894E-A57E1D8722AF}"/>
              </a:ext>
            </a:extLst>
          </p:cNvPr>
          <p:cNvSpPr/>
          <p:nvPr/>
        </p:nvSpPr>
        <p:spPr>
          <a:xfrm>
            <a:off x="7229256" y="4863171"/>
            <a:ext cx="85726" cy="85726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9188E5"/>
              </a:solidFill>
              <a:latin typeface="Montserrat" panose="00000500000000000000" pitchFamily="2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131F1EB-021F-4CEF-8516-446E8142C991}"/>
              </a:ext>
            </a:extLst>
          </p:cNvPr>
          <p:cNvSpPr/>
          <p:nvPr/>
        </p:nvSpPr>
        <p:spPr>
          <a:xfrm>
            <a:off x="7142579" y="4776494"/>
            <a:ext cx="259080" cy="259080"/>
          </a:xfrm>
          <a:prstGeom prst="ellipse">
            <a:avLst/>
          </a:prstGeom>
          <a:noFill/>
          <a:ln w="28575">
            <a:solidFill>
              <a:srgbClr val="9188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9188E5"/>
              </a:solidFill>
              <a:latin typeface="Montserrat" panose="00000500000000000000" pitchFamily="2" charset="0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1718DCE-59AE-46B7-8656-CE8048F71718}"/>
              </a:ext>
            </a:extLst>
          </p:cNvPr>
          <p:cNvGrpSpPr/>
          <p:nvPr/>
        </p:nvGrpSpPr>
        <p:grpSpPr>
          <a:xfrm>
            <a:off x="7519371" y="4618399"/>
            <a:ext cx="4159637" cy="825740"/>
            <a:chOff x="6681901" y="1442950"/>
            <a:chExt cx="4159637" cy="825740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2F3F8E3-D001-4D51-AD47-6E373CC727EF}"/>
                </a:ext>
              </a:extLst>
            </p:cNvPr>
            <p:cNvSpPr txBox="1"/>
            <p:nvPr/>
          </p:nvSpPr>
          <p:spPr>
            <a:xfrm>
              <a:off x="6681901" y="1442950"/>
              <a:ext cx="2542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9188E5"/>
                  </a:solidFill>
                  <a:latin typeface="Montserrat" panose="00000500000000000000" pitchFamily="2" charset="0"/>
                </a:rPr>
                <a:t> 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83FBFFD-FCBB-4905-9615-F1F398C6CB6E}"/>
                </a:ext>
              </a:extLst>
            </p:cNvPr>
            <p:cNvSpPr txBox="1"/>
            <p:nvPr/>
          </p:nvSpPr>
          <p:spPr>
            <a:xfrm>
              <a:off x="6681901" y="1499249"/>
              <a:ext cx="415963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" panose="00000500000000000000" pitchFamily="2" charset="0"/>
                </a:rPr>
                <a:t>Only a few analytical solution are obtained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14FC6241-2CC1-4DE4-88BA-DDD1FDA7B8C2}"/>
              </a:ext>
            </a:extLst>
          </p:cNvPr>
          <p:cNvSpPr txBox="1"/>
          <p:nvPr/>
        </p:nvSpPr>
        <p:spPr>
          <a:xfrm>
            <a:off x="4341482" y="131625"/>
            <a:ext cx="29767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F00"/>
                </a:solidFill>
                <a:highlight>
                  <a:srgbClr val="D82B2B"/>
                </a:highlight>
                <a:latin typeface="Montserrat ExtraBold" panose="00000900000000000000" pitchFamily="2" charset="0"/>
              </a:rPr>
              <a:t>Why CFD</a:t>
            </a:r>
          </a:p>
        </p:txBody>
      </p:sp>
      <p:sp>
        <p:nvSpPr>
          <p:cNvPr id="28" name="Rectangle 7">
            <a:extLst>
              <a:ext uri="{FF2B5EF4-FFF2-40B4-BE49-F238E27FC236}">
                <a16:creationId xmlns:a16="http://schemas.microsoft.com/office/drawing/2014/main" id="{AED00442-5454-43D1-8FBA-A41E92E21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151" y="333283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019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 animBg="1"/>
      <p:bldP spid="112" grpId="0" animBg="1"/>
      <p:bldP spid="117" grpId="0" animBg="1"/>
      <p:bldP spid="118" grpId="0" animBg="1"/>
      <p:bldP spid="122" grpId="0" animBg="1"/>
      <p:bldP spid="123" grpId="0" animBg="1"/>
      <p:bldP spid="59" grpId="0" animBg="1"/>
      <p:bldP spid="60" grpId="0" animBg="1"/>
      <p:bldP spid="65" grpId="0" animBg="1"/>
      <p:bldP spid="66" grpId="0" animBg="1"/>
      <p:bldP spid="70" grpId="0" animBg="1"/>
      <p:bldP spid="7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Slide Number Placeholder 5">
            <a:extLst>
              <a:ext uri="{FF2B5EF4-FFF2-40B4-BE49-F238E27FC236}">
                <a16:creationId xmlns:a16="http://schemas.microsoft.com/office/drawing/2014/main" id="{516A3A31-0BF5-49D6-9F0F-7B1CAC903F4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4008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6CB8ED2-19CD-4E15-946C-E084DFEFF27F}" type="slidenum">
              <a:rPr lang="en-US" altLang="en-US"/>
              <a:pPr eaLnBrk="1" hangingPunct="1"/>
              <a:t>5</a:t>
            </a:fld>
            <a:endParaRPr lang="en-US" altLang="en-US"/>
          </a:p>
        </p:txBody>
      </p:sp>
      <p:sp>
        <p:nvSpPr>
          <p:cNvPr id="1030" name="Rectangle 3">
            <a:extLst>
              <a:ext uri="{FF2B5EF4-FFF2-40B4-BE49-F238E27FC236}">
                <a16:creationId xmlns:a16="http://schemas.microsoft.com/office/drawing/2014/main" id="{DA9E88F9-F2D9-4D17-BCE4-A469BEE55A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9026" y="807567"/>
            <a:ext cx="11807687" cy="2133600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US" altLang="en-US" sz="2400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Domain is discretized into a finite set of control volumes  or cells. </a:t>
            </a:r>
          </a:p>
          <a:p>
            <a:pPr>
              <a:lnSpc>
                <a:spcPct val="160000"/>
              </a:lnSpc>
            </a:pPr>
            <a:r>
              <a:rPr lang="en-US" altLang="en-US" sz="2400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General conservation (transport) equations  are </a:t>
            </a:r>
            <a:r>
              <a:rPr lang="en-US" altLang="en-US" sz="2400" dirty="0">
                <a:solidFill>
                  <a:schemeClr val="bg1"/>
                </a:solidFill>
                <a:highlight>
                  <a:srgbClr val="FF0000"/>
                </a:highlight>
                <a:latin typeface="Times" panose="02020603050405020304" pitchFamily="18" charset="0"/>
                <a:cs typeface="Times" panose="02020603050405020304" pitchFamily="18" charset="0"/>
              </a:rPr>
              <a:t>discretized into algebraic equations.</a:t>
            </a:r>
          </a:p>
          <a:p>
            <a:pPr>
              <a:lnSpc>
                <a:spcPct val="160000"/>
              </a:lnSpc>
            </a:pPr>
            <a:r>
              <a:rPr lang="en-US" altLang="en-US" sz="2400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All equations are solved to get flow field data</a:t>
            </a:r>
          </a:p>
          <a:p>
            <a:endParaRPr lang="en-US" alt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1031" name="Group 4">
            <a:extLst>
              <a:ext uri="{FF2B5EF4-FFF2-40B4-BE49-F238E27FC236}">
                <a16:creationId xmlns:a16="http://schemas.microsoft.com/office/drawing/2014/main" id="{1D7D0FBA-39AA-4E76-B0C5-D83F95BC0278}"/>
              </a:ext>
            </a:extLst>
          </p:cNvPr>
          <p:cNvGrpSpPr>
            <a:grpSpLocks/>
          </p:cNvGrpSpPr>
          <p:nvPr/>
        </p:nvGrpSpPr>
        <p:grpSpPr bwMode="auto">
          <a:xfrm>
            <a:off x="627359" y="2995142"/>
            <a:ext cx="5190345" cy="1816101"/>
            <a:chOff x="1290" y="1592"/>
            <a:chExt cx="2706" cy="8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7" name="Object 1">
                  <a:extLst>
                    <a:ext uri="{FF2B5EF4-FFF2-40B4-BE49-F238E27FC236}">
                      <a16:creationId xmlns:a16="http://schemas.microsoft.com/office/drawing/2014/main" id="{FA7E94B9-9A27-41CD-B051-23D599A62EB4}"/>
                    </a:ext>
                  </a:extLst>
                </p:cNvPr>
                <p:cNvSpPr txBox="1"/>
                <p:nvPr/>
              </p:nvSpPr>
              <p:spPr bwMode="auto">
                <a:xfrm>
                  <a:off x="1290" y="1592"/>
                  <a:ext cx="2504" cy="39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nary>
                          <m:naryPr>
                            <m:limLoc m:val="undOvr"/>
                            <m:supHide m:val="on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  <m:sup/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𝜌𝜑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𝑑𝑉</m:t>
                            </m:r>
                          </m:e>
                        </m:nary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∮"/>
                            <m:limLoc m:val="undOvr"/>
                            <m:supHide m:val="on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/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𝜌𝜑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𝐕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</m:nary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∮"/>
                            <m:limLoc m:val="undOvr"/>
                            <m:supHide m:val="on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Γ∇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</m:nary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limLoc m:val="undOvr"/>
                            <m:supHide m:val="on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𝑑𝑉</m:t>
                            </m:r>
                          </m:e>
                        </m:nary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27" name="Object 1">
                  <a:extLst>
                    <a:ext uri="{FF2B5EF4-FFF2-40B4-BE49-F238E27FC236}">
                      <a16:creationId xmlns:a16="http://schemas.microsoft.com/office/drawing/2014/main" id="{FA7E94B9-9A27-41CD-B051-23D599A62E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90" y="1592"/>
                  <a:ext cx="2504" cy="39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43" name="AutoShape 6">
              <a:extLst>
                <a:ext uri="{FF2B5EF4-FFF2-40B4-BE49-F238E27FC236}">
                  <a16:creationId xmlns:a16="http://schemas.microsoft.com/office/drawing/2014/main" id="{D0DB2FDD-9923-4C26-A244-7F3C0D89F49E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1565" y="1850"/>
              <a:ext cx="92" cy="540"/>
            </a:xfrm>
            <a:prstGeom prst="rightBrace">
              <a:avLst>
                <a:gd name="adj1" fmla="val 4891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4" name="AutoShape 7">
              <a:extLst>
                <a:ext uri="{FF2B5EF4-FFF2-40B4-BE49-F238E27FC236}">
                  <a16:creationId xmlns:a16="http://schemas.microsoft.com/office/drawing/2014/main" id="{0FBB67D9-19CA-4D11-BEE5-8CD23B21002E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2252" y="1817"/>
              <a:ext cx="92" cy="616"/>
            </a:xfrm>
            <a:prstGeom prst="rightBrace">
              <a:avLst>
                <a:gd name="adj1" fmla="val 55797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5" name="AutoShape 8">
              <a:extLst>
                <a:ext uri="{FF2B5EF4-FFF2-40B4-BE49-F238E27FC236}">
                  <a16:creationId xmlns:a16="http://schemas.microsoft.com/office/drawing/2014/main" id="{DDA7863C-33FF-40F1-9087-F9D483B20C65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2992" y="1792"/>
              <a:ext cx="92" cy="666"/>
            </a:xfrm>
            <a:prstGeom prst="rightBrace">
              <a:avLst>
                <a:gd name="adj1" fmla="val 60326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6" name="AutoShape 9">
              <a:extLst>
                <a:ext uri="{FF2B5EF4-FFF2-40B4-BE49-F238E27FC236}">
                  <a16:creationId xmlns:a16="http://schemas.microsoft.com/office/drawing/2014/main" id="{8480F805-E6EB-4E93-A92C-14DACBA03081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3567" y="1937"/>
              <a:ext cx="102" cy="376"/>
            </a:xfrm>
            <a:prstGeom prst="rightBrace">
              <a:avLst>
                <a:gd name="adj1" fmla="val 30719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7" name="Text Box 10">
              <a:extLst>
                <a:ext uri="{FF2B5EF4-FFF2-40B4-BE49-F238E27FC236}">
                  <a16:creationId xmlns:a16="http://schemas.microsoft.com/office/drawing/2014/main" id="{F38E6E8C-F004-450B-9383-7E91B31FBD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2" y="2144"/>
              <a:ext cx="57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400">
                  <a:solidFill>
                    <a:schemeClr val="tx2"/>
                  </a:solidFill>
                </a:rPr>
                <a:t>unsteady</a:t>
              </a:r>
            </a:p>
          </p:txBody>
        </p:sp>
        <p:sp>
          <p:nvSpPr>
            <p:cNvPr id="1048" name="Text Box 11">
              <a:extLst>
                <a:ext uri="{FF2B5EF4-FFF2-40B4-BE49-F238E27FC236}">
                  <a16:creationId xmlns:a16="http://schemas.microsoft.com/office/drawing/2014/main" id="{C1561A06-3FFC-443A-BE3A-81F24C71DD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9" y="2150"/>
              <a:ext cx="65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400" dirty="0">
                  <a:solidFill>
                    <a:schemeClr val="tx2"/>
                  </a:solidFill>
                </a:rPr>
                <a:t>convection</a:t>
              </a:r>
            </a:p>
          </p:txBody>
        </p:sp>
        <p:sp>
          <p:nvSpPr>
            <p:cNvPr id="1049" name="Text Box 12">
              <a:extLst>
                <a:ext uri="{FF2B5EF4-FFF2-40B4-BE49-F238E27FC236}">
                  <a16:creationId xmlns:a16="http://schemas.microsoft.com/office/drawing/2014/main" id="{EC55CBBD-DC99-42CF-A86A-D8C0861323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8" y="2156"/>
              <a:ext cx="65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400">
                  <a:solidFill>
                    <a:schemeClr val="tx2"/>
                  </a:solidFill>
                </a:rPr>
                <a:t>diffusion</a:t>
              </a:r>
            </a:p>
          </p:txBody>
        </p:sp>
        <p:sp>
          <p:nvSpPr>
            <p:cNvPr id="1050" name="Text Box 13">
              <a:extLst>
                <a:ext uri="{FF2B5EF4-FFF2-40B4-BE49-F238E27FC236}">
                  <a16:creationId xmlns:a16="http://schemas.microsoft.com/office/drawing/2014/main" id="{0945AD84-8E56-4276-9A20-4869B5772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1" y="2155"/>
              <a:ext cx="65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400">
                  <a:solidFill>
                    <a:schemeClr val="tx2"/>
                  </a:solidFill>
                </a:rPr>
                <a:t>generation</a:t>
              </a:r>
            </a:p>
          </p:txBody>
        </p:sp>
      </p:grpSp>
      <p:grpSp>
        <p:nvGrpSpPr>
          <p:cNvPr id="1032" name="Group 14">
            <a:extLst>
              <a:ext uri="{FF2B5EF4-FFF2-40B4-BE49-F238E27FC236}">
                <a16:creationId xmlns:a16="http://schemas.microsoft.com/office/drawing/2014/main" id="{C20AB31C-B7A5-437B-B220-0D5F05D91AC7}"/>
              </a:ext>
            </a:extLst>
          </p:cNvPr>
          <p:cNvGrpSpPr>
            <a:grpSpLocks/>
          </p:cNvGrpSpPr>
          <p:nvPr/>
        </p:nvGrpSpPr>
        <p:grpSpPr bwMode="auto">
          <a:xfrm>
            <a:off x="830263" y="4938719"/>
            <a:ext cx="2130425" cy="1376364"/>
            <a:chOff x="-544" y="3124"/>
            <a:chExt cx="1342" cy="867"/>
          </a:xfrm>
        </p:grpSpPr>
        <p:graphicFrame>
          <p:nvGraphicFramePr>
            <p:cNvPr id="1026" name="Object 0">
              <a:extLst>
                <a:ext uri="{FF2B5EF4-FFF2-40B4-BE49-F238E27FC236}">
                  <a16:creationId xmlns:a16="http://schemas.microsoft.com/office/drawing/2014/main" id="{8E99B1C9-34FE-459D-BA4A-B5FCB0F35D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4981166"/>
                </p:ext>
              </p:extLst>
            </p:nvPr>
          </p:nvGraphicFramePr>
          <p:xfrm>
            <a:off x="-544" y="3147"/>
            <a:ext cx="1342" cy="8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5" imgW="1600077" imgH="1009751" progId="Excel.Sheet.8">
                    <p:embed/>
                  </p:oleObj>
                </mc:Choice>
                <mc:Fallback>
                  <p:oleObj name="Worksheet" r:id="rId5" imgW="1600077" imgH="1009751" progId="Excel.Sheet.8">
                    <p:embed/>
                    <p:pic>
                      <p:nvPicPr>
                        <p:cNvPr id="1026" name="Object 0">
                          <a:extLst>
                            <a:ext uri="{FF2B5EF4-FFF2-40B4-BE49-F238E27FC236}">
                              <a16:creationId xmlns:a16="http://schemas.microsoft.com/office/drawing/2014/main" id="{8E99B1C9-34FE-459D-BA4A-B5FCB0F35D5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544" y="3147"/>
                          <a:ext cx="1342" cy="84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2" name="Rectangle 16">
              <a:extLst>
                <a:ext uri="{FF2B5EF4-FFF2-40B4-BE49-F238E27FC236}">
                  <a16:creationId xmlns:a16="http://schemas.microsoft.com/office/drawing/2014/main" id="{D39027DF-7A1D-4F1C-B612-2D13FE7EB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" y="3124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 i="1" u="sng" dirty="0">
                  <a:solidFill>
                    <a:srgbClr val="FFFF00"/>
                  </a:solidFill>
                  <a:highlight>
                    <a:srgbClr val="FF0000"/>
                  </a:highlight>
                  <a:sym typeface="Symbol" panose="05050102010706020507" pitchFamily="18" charset="2"/>
                </a:rPr>
                <a:t></a:t>
              </a:r>
              <a:endParaRPr lang="en-US" altLang="en-US" sz="1600" dirty="0">
                <a:solidFill>
                  <a:srgbClr val="FFFF00"/>
                </a:solidFill>
                <a:highlight>
                  <a:srgbClr val="FF0000"/>
                </a:highlight>
                <a:sym typeface="Symbol" panose="05050102010706020507" pitchFamily="18" charset="2"/>
              </a:endParaRPr>
            </a:p>
          </p:txBody>
        </p:sp>
      </p:grpSp>
      <p:grpSp>
        <p:nvGrpSpPr>
          <p:cNvPr id="1033" name="Group 27">
            <a:extLst>
              <a:ext uri="{FF2B5EF4-FFF2-40B4-BE49-F238E27FC236}">
                <a16:creationId xmlns:a16="http://schemas.microsoft.com/office/drawing/2014/main" id="{4B08EC81-3187-44A4-913F-C48D1373D5F0}"/>
              </a:ext>
            </a:extLst>
          </p:cNvPr>
          <p:cNvGrpSpPr>
            <a:grpSpLocks/>
          </p:cNvGrpSpPr>
          <p:nvPr/>
        </p:nvGrpSpPr>
        <p:grpSpPr bwMode="auto">
          <a:xfrm>
            <a:off x="6633264" y="3834105"/>
            <a:ext cx="5227431" cy="1971211"/>
            <a:chOff x="3249" y="2634"/>
            <a:chExt cx="2339" cy="993"/>
          </a:xfrm>
        </p:grpSpPr>
        <p:grpSp>
          <p:nvGrpSpPr>
            <p:cNvPr id="1035" name="Group 19">
              <a:extLst>
                <a:ext uri="{FF2B5EF4-FFF2-40B4-BE49-F238E27FC236}">
                  <a16:creationId xmlns:a16="http://schemas.microsoft.com/office/drawing/2014/main" id="{34ED6E04-B547-48C3-BD4F-86415E1FB56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523" y="2708"/>
              <a:ext cx="973" cy="919"/>
              <a:chOff x="2326" y="1728"/>
              <a:chExt cx="1943" cy="1835"/>
            </a:xfrm>
          </p:grpSpPr>
          <p:pic>
            <p:nvPicPr>
              <p:cNvPr id="1040" name="Picture 20" descr="G:\training\boot-camp\cfd\disc-rendered+mesh.tif">
                <a:extLst>
                  <a:ext uri="{FF2B5EF4-FFF2-40B4-BE49-F238E27FC236}">
                    <a16:creationId xmlns:a16="http://schemas.microsoft.com/office/drawing/2014/main" id="{D300748D-2750-45C9-A39F-B8A6E79859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33" y="1728"/>
                <a:ext cx="1836" cy="18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1" name="Rectangle 21">
                <a:extLst>
                  <a:ext uri="{FF2B5EF4-FFF2-40B4-BE49-F238E27FC236}">
                    <a16:creationId xmlns:a16="http://schemas.microsoft.com/office/drawing/2014/main" id="{1B8E7D76-F33C-488E-B8E4-9E9714C092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26" y="3371"/>
                <a:ext cx="296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1036" name="Oval 22">
              <a:extLst>
                <a:ext uri="{FF2B5EF4-FFF2-40B4-BE49-F238E27FC236}">
                  <a16:creationId xmlns:a16="http://schemas.microsoft.com/office/drawing/2014/main" id="{22C83D89-3A05-4457-8B44-99082BCCC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9" y="2731"/>
              <a:ext cx="300" cy="31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37" name="AutoShape 23">
              <a:extLst>
                <a:ext uri="{FF2B5EF4-FFF2-40B4-BE49-F238E27FC236}">
                  <a16:creationId xmlns:a16="http://schemas.microsoft.com/office/drawing/2014/main" id="{93E4EBB0-0D3B-4891-B441-FD823D712A9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394" y="2677"/>
              <a:ext cx="354" cy="148"/>
            </a:xfrm>
            <a:prstGeom prst="curvedDownArrow">
              <a:avLst>
                <a:gd name="adj1" fmla="val 47838"/>
                <a:gd name="adj2" fmla="val 95676"/>
                <a:gd name="adj3" fmla="val 33333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38" name="AutoShape 24">
              <a:extLst>
                <a:ext uri="{FF2B5EF4-FFF2-40B4-BE49-F238E27FC236}">
                  <a16:creationId xmlns:a16="http://schemas.microsoft.com/office/drawing/2014/main" id="{197DA808-DEAC-4A8A-9FD8-BA44BB41B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2" y="2834"/>
              <a:ext cx="109" cy="114"/>
            </a:xfrm>
            <a:prstGeom prst="cube">
              <a:avLst>
                <a:gd name="adj" fmla="val 25000"/>
              </a:avLst>
            </a:prstGeom>
            <a:solidFill>
              <a:srgbClr val="33CC3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39" name="Text Box 25">
              <a:extLst>
                <a:ext uri="{FF2B5EF4-FFF2-40B4-BE49-F238E27FC236}">
                  <a16:creationId xmlns:a16="http://schemas.microsoft.com/office/drawing/2014/main" id="{E3ACA1EC-02A5-4EE8-A067-F5AEF07B03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8" y="2634"/>
              <a:ext cx="1040" cy="6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600" dirty="0">
                  <a:solidFill>
                    <a:schemeClr val="bg1"/>
                  </a:solidFill>
                </a:rPr>
                <a:t>Fluid region of pipe flow discretized into finite set of control volumes (mesh or grid). </a:t>
              </a:r>
            </a:p>
          </p:txBody>
        </p:sp>
      </p:grpSp>
      <p:sp>
        <p:nvSpPr>
          <p:cNvPr id="1034" name="Text Box 26">
            <a:extLst>
              <a:ext uri="{FF2B5EF4-FFF2-40B4-BE49-F238E27FC236}">
                <a16:creationId xmlns:a16="http://schemas.microsoft.com/office/drawing/2014/main" id="{05A079CC-C6A9-4755-A468-1D3E3DAA3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6999" y="4778375"/>
            <a:ext cx="10398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solidFill>
                  <a:schemeClr val="bg1"/>
                </a:solidFill>
              </a:rPr>
              <a:t>control volume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F60B71BA-6654-4636-87BD-8B394701617D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9" y="0"/>
            <a:ext cx="10687049" cy="908720"/>
          </a:xfrm>
          <a:prstGeom prst="rect">
            <a:avLst/>
          </a:prstGeom>
          <a:solidFill>
            <a:schemeClr val="accent3"/>
          </a:solidFill>
        </p:spPr>
        <p:txBody>
          <a:bodyPr/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Tinos"/>
                <a:ea typeface="+mj-ea"/>
                <a:cs typeface="+mj-cs"/>
              </a:rPr>
              <a:t>    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How?     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br>
              <a:rPr lang="en-US" altLang="zh-CN" b="1" dirty="0">
                <a:solidFill>
                  <a:schemeClr val="bg1"/>
                </a:solidFill>
                <a:latin typeface="Tinos"/>
                <a:ea typeface="+mj-ea"/>
                <a:cs typeface="+mj-cs"/>
              </a:rPr>
            </a:br>
            <a:r>
              <a:rPr lang="en-US" altLang="zh-CN" b="1" dirty="0">
                <a:solidFill>
                  <a:schemeClr val="bg1"/>
                </a:solidFill>
                <a:latin typeface="Tinos"/>
                <a:ea typeface="+mj-ea"/>
                <a:cs typeface="+mj-cs"/>
              </a:rPr>
              <a:t> 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07A4765A-B4D3-4BB8-AF6C-C952AF6BC06C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8587"/>
    </mc:Choice>
    <mc:Fallback xmlns="">
      <p:transition spd="slow" advTm="16858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BE4BD429-373B-4416-A363-CA1179CBF9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How CFD affect Designing</a:t>
            </a:r>
          </a:p>
        </p:txBody>
      </p:sp>
      <p:pic>
        <p:nvPicPr>
          <p:cNvPr id="53252" name="Picture 2">
            <a:extLst>
              <a:ext uri="{FF2B5EF4-FFF2-40B4-BE49-F238E27FC236}">
                <a16:creationId xmlns:a16="http://schemas.microsoft.com/office/drawing/2014/main" id="{90BE4C4F-BFD9-49B3-BDC2-5DA179D3FCA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82724" y="923960"/>
            <a:ext cx="8918023" cy="5422900"/>
          </a:xfrm>
          <a:noFill/>
        </p:spPr>
      </p:pic>
      <p:sp>
        <p:nvSpPr>
          <p:cNvPr id="53251" name="Slide Number Placeholder 3">
            <a:extLst>
              <a:ext uri="{FF2B5EF4-FFF2-40B4-BE49-F238E27FC236}">
                <a16:creationId xmlns:a16="http://schemas.microsoft.com/office/drawing/2014/main" id="{358D414A-BB6F-46B8-BD30-C1D3D09C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3300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fld id="{AFEFD41B-AB39-4E87-BCD9-F1DBC7A7E3F3}" type="slidenum"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6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9B54CF7-C603-40A6-AAE2-989E85157255}"/>
              </a:ext>
            </a:extLst>
          </p:cNvPr>
          <p:cNvSpPr txBox="1">
            <a:spLocks noChangeArrowheads="1"/>
          </p:cNvSpPr>
          <p:nvPr/>
        </p:nvSpPr>
        <p:spPr>
          <a:xfrm>
            <a:off x="1482725" y="0"/>
            <a:ext cx="10687049" cy="90872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Tinos"/>
                <a:ea typeface="+mj-ea"/>
                <a:cs typeface="+mj-cs"/>
              </a:rPr>
              <a:t>    </a:t>
            </a:r>
            <a:endParaRPr lang="en-US" altLang="zh-CN" sz="2800" b="1" dirty="0">
              <a:solidFill>
                <a:schemeClr val="tx2"/>
              </a:solidFill>
              <a:latin typeface="Tinos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How CFD affects designing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br>
              <a:rPr lang="en-US" altLang="zh-CN" b="1" dirty="0">
                <a:solidFill>
                  <a:schemeClr val="bg1"/>
                </a:solidFill>
                <a:latin typeface="Tinos"/>
                <a:ea typeface="+mj-ea"/>
                <a:cs typeface="+mj-cs"/>
              </a:rPr>
            </a:br>
            <a:r>
              <a:rPr lang="en-US" altLang="zh-CN" b="1" dirty="0">
                <a:solidFill>
                  <a:schemeClr val="bg1"/>
                </a:solidFill>
                <a:latin typeface="Tinos"/>
                <a:ea typeface="+mj-ea"/>
                <a:cs typeface="+mj-cs"/>
              </a:rPr>
              <a:t> 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ED3B259-9CB5-4B66-A583-7D9D3EEB016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16040"/>
            <a:ext cx="12191997" cy="441960"/>
          </a:xfrm>
          <a:prstGeom prst="rect">
            <a:avLst/>
          </a:prstGeom>
          <a:pattFill prst="pct5">
            <a:fgClr>
              <a:srgbClr val="C00000"/>
            </a:fgClr>
            <a:bgClr>
              <a:schemeClr val="bg1"/>
            </a:bgClr>
          </a:patt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3">
            <a:extLst>
              <a:ext uri="{FF2B5EF4-FFF2-40B4-BE49-F238E27FC236}">
                <a16:creationId xmlns:a16="http://schemas.microsoft.com/office/drawing/2014/main" id="{D97EBC4D-06C6-4BED-91C1-542CE5041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2001" y="6522434"/>
            <a:ext cx="2540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3300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fld id="{33FD3746-5658-43F4-B6CA-26410F82A33D}" type="slidenum"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7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27825F6-0A9C-4FE2-8500-28B01F0FA61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537674"/>
            <a:ext cx="12191997" cy="44196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F1D75A2-6638-4BF2-BD9F-22B67B397B99}"/>
              </a:ext>
            </a:extLst>
          </p:cNvPr>
          <p:cNvSpPr txBox="1">
            <a:spLocks noChangeArrowheads="1"/>
          </p:cNvSpPr>
          <p:nvPr/>
        </p:nvSpPr>
        <p:spPr>
          <a:xfrm>
            <a:off x="1482725" y="0"/>
            <a:ext cx="10687049" cy="9087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Tinos"/>
                <a:ea typeface="+mj-ea"/>
                <a:cs typeface="+mj-cs"/>
              </a:rPr>
              <a:t>   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CFD Workflow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br>
              <a:rPr lang="en-US" altLang="zh-CN" b="1" dirty="0">
                <a:solidFill>
                  <a:schemeClr val="bg1"/>
                </a:solidFill>
                <a:latin typeface="Tinos"/>
                <a:ea typeface="+mj-ea"/>
                <a:cs typeface="+mj-cs"/>
              </a:rPr>
            </a:br>
            <a:r>
              <a:rPr lang="en-US" altLang="zh-CN" b="1" dirty="0">
                <a:solidFill>
                  <a:schemeClr val="bg1"/>
                </a:solidFill>
                <a:latin typeface="Tinos"/>
                <a:ea typeface="+mj-ea"/>
                <a:cs typeface="+mj-cs"/>
              </a:rPr>
              <a:t> 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sp>
        <p:nvSpPr>
          <p:cNvPr id="7" name="object 25">
            <a:extLst>
              <a:ext uri="{FF2B5EF4-FFF2-40B4-BE49-F238E27FC236}">
                <a16:creationId xmlns:a16="http://schemas.microsoft.com/office/drawing/2014/main" id="{2A9FA0F1-F5A3-4A94-95DB-FC149224D657}"/>
              </a:ext>
            </a:extLst>
          </p:cNvPr>
          <p:cNvSpPr/>
          <p:nvPr/>
        </p:nvSpPr>
        <p:spPr>
          <a:xfrm>
            <a:off x="2186609" y="1052002"/>
            <a:ext cx="7465392" cy="53423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7907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473EA8A3-D24C-4FA5-AC00-EF78A41013CF}"/>
              </a:ext>
            </a:extLst>
          </p:cNvPr>
          <p:cNvGrpSpPr/>
          <p:nvPr/>
        </p:nvGrpSpPr>
        <p:grpSpPr>
          <a:xfrm rot="1308444" flipV="1">
            <a:off x="1943025" y="3288881"/>
            <a:ext cx="2995077" cy="1306797"/>
            <a:chOff x="3909753" y="3162185"/>
            <a:chExt cx="4372494" cy="1070794"/>
          </a:xfrm>
        </p:grpSpPr>
        <p:sp>
          <p:nvSpPr>
            <p:cNvPr id="63" name="Freeform: Shape 58">
              <a:extLst>
                <a:ext uri="{FF2B5EF4-FFF2-40B4-BE49-F238E27FC236}">
                  <a16:creationId xmlns:a16="http://schemas.microsoft.com/office/drawing/2014/main" id="{470AB5F5-162E-438B-AD06-C131011FD647}"/>
                </a:ext>
              </a:extLst>
            </p:cNvPr>
            <p:cNvSpPr/>
            <p:nvPr/>
          </p:nvSpPr>
          <p:spPr>
            <a:xfrm>
              <a:off x="3909753" y="3162185"/>
              <a:ext cx="4372494" cy="535397"/>
            </a:xfrm>
            <a:custGeom>
              <a:avLst/>
              <a:gdLst>
                <a:gd name="connsiteX0" fmla="*/ 4372494 w 4372494"/>
                <a:gd name="connsiteY0" fmla="*/ 0 h 535397"/>
                <a:gd name="connsiteX1" fmla="*/ 4372494 w 4372494"/>
                <a:gd name="connsiteY1" fmla="*/ 535397 h 535397"/>
                <a:gd name="connsiteX2" fmla="*/ 0 w 4372494"/>
                <a:gd name="connsiteY2" fmla="*/ 535397 h 535397"/>
                <a:gd name="connsiteX3" fmla="*/ 0 w 4372494"/>
                <a:gd name="connsiteY3" fmla="*/ 0 h 535397"/>
                <a:gd name="connsiteX4" fmla="*/ 39384 w 4372494"/>
                <a:gd name="connsiteY4" fmla="*/ 14676 h 535397"/>
                <a:gd name="connsiteX5" fmla="*/ 2186247 w 4372494"/>
                <a:gd name="connsiteY5" fmla="*/ 245550 h 535397"/>
                <a:gd name="connsiteX6" fmla="*/ 4333110 w 4372494"/>
                <a:gd name="connsiteY6" fmla="*/ 14676 h 53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2494" h="535397">
                  <a:moveTo>
                    <a:pt x="4372494" y="0"/>
                  </a:moveTo>
                  <a:lnTo>
                    <a:pt x="4372494" y="535397"/>
                  </a:lnTo>
                  <a:lnTo>
                    <a:pt x="0" y="535397"/>
                  </a:lnTo>
                  <a:lnTo>
                    <a:pt x="0" y="0"/>
                  </a:lnTo>
                  <a:lnTo>
                    <a:pt x="39384" y="14676"/>
                  </a:lnTo>
                  <a:cubicBezTo>
                    <a:pt x="504652" y="153969"/>
                    <a:pt x="1292572" y="245550"/>
                    <a:pt x="2186247" y="245550"/>
                  </a:cubicBezTo>
                  <a:cubicBezTo>
                    <a:pt x="3079923" y="245550"/>
                    <a:pt x="3867843" y="153969"/>
                    <a:pt x="4333110" y="14676"/>
                  </a:cubicBezTo>
                  <a:close/>
                </a:path>
              </a:pathLst>
            </a:custGeom>
            <a:solidFill>
              <a:srgbClr val="FDA8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65" name="Freeform: Shape 59">
              <a:extLst>
                <a:ext uri="{FF2B5EF4-FFF2-40B4-BE49-F238E27FC236}">
                  <a16:creationId xmlns:a16="http://schemas.microsoft.com/office/drawing/2014/main" id="{3A585108-C2F9-4226-9C12-6D9BECE6A7AE}"/>
                </a:ext>
              </a:extLst>
            </p:cNvPr>
            <p:cNvSpPr/>
            <p:nvPr/>
          </p:nvSpPr>
          <p:spPr>
            <a:xfrm flipV="1">
              <a:off x="3909753" y="3697582"/>
              <a:ext cx="4372494" cy="535397"/>
            </a:xfrm>
            <a:custGeom>
              <a:avLst/>
              <a:gdLst>
                <a:gd name="connsiteX0" fmla="*/ 4372494 w 4372494"/>
                <a:gd name="connsiteY0" fmla="*/ 0 h 535397"/>
                <a:gd name="connsiteX1" fmla="*/ 4372494 w 4372494"/>
                <a:gd name="connsiteY1" fmla="*/ 535397 h 535397"/>
                <a:gd name="connsiteX2" fmla="*/ 0 w 4372494"/>
                <a:gd name="connsiteY2" fmla="*/ 535397 h 535397"/>
                <a:gd name="connsiteX3" fmla="*/ 0 w 4372494"/>
                <a:gd name="connsiteY3" fmla="*/ 0 h 535397"/>
                <a:gd name="connsiteX4" fmla="*/ 39384 w 4372494"/>
                <a:gd name="connsiteY4" fmla="*/ 14676 h 535397"/>
                <a:gd name="connsiteX5" fmla="*/ 2186247 w 4372494"/>
                <a:gd name="connsiteY5" fmla="*/ 245550 h 535397"/>
                <a:gd name="connsiteX6" fmla="*/ 4333110 w 4372494"/>
                <a:gd name="connsiteY6" fmla="*/ 14676 h 53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2494" h="535397">
                  <a:moveTo>
                    <a:pt x="4372494" y="0"/>
                  </a:moveTo>
                  <a:lnTo>
                    <a:pt x="4372494" y="535397"/>
                  </a:lnTo>
                  <a:lnTo>
                    <a:pt x="0" y="535397"/>
                  </a:lnTo>
                  <a:lnTo>
                    <a:pt x="0" y="0"/>
                  </a:lnTo>
                  <a:lnTo>
                    <a:pt x="39384" y="14676"/>
                  </a:lnTo>
                  <a:cubicBezTo>
                    <a:pt x="504652" y="153969"/>
                    <a:pt x="1292572" y="245550"/>
                    <a:pt x="2186247" y="245550"/>
                  </a:cubicBezTo>
                  <a:cubicBezTo>
                    <a:pt x="3079923" y="245550"/>
                    <a:pt x="3867843" y="153969"/>
                    <a:pt x="4333110" y="14676"/>
                  </a:cubicBezTo>
                  <a:close/>
                </a:path>
              </a:pathLst>
            </a:custGeom>
            <a:solidFill>
              <a:srgbClr val="D58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D6B8CF1-6F09-4A8B-98EC-2306A73867F2}"/>
              </a:ext>
            </a:extLst>
          </p:cNvPr>
          <p:cNvGrpSpPr/>
          <p:nvPr/>
        </p:nvGrpSpPr>
        <p:grpSpPr>
          <a:xfrm rot="3618745" flipV="1">
            <a:off x="779514" y="3838998"/>
            <a:ext cx="3023779" cy="1294391"/>
            <a:chOff x="3909753" y="3162185"/>
            <a:chExt cx="4372494" cy="1070794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4A94FEA-A3B2-4F8D-92F4-82FC18E6FAB9}"/>
                </a:ext>
              </a:extLst>
            </p:cNvPr>
            <p:cNvSpPr/>
            <p:nvPr/>
          </p:nvSpPr>
          <p:spPr>
            <a:xfrm>
              <a:off x="3909753" y="3162185"/>
              <a:ext cx="4372494" cy="535397"/>
            </a:xfrm>
            <a:custGeom>
              <a:avLst/>
              <a:gdLst>
                <a:gd name="connsiteX0" fmla="*/ 4372494 w 4372494"/>
                <a:gd name="connsiteY0" fmla="*/ 0 h 535397"/>
                <a:gd name="connsiteX1" fmla="*/ 4372494 w 4372494"/>
                <a:gd name="connsiteY1" fmla="*/ 535397 h 535397"/>
                <a:gd name="connsiteX2" fmla="*/ 0 w 4372494"/>
                <a:gd name="connsiteY2" fmla="*/ 535397 h 535397"/>
                <a:gd name="connsiteX3" fmla="*/ 0 w 4372494"/>
                <a:gd name="connsiteY3" fmla="*/ 0 h 535397"/>
                <a:gd name="connsiteX4" fmla="*/ 39384 w 4372494"/>
                <a:gd name="connsiteY4" fmla="*/ 14676 h 535397"/>
                <a:gd name="connsiteX5" fmla="*/ 2186247 w 4372494"/>
                <a:gd name="connsiteY5" fmla="*/ 245550 h 535397"/>
                <a:gd name="connsiteX6" fmla="*/ 4333110 w 4372494"/>
                <a:gd name="connsiteY6" fmla="*/ 14676 h 53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2494" h="535397">
                  <a:moveTo>
                    <a:pt x="4372494" y="0"/>
                  </a:moveTo>
                  <a:lnTo>
                    <a:pt x="4372494" y="535397"/>
                  </a:lnTo>
                  <a:lnTo>
                    <a:pt x="0" y="535397"/>
                  </a:lnTo>
                  <a:lnTo>
                    <a:pt x="0" y="0"/>
                  </a:lnTo>
                  <a:lnTo>
                    <a:pt x="39384" y="14676"/>
                  </a:lnTo>
                  <a:cubicBezTo>
                    <a:pt x="504652" y="153969"/>
                    <a:pt x="1292572" y="245550"/>
                    <a:pt x="2186247" y="245550"/>
                  </a:cubicBezTo>
                  <a:cubicBezTo>
                    <a:pt x="3079923" y="245550"/>
                    <a:pt x="3867843" y="153969"/>
                    <a:pt x="4333110" y="14676"/>
                  </a:cubicBezTo>
                  <a:close/>
                </a:path>
              </a:pathLst>
            </a:custGeom>
            <a:solidFill>
              <a:srgbClr val="D82B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5BCE5B2-812A-4ACA-9964-22AC8EE693B6}"/>
                </a:ext>
              </a:extLst>
            </p:cNvPr>
            <p:cNvSpPr/>
            <p:nvPr/>
          </p:nvSpPr>
          <p:spPr>
            <a:xfrm flipV="1">
              <a:off x="3909753" y="3697582"/>
              <a:ext cx="4372494" cy="535397"/>
            </a:xfrm>
            <a:custGeom>
              <a:avLst/>
              <a:gdLst>
                <a:gd name="connsiteX0" fmla="*/ 4372494 w 4372494"/>
                <a:gd name="connsiteY0" fmla="*/ 0 h 535397"/>
                <a:gd name="connsiteX1" fmla="*/ 4372494 w 4372494"/>
                <a:gd name="connsiteY1" fmla="*/ 535397 h 535397"/>
                <a:gd name="connsiteX2" fmla="*/ 0 w 4372494"/>
                <a:gd name="connsiteY2" fmla="*/ 535397 h 535397"/>
                <a:gd name="connsiteX3" fmla="*/ 0 w 4372494"/>
                <a:gd name="connsiteY3" fmla="*/ 0 h 535397"/>
                <a:gd name="connsiteX4" fmla="*/ 39384 w 4372494"/>
                <a:gd name="connsiteY4" fmla="*/ 14676 h 535397"/>
                <a:gd name="connsiteX5" fmla="*/ 2186247 w 4372494"/>
                <a:gd name="connsiteY5" fmla="*/ 245550 h 535397"/>
                <a:gd name="connsiteX6" fmla="*/ 4333110 w 4372494"/>
                <a:gd name="connsiteY6" fmla="*/ 14676 h 53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2494" h="535397">
                  <a:moveTo>
                    <a:pt x="4372494" y="0"/>
                  </a:moveTo>
                  <a:lnTo>
                    <a:pt x="4372494" y="535397"/>
                  </a:lnTo>
                  <a:lnTo>
                    <a:pt x="0" y="535397"/>
                  </a:lnTo>
                  <a:lnTo>
                    <a:pt x="0" y="0"/>
                  </a:lnTo>
                  <a:lnTo>
                    <a:pt x="39384" y="14676"/>
                  </a:lnTo>
                  <a:cubicBezTo>
                    <a:pt x="504652" y="153969"/>
                    <a:pt x="1292572" y="245550"/>
                    <a:pt x="2186247" y="245550"/>
                  </a:cubicBezTo>
                  <a:cubicBezTo>
                    <a:pt x="3079923" y="245550"/>
                    <a:pt x="3867843" y="153969"/>
                    <a:pt x="4333110" y="14676"/>
                  </a:cubicBezTo>
                  <a:close/>
                </a:path>
              </a:pathLst>
            </a:custGeom>
            <a:solidFill>
              <a:srgbClr val="BF23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DC60688-B741-42D6-B0FA-EC81516B3B1D}"/>
              </a:ext>
            </a:extLst>
          </p:cNvPr>
          <p:cNvGrpSpPr/>
          <p:nvPr/>
        </p:nvGrpSpPr>
        <p:grpSpPr>
          <a:xfrm rot="6318745" flipV="1">
            <a:off x="3305001" y="4323383"/>
            <a:ext cx="1697995" cy="3691492"/>
            <a:chOff x="7921577" y="4479564"/>
            <a:chExt cx="2016508" cy="4342338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52D1CFB-A8F6-4CB2-84E1-0DBCFB663618}"/>
                </a:ext>
              </a:extLst>
            </p:cNvPr>
            <p:cNvSpPr/>
            <p:nvPr/>
          </p:nvSpPr>
          <p:spPr>
            <a:xfrm>
              <a:off x="8133347" y="4479564"/>
              <a:ext cx="1804738" cy="1804738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FE33A64-3F6F-4D0F-ADDF-C66C17F70C6A}"/>
                </a:ext>
              </a:extLst>
            </p:cNvPr>
            <p:cNvSpPr/>
            <p:nvPr/>
          </p:nvSpPr>
          <p:spPr>
            <a:xfrm rot="17118745">
              <a:off x="6546841" y="5945575"/>
              <a:ext cx="4251063" cy="1501591"/>
            </a:xfrm>
            <a:prstGeom prst="ellipse">
              <a:avLst/>
            </a:prstGeom>
            <a:gradFill flip="none" rotWithShape="1">
              <a:gsLst>
                <a:gs pos="100000">
                  <a:srgbClr val="E88484"/>
                </a:gs>
                <a:gs pos="0">
                  <a:srgbClr val="BF2323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Making mesh efficient </a:t>
              </a:r>
              <a:endParaRPr lang="en-IN" sz="16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cxnSp>
        <p:nvCxnSpPr>
          <p:cNvPr id="39" name="Straight Connector 38" hidden="1"/>
          <p:cNvCxnSpPr>
            <a:cxnSpLocks/>
          </p:cNvCxnSpPr>
          <p:nvPr/>
        </p:nvCxnSpPr>
        <p:spPr>
          <a:xfrm rot="3600000">
            <a:off x="6866021" y="2126655"/>
            <a:ext cx="3080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 hidden="1"/>
          <p:cNvCxnSpPr>
            <a:cxnSpLocks/>
          </p:cNvCxnSpPr>
          <p:nvPr/>
        </p:nvCxnSpPr>
        <p:spPr>
          <a:xfrm rot="18000000" flipV="1">
            <a:off x="6866019" y="4794086"/>
            <a:ext cx="3080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 hidden="1"/>
          <p:cNvCxnSpPr/>
          <p:nvPr/>
        </p:nvCxnSpPr>
        <p:spPr>
          <a:xfrm>
            <a:off x="4555958" y="792939"/>
            <a:ext cx="3080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 hidden="1"/>
          <p:cNvCxnSpPr/>
          <p:nvPr/>
        </p:nvCxnSpPr>
        <p:spPr>
          <a:xfrm>
            <a:off x="4555956" y="6127802"/>
            <a:ext cx="3080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 hidden="1"/>
          <p:cNvCxnSpPr>
            <a:cxnSpLocks/>
          </p:cNvCxnSpPr>
          <p:nvPr/>
        </p:nvCxnSpPr>
        <p:spPr>
          <a:xfrm rot="18000000" flipH="1">
            <a:off x="2245894" y="2126655"/>
            <a:ext cx="3080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 hidden="1"/>
          <p:cNvCxnSpPr>
            <a:cxnSpLocks/>
          </p:cNvCxnSpPr>
          <p:nvPr/>
        </p:nvCxnSpPr>
        <p:spPr>
          <a:xfrm rot="3600000" flipH="1" flipV="1">
            <a:off x="2245894" y="4794086"/>
            <a:ext cx="3080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CCA8850-758A-45D0-A3C9-31898E9185DA}"/>
              </a:ext>
            </a:extLst>
          </p:cNvPr>
          <p:cNvGrpSpPr/>
          <p:nvPr/>
        </p:nvGrpSpPr>
        <p:grpSpPr>
          <a:xfrm rot="9124811" flipV="1">
            <a:off x="1750086" y="2388762"/>
            <a:ext cx="3023779" cy="1293018"/>
            <a:chOff x="3909753" y="3162185"/>
            <a:chExt cx="4372494" cy="1070794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EB5F0BFC-7A48-45C5-B5CF-0774376DC731}"/>
                </a:ext>
              </a:extLst>
            </p:cNvPr>
            <p:cNvSpPr/>
            <p:nvPr/>
          </p:nvSpPr>
          <p:spPr>
            <a:xfrm>
              <a:off x="3909753" y="3162185"/>
              <a:ext cx="4372494" cy="535397"/>
            </a:xfrm>
            <a:custGeom>
              <a:avLst/>
              <a:gdLst>
                <a:gd name="connsiteX0" fmla="*/ 4372494 w 4372494"/>
                <a:gd name="connsiteY0" fmla="*/ 0 h 535397"/>
                <a:gd name="connsiteX1" fmla="*/ 4372494 w 4372494"/>
                <a:gd name="connsiteY1" fmla="*/ 535397 h 535397"/>
                <a:gd name="connsiteX2" fmla="*/ 0 w 4372494"/>
                <a:gd name="connsiteY2" fmla="*/ 535397 h 535397"/>
                <a:gd name="connsiteX3" fmla="*/ 0 w 4372494"/>
                <a:gd name="connsiteY3" fmla="*/ 0 h 535397"/>
                <a:gd name="connsiteX4" fmla="*/ 39384 w 4372494"/>
                <a:gd name="connsiteY4" fmla="*/ 14676 h 535397"/>
                <a:gd name="connsiteX5" fmla="*/ 2186247 w 4372494"/>
                <a:gd name="connsiteY5" fmla="*/ 245550 h 535397"/>
                <a:gd name="connsiteX6" fmla="*/ 4333110 w 4372494"/>
                <a:gd name="connsiteY6" fmla="*/ 14676 h 53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2494" h="535397">
                  <a:moveTo>
                    <a:pt x="4372494" y="0"/>
                  </a:moveTo>
                  <a:lnTo>
                    <a:pt x="4372494" y="535397"/>
                  </a:lnTo>
                  <a:lnTo>
                    <a:pt x="0" y="535397"/>
                  </a:lnTo>
                  <a:lnTo>
                    <a:pt x="0" y="0"/>
                  </a:lnTo>
                  <a:lnTo>
                    <a:pt x="39384" y="14676"/>
                  </a:lnTo>
                  <a:cubicBezTo>
                    <a:pt x="504652" y="153969"/>
                    <a:pt x="1292572" y="245550"/>
                    <a:pt x="2186247" y="245550"/>
                  </a:cubicBezTo>
                  <a:cubicBezTo>
                    <a:pt x="3079923" y="245550"/>
                    <a:pt x="3867843" y="153969"/>
                    <a:pt x="4333110" y="14676"/>
                  </a:cubicBezTo>
                  <a:close/>
                </a:path>
              </a:pathLst>
            </a:custGeom>
            <a:solidFill>
              <a:srgbClr val="24A8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BDFC8A0-940D-4663-AA3E-E3DCF5AC747B}"/>
                </a:ext>
              </a:extLst>
            </p:cNvPr>
            <p:cNvSpPr/>
            <p:nvPr/>
          </p:nvSpPr>
          <p:spPr>
            <a:xfrm flipV="1">
              <a:off x="3909753" y="3697582"/>
              <a:ext cx="4372494" cy="535397"/>
            </a:xfrm>
            <a:custGeom>
              <a:avLst/>
              <a:gdLst>
                <a:gd name="connsiteX0" fmla="*/ 4372494 w 4372494"/>
                <a:gd name="connsiteY0" fmla="*/ 0 h 535397"/>
                <a:gd name="connsiteX1" fmla="*/ 4372494 w 4372494"/>
                <a:gd name="connsiteY1" fmla="*/ 535397 h 535397"/>
                <a:gd name="connsiteX2" fmla="*/ 0 w 4372494"/>
                <a:gd name="connsiteY2" fmla="*/ 535397 h 535397"/>
                <a:gd name="connsiteX3" fmla="*/ 0 w 4372494"/>
                <a:gd name="connsiteY3" fmla="*/ 0 h 535397"/>
                <a:gd name="connsiteX4" fmla="*/ 39384 w 4372494"/>
                <a:gd name="connsiteY4" fmla="*/ 14676 h 535397"/>
                <a:gd name="connsiteX5" fmla="*/ 2186247 w 4372494"/>
                <a:gd name="connsiteY5" fmla="*/ 245550 h 535397"/>
                <a:gd name="connsiteX6" fmla="*/ 4333110 w 4372494"/>
                <a:gd name="connsiteY6" fmla="*/ 14676 h 53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2494" h="535397">
                  <a:moveTo>
                    <a:pt x="4372494" y="0"/>
                  </a:moveTo>
                  <a:lnTo>
                    <a:pt x="4372494" y="535397"/>
                  </a:lnTo>
                  <a:lnTo>
                    <a:pt x="0" y="535397"/>
                  </a:lnTo>
                  <a:lnTo>
                    <a:pt x="0" y="0"/>
                  </a:lnTo>
                  <a:lnTo>
                    <a:pt x="39384" y="14676"/>
                  </a:lnTo>
                  <a:cubicBezTo>
                    <a:pt x="504652" y="153969"/>
                    <a:pt x="1292572" y="245550"/>
                    <a:pt x="2186247" y="245550"/>
                  </a:cubicBezTo>
                  <a:cubicBezTo>
                    <a:pt x="3079923" y="245550"/>
                    <a:pt x="3867843" y="153969"/>
                    <a:pt x="4333110" y="14676"/>
                  </a:cubicBezTo>
                  <a:close/>
                </a:path>
              </a:pathLst>
            </a:custGeom>
            <a:solidFill>
              <a:srgbClr val="28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73EA8A3-D24C-4FA5-AC00-EF78A41013CF}"/>
              </a:ext>
            </a:extLst>
          </p:cNvPr>
          <p:cNvGrpSpPr/>
          <p:nvPr/>
        </p:nvGrpSpPr>
        <p:grpSpPr>
          <a:xfrm rot="17135087" flipV="1">
            <a:off x="794625" y="1911129"/>
            <a:ext cx="2995077" cy="1306797"/>
            <a:chOff x="3909753" y="3162185"/>
            <a:chExt cx="4372494" cy="1070794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70AB5F5-162E-438B-AD06-C131011FD647}"/>
                </a:ext>
              </a:extLst>
            </p:cNvPr>
            <p:cNvSpPr/>
            <p:nvPr/>
          </p:nvSpPr>
          <p:spPr>
            <a:xfrm>
              <a:off x="3909753" y="3162185"/>
              <a:ext cx="4372494" cy="535397"/>
            </a:xfrm>
            <a:custGeom>
              <a:avLst/>
              <a:gdLst>
                <a:gd name="connsiteX0" fmla="*/ 4372494 w 4372494"/>
                <a:gd name="connsiteY0" fmla="*/ 0 h 535397"/>
                <a:gd name="connsiteX1" fmla="*/ 4372494 w 4372494"/>
                <a:gd name="connsiteY1" fmla="*/ 535397 h 535397"/>
                <a:gd name="connsiteX2" fmla="*/ 0 w 4372494"/>
                <a:gd name="connsiteY2" fmla="*/ 535397 h 535397"/>
                <a:gd name="connsiteX3" fmla="*/ 0 w 4372494"/>
                <a:gd name="connsiteY3" fmla="*/ 0 h 535397"/>
                <a:gd name="connsiteX4" fmla="*/ 39384 w 4372494"/>
                <a:gd name="connsiteY4" fmla="*/ 14676 h 535397"/>
                <a:gd name="connsiteX5" fmla="*/ 2186247 w 4372494"/>
                <a:gd name="connsiteY5" fmla="*/ 245550 h 535397"/>
                <a:gd name="connsiteX6" fmla="*/ 4333110 w 4372494"/>
                <a:gd name="connsiteY6" fmla="*/ 14676 h 53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2494" h="535397">
                  <a:moveTo>
                    <a:pt x="4372494" y="0"/>
                  </a:moveTo>
                  <a:lnTo>
                    <a:pt x="4372494" y="535397"/>
                  </a:lnTo>
                  <a:lnTo>
                    <a:pt x="0" y="535397"/>
                  </a:lnTo>
                  <a:lnTo>
                    <a:pt x="0" y="0"/>
                  </a:lnTo>
                  <a:lnTo>
                    <a:pt x="39384" y="14676"/>
                  </a:lnTo>
                  <a:cubicBezTo>
                    <a:pt x="504652" y="153969"/>
                    <a:pt x="1292572" y="245550"/>
                    <a:pt x="2186247" y="245550"/>
                  </a:cubicBezTo>
                  <a:cubicBezTo>
                    <a:pt x="3079923" y="245550"/>
                    <a:pt x="3867843" y="153969"/>
                    <a:pt x="4333110" y="14676"/>
                  </a:cubicBezTo>
                  <a:close/>
                </a:path>
              </a:pathLst>
            </a:custGeom>
            <a:solidFill>
              <a:srgbClr val="FDA8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3A585108-C2F9-4226-9C12-6D9BECE6A7AE}"/>
                </a:ext>
              </a:extLst>
            </p:cNvPr>
            <p:cNvSpPr/>
            <p:nvPr/>
          </p:nvSpPr>
          <p:spPr>
            <a:xfrm flipV="1">
              <a:off x="3909753" y="3697582"/>
              <a:ext cx="4372494" cy="535397"/>
            </a:xfrm>
            <a:custGeom>
              <a:avLst/>
              <a:gdLst>
                <a:gd name="connsiteX0" fmla="*/ 4372494 w 4372494"/>
                <a:gd name="connsiteY0" fmla="*/ 0 h 535397"/>
                <a:gd name="connsiteX1" fmla="*/ 4372494 w 4372494"/>
                <a:gd name="connsiteY1" fmla="*/ 535397 h 535397"/>
                <a:gd name="connsiteX2" fmla="*/ 0 w 4372494"/>
                <a:gd name="connsiteY2" fmla="*/ 535397 h 535397"/>
                <a:gd name="connsiteX3" fmla="*/ 0 w 4372494"/>
                <a:gd name="connsiteY3" fmla="*/ 0 h 535397"/>
                <a:gd name="connsiteX4" fmla="*/ 39384 w 4372494"/>
                <a:gd name="connsiteY4" fmla="*/ 14676 h 535397"/>
                <a:gd name="connsiteX5" fmla="*/ 2186247 w 4372494"/>
                <a:gd name="connsiteY5" fmla="*/ 245550 h 535397"/>
                <a:gd name="connsiteX6" fmla="*/ 4333110 w 4372494"/>
                <a:gd name="connsiteY6" fmla="*/ 14676 h 53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2494" h="535397">
                  <a:moveTo>
                    <a:pt x="4372494" y="0"/>
                  </a:moveTo>
                  <a:lnTo>
                    <a:pt x="4372494" y="535397"/>
                  </a:lnTo>
                  <a:lnTo>
                    <a:pt x="0" y="535397"/>
                  </a:lnTo>
                  <a:lnTo>
                    <a:pt x="0" y="0"/>
                  </a:lnTo>
                  <a:lnTo>
                    <a:pt x="39384" y="14676"/>
                  </a:lnTo>
                  <a:cubicBezTo>
                    <a:pt x="504652" y="153969"/>
                    <a:pt x="1292572" y="245550"/>
                    <a:pt x="2186247" y="245550"/>
                  </a:cubicBezTo>
                  <a:cubicBezTo>
                    <a:pt x="3079923" y="245550"/>
                    <a:pt x="3867843" y="153969"/>
                    <a:pt x="4333110" y="14676"/>
                  </a:cubicBezTo>
                  <a:close/>
                </a:path>
              </a:pathLst>
            </a:custGeom>
            <a:solidFill>
              <a:srgbClr val="D58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2D99187-518B-4138-A3DC-01DB7E5F78F5}"/>
              </a:ext>
            </a:extLst>
          </p:cNvPr>
          <p:cNvGrpSpPr/>
          <p:nvPr/>
        </p:nvGrpSpPr>
        <p:grpSpPr>
          <a:xfrm rot="3635087" flipV="1">
            <a:off x="2613445" y="-1007811"/>
            <a:ext cx="1827388" cy="3121083"/>
            <a:chOff x="1965157" y="4479563"/>
            <a:chExt cx="2170174" cy="367136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AA7909EC-0FC8-4C30-ADE1-C84975BF90A6}"/>
                </a:ext>
              </a:extLst>
            </p:cNvPr>
            <p:cNvSpPr/>
            <p:nvPr/>
          </p:nvSpPr>
          <p:spPr>
            <a:xfrm>
              <a:off x="1965157" y="4479564"/>
              <a:ext cx="1804738" cy="1804738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383D369-2D27-4197-ADEE-34D840D32FA1}"/>
                </a:ext>
              </a:extLst>
            </p:cNvPr>
            <p:cNvSpPr/>
            <p:nvPr/>
          </p:nvSpPr>
          <p:spPr>
            <a:xfrm rot="19835087">
              <a:off x="2595285" y="4579715"/>
              <a:ext cx="1540044" cy="3571207"/>
            </a:xfrm>
            <a:prstGeom prst="ellipse">
              <a:avLst/>
            </a:prstGeom>
            <a:gradFill flip="none" rotWithShape="1">
              <a:gsLst>
                <a:gs pos="100000">
                  <a:srgbClr val="FEC148"/>
                </a:gs>
                <a:gs pos="0">
                  <a:srgbClr val="D58E0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F9A347F6-21F8-4498-810E-1BA4EA84A413}"/>
              </a:ext>
            </a:extLst>
          </p:cNvPr>
          <p:cNvSpPr txBox="1"/>
          <p:nvPr/>
        </p:nvSpPr>
        <p:spPr>
          <a:xfrm>
            <a:off x="2458549" y="413491"/>
            <a:ext cx="2645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0" u="none" strike="noStrike" baseline="0" dirty="0">
                <a:latin typeface="Times" panose="02020603050405020304" pitchFamily="18" charset="0"/>
                <a:cs typeface="Times" panose="02020603050405020304" pitchFamily="18" charset="0"/>
              </a:rPr>
              <a:t>Creating geometry in  Space claim, </a:t>
            </a:r>
            <a:r>
              <a:rPr lang="en-US" sz="1600" b="1" i="0" u="none" strike="noStrike" baseline="0" dirty="0" err="1">
                <a:latin typeface="Times" panose="02020603050405020304" pitchFamily="18" charset="0"/>
                <a:cs typeface="Times" panose="02020603050405020304" pitchFamily="18" charset="0"/>
              </a:rPr>
              <a:t>SOLIDworks</a:t>
            </a:r>
            <a:r>
              <a:rPr lang="en-US" sz="1600" b="1" i="0" u="none" strike="noStrike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1600" b="1" i="0" u="none" strike="noStrike" dirty="0" err="1">
                <a:latin typeface="Times" panose="02020603050405020304" pitchFamily="18" charset="0"/>
                <a:cs typeface="Times" panose="02020603050405020304" pitchFamily="18" charset="0"/>
              </a:rPr>
              <a:t>etc</a:t>
            </a:r>
            <a:endParaRPr lang="en-US" sz="1600" b="1" i="0" u="none" strike="noStrike" baseline="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7DB166F-9764-4DEC-A39B-9B4DB1BC1060}"/>
              </a:ext>
            </a:extLst>
          </p:cNvPr>
          <p:cNvSpPr/>
          <p:nvPr/>
        </p:nvSpPr>
        <p:spPr>
          <a:xfrm rot="5400000" flipV="1">
            <a:off x="411128" y="1838814"/>
            <a:ext cx="3136111" cy="3166165"/>
          </a:xfrm>
          <a:prstGeom prst="ellipse">
            <a:avLst/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/>
              </a:gs>
            </a:gsLst>
            <a:lin ang="2700000" scaled="1"/>
            <a:tileRect/>
          </a:gradFill>
          <a:ln>
            <a:noFill/>
          </a:ln>
          <a:effectLst>
            <a:outerShdw blurRad="355600" dist="127000" dir="2700000" algn="tl" rotWithShape="0">
              <a:schemeClr val="tx1">
                <a:lumMod val="85000"/>
                <a:lumOff val="15000"/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 contourW="12700">
            <a:bevelT w="120650" h="25400" prst="relaxedInset"/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C33F085-724C-4037-ADAF-FE3A59987E46}"/>
              </a:ext>
            </a:extLst>
          </p:cNvPr>
          <p:cNvGrpSpPr/>
          <p:nvPr/>
        </p:nvGrpSpPr>
        <p:grpSpPr>
          <a:xfrm rot="5400000" flipV="1">
            <a:off x="4932316" y="628595"/>
            <a:ext cx="1519674" cy="3144064"/>
            <a:chOff x="5205649" y="4805381"/>
            <a:chExt cx="1716288" cy="3580297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C618EF84-3F06-4321-BB6F-2EC3435EA1D2}"/>
                </a:ext>
              </a:extLst>
            </p:cNvPr>
            <p:cNvSpPr/>
            <p:nvPr/>
          </p:nvSpPr>
          <p:spPr>
            <a:xfrm>
              <a:off x="5205649" y="4805381"/>
              <a:ext cx="1716288" cy="1732736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7CFB391-46FD-43E7-99F7-01D3B0121EE6}"/>
                </a:ext>
              </a:extLst>
            </p:cNvPr>
            <p:cNvSpPr/>
            <p:nvPr/>
          </p:nvSpPr>
          <p:spPr>
            <a:xfrm rot="16200000">
              <a:off x="4346476" y="5954359"/>
              <a:ext cx="3434638" cy="1427999"/>
            </a:xfrm>
            <a:prstGeom prst="ellipse">
              <a:avLst/>
            </a:prstGeom>
            <a:gradFill flip="none" rotWithShape="1">
              <a:gsLst>
                <a:gs pos="100000">
                  <a:srgbClr val="4FD9B2"/>
                </a:gs>
                <a:gs pos="0">
                  <a:srgbClr val="24A882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 </a:t>
              </a:r>
              <a:r>
                <a:rPr lang="en-US" sz="16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Creating regions of fluid flow, solid regions and surface boundary names</a:t>
              </a:r>
              <a:endParaRPr lang="en-IN" sz="105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36E9FC2-0B13-4EBC-A389-2EE81990FA25}"/>
              </a:ext>
            </a:extLst>
          </p:cNvPr>
          <p:cNvSpPr/>
          <p:nvPr/>
        </p:nvSpPr>
        <p:spPr>
          <a:xfrm rot="6656927">
            <a:off x="534455" y="1450852"/>
            <a:ext cx="1101223" cy="951949"/>
          </a:xfrm>
          <a:custGeom>
            <a:avLst/>
            <a:gdLst>
              <a:gd name="connsiteX0" fmla="*/ 298968 w 1243699"/>
              <a:gd name="connsiteY0" fmla="*/ 0 h 1075112"/>
              <a:gd name="connsiteX1" fmla="*/ 308798 w 1243699"/>
              <a:gd name="connsiteY1" fmla="*/ 16179 h 1075112"/>
              <a:gd name="connsiteX2" fmla="*/ 1134118 w 1243699"/>
              <a:gd name="connsiteY2" fmla="*/ 695811 h 1075112"/>
              <a:gd name="connsiteX3" fmla="*/ 1243699 w 1243699"/>
              <a:gd name="connsiteY3" fmla="*/ 735919 h 1075112"/>
              <a:gd name="connsiteX4" fmla="*/ 1127210 w 1243699"/>
              <a:gd name="connsiteY4" fmla="*/ 1075112 h 1075112"/>
              <a:gd name="connsiteX5" fmla="*/ 994417 w 1243699"/>
              <a:gd name="connsiteY5" fmla="*/ 1026509 h 1075112"/>
              <a:gd name="connsiteX6" fmla="*/ 11190 w 1243699"/>
              <a:gd name="connsiteY6" fmla="*/ 216845 h 1075112"/>
              <a:gd name="connsiteX7" fmla="*/ 0 w 1243699"/>
              <a:gd name="connsiteY7" fmla="*/ 198425 h 107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3699" h="1075112">
                <a:moveTo>
                  <a:pt x="298968" y="0"/>
                </a:moveTo>
                <a:lnTo>
                  <a:pt x="308798" y="16179"/>
                </a:lnTo>
                <a:cubicBezTo>
                  <a:pt x="511060" y="315568"/>
                  <a:pt x="797482" y="553426"/>
                  <a:pt x="1134118" y="695811"/>
                </a:cubicBezTo>
                <a:lnTo>
                  <a:pt x="1243699" y="735919"/>
                </a:lnTo>
                <a:lnTo>
                  <a:pt x="1127210" y="1075112"/>
                </a:lnTo>
                <a:lnTo>
                  <a:pt x="994417" y="1026509"/>
                </a:lnTo>
                <a:cubicBezTo>
                  <a:pt x="593373" y="856882"/>
                  <a:pt x="252151" y="573514"/>
                  <a:pt x="11190" y="216845"/>
                </a:cubicBezTo>
                <a:lnTo>
                  <a:pt x="0" y="198425"/>
                </a:lnTo>
                <a:close/>
              </a:path>
            </a:pathLst>
          </a:custGeom>
          <a:solidFill>
            <a:srgbClr val="E99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57AFC84-1A0D-4763-8785-71E734EB9252}"/>
              </a:ext>
            </a:extLst>
          </p:cNvPr>
          <p:cNvSpPr/>
          <p:nvPr/>
        </p:nvSpPr>
        <p:spPr>
          <a:xfrm rot="3869576">
            <a:off x="646319" y="4484565"/>
            <a:ext cx="1093191" cy="953926"/>
          </a:xfrm>
          <a:custGeom>
            <a:avLst/>
            <a:gdLst>
              <a:gd name="connsiteX0" fmla="*/ 935659 w 1234627"/>
              <a:gd name="connsiteY0" fmla="*/ 0 h 1077344"/>
              <a:gd name="connsiteX1" fmla="*/ 1234627 w 1234627"/>
              <a:gd name="connsiteY1" fmla="*/ 198425 h 1077344"/>
              <a:gd name="connsiteX2" fmla="*/ 1219100 w 1234627"/>
              <a:gd name="connsiteY2" fmla="*/ 223984 h 1077344"/>
              <a:gd name="connsiteX3" fmla="*/ 235874 w 1234627"/>
              <a:gd name="connsiteY3" fmla="*/ 1033648 h 1077344"/>
              <a:gd name="connsiteX4" fmla="*/ 116488 w 1234627"/>
              <a:gd name="connsiteY4" fmla="*/ 1077344 h 1077344"/>
              <a:gd name="connsiteX5" fmla="*/ 0 w 1234627"/>
              <a:gd name="connsiteY5" fmla="*/ 738150 h 1077344"/>
              <a:gd name="connsiteX6" fmla="*/ 96173 w 1234627"/>
              <a:gd name="connsiteY6" fmla="*/ 702950 h 1077344"/>
              <a:gd name="connsiteX7" fmla="*/ 921493 w 1234627"/>
              <a:gd name="connsiteY7" fmla="*/ 23318 h 1077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34627" h="1077344">
                <a:moveTo>
                  <a:pt x="935659" y="0"/>
                </a:moveTo>
                <a:lnTo>
                  <a:pt x="1234627" y="198425"/>
                </a:lnTo>
                <a:lnTo>
                  <a:pt x="1219100" y="223984"/>
                </a:lnTo>
                <a:cubicBezTo>
                  <a:pt x="978139" y="580653"/>
                  <a:pt x="636917" y="864021"/>
                  <a:pt x="235874" y="1033648"/>
                </a:cubicBezTo>
                <a:lnTo>
                  <a:pt x="116488" y="1077344"/>
                </a:lnTo>
                <a:lnTo>
                  <a:pt x="0" y="738150"/>
                </a:lnTo>
                <a:lnTo>
                  <a:pt x="96173" y="702950"/>
                </a:lnTo>
                <a:cubicBezTo>
                  <a:pt x="432809" y="560565"/>
                  <a:pt x="719230" y="322707"/>
                  <a:pt x="921493" y="23318"/>
                </a:cubicBezTo>
                <a:close/>
              </a:path>
            </a:pathLst>
          </a:custGeom>
          <a:solidFill>
            <a:srgbClr val="D82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5C960F32-9D07-4142-9BD9-BD39337BF921}"/>
              </a:ext>
            </a:extLst>
          </p:cNvPr>
          <p:cNvSpPr/>
          <p:nvPr/>
        </p:nvSpPr>
        <p:spPr>
          <a:xfrm rot="5400000">
            <a:off x="-410812" y="3205291"/>
            <a:ext cx="1270413" cy="406835"/>
          </a:xfrm>
          <a:custGeom>
            <a:avLst/>
            <a:gdLst>
              <a:gd name="connsiteX0" fmla="*/ 115212 w 1434778"/>
              <a:gd name="connsiteY0" fmla="*/ 0 h 459471"/>
              <a:gd name="connsiteX1" fmla="*/ 159569 w 1434778"/>
              <a:gd name="connsiteY1" fmla="*/ 16235 h 459471"/>
              <a:gd name="connsiteX2" fmla="*/ 717390 w 1434778"/>
              <a:gd name="connsiteY2" fmla="*/ 100569 h 459471"/>
              <a:gd name="connsiteX3" fmla="*/ 1275212 w 1434778"/>
              <a:gd name="connsiteY3" fmla="*/ 16235 h 459471"/>
              <a:gd name="connsiteX4" fmla="*/ 1319566 w 1434778"/>
              <a:gd name="connsiteY4" fmla="*/ 1 h 459471"/>
              <a:gd name="connsiteX5" fmla="*/ 1434778 w 1434778"/>
              <a:gd name="connsiteY5" fmla="*/ 339661 h 459471"/>
              <a:gd name="connsiteX6" fmla="*/ 1381938 w 1434778"/>
              <a:gd name="connsiteY6" fmla="*/ 359001 h 459471"/>
              <a:gd name="connsiteX7" fmla="*/ 717390 w 1434778"/>
              <a:gd name="connsiteY7" fmla="*/ 459471 h 459471"/>
              <a:gd name="connsiteX8" fmla="*/ 52843 w 1434778"/>
              <a:gd name="connsiteY8" fmla="*/ 359001 h 459471"/>
              <a:gd name="connsiteX9" fmla="*/ 0 w 1434778"/>
              <a:gd name="connsiteY9" fmla="*/ 339660 h 459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34778" h="459471">
                <a:moveTo>
                  <a:pt x="115212" y="0"/>
                </a:moveTo>
                <a:lnTo>
                  <a:pt x="159569" y="16235"/>
                </a:lnTo>
                <a:cubicBezTo>
                  <a:pt x="335785" y="71043"/>
                  <a:pt x="523139" y="100569"/>
                  <a:pt x="717390" y="100569"/>
                </a:cubicBezTo>
                <a:cubicBezTo>
                  <a:pt x="911641" y="100569"/>
                  <a:pt x="1098996" y="71043"/>
                  <a:pt x="1275212" y="16235"/>
                </a:cubicBezTo>
                <a:lnTo>
                  <a:pt x="1319566" y="1"/>
                </a:lnTo>
                <a:lnTo>
                  <a:pt x="1434778" y="339661"/>
                </a:lnTo>
                <a:lnTo>
                  <a:pt x="1381938" y="359001"/>
                </a:lnTo>
                <a:cubicBezTo>
                  <a:pt x="1172008" y="424296"/>
                  <a:pt x="948807" y="459471"/>
                  <a:pt x="717390" y="459471"/>
                </a:cubicBezTo>
                <a:cubicBezTo>
                  <a:pt x="485974" y="459471"/>
                  <a:pt x="262773" y="424296"/>
                  <a:pt x="52843" y="359001"/>
                </a:cubicBezTo>
                <a:lnTo>
                  <a:pt x="0" y="339660"/>
                </a:lnTo>
                <a:close/>
              </a:path>
            </a:pathLst>
          </a:custGeom>
          <a:solidFill>
            <a:srgbClr val="4FD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596004" y="2993934"/>
            <a:ext cx="508325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highlight>
                  <a:srgbClr val="FF0000"/>
                </a:highlight>
                <a:latin typeface="Times" panose="02020603050405020304" pitchFamily="18" charset="0"/>
                <a:cs typeface="Times" panose="02020603050405020304" pitchFamily="18" charset="0"/>
              </a:rPr>
              <a:t>Preprocessing</a:t>
            </a:r>
            <a:endParaRPr lang="en-US" sz="3600" b="1" cap="none" spc="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highlight>
                <a:srgbClr val="FF0000"/>
              </a:highlight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C33F085-724C-4037-ADAF-FE3A59987E46}"/>
              </a:ext>
            </a:extLst>
          </p:cNvPr>
          <p:cNvGrpSpPr/>
          <p:nvPr/>
        </p:nvGrpSpPr>
        <p:grpSpPr>
          <a:xfrm rot="5400000" flipV="1">
            <a:off x="5137446" y="2962904"/>
            <a:ext cx="1519674" cy="3075881"/>
            <a:chOff x="5205649" y="4805381"/>
            <a:chExt cx="1716288" cy="3502653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618EF84-3F06-4321-BB6F-2EC3435EA1D2}"/>
                </a:ext>
              </a:extLst>
            </p:cNvPr>
            <p:cNvSpPr/>
            <p:nvPr/>
          </p:nvSpPr>
          <p:spPr>
            <a:xfrm>
              <a:off x="5205649" y="4805381"/>
              <a:ext cx="1716288" cy="1732736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7CFB391-46FD-43E7-99F7-01D3B0121EE6}"/>
                </a:ext>
              </a:extLst>
            </p:cNvPr>
            <p:cNvSpPr/>
            <p:nvPr/>
          </p:nvSpPr>
          <p:spPr>
            <a:xfrm rot="16200000">
              <a:off x="4385298" y="5915537"/>
              <a:ext cx="3356994" cy="1427999"/>
            </a:xfrm>
            <a:prstGeom prst="ellipse">
              <a:avLst/>
            </a:prstGeom>
            <a:gradFill flip="none" rotWithShape="1">
              <a:gsLst>
                <a:gs pos="100000">
                  <a:srgbClr val="4FD9B2"/>
                </a:gs>
                <a:gs pos="0">
                  <a:srgbClr val="24A882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0" i="0" dirty="0">
                  <a:solidFill>
                    <a:srgbClr val="000000"/>
                  </a:solidFill>
                  <a:effectLst/>
                  <a:latin typeface="Times" panose="02020603050405020304" pitchFamily="18" charset="0"/>
                  <a:cs typeface="Times" panose="02020603050405020304" pitchFamily="18" charset="0"/>
                </a:rPr>
                <a:t>Grid or mesh generation</a:t>
              </a:r>
              <a:r>
                <a:rPr lang="en-US" sz="1400" dirty="0">
                  <a:latin typeface="Times" panose="02020603050405020304" pitchFamily="18" charset="0"/>
                  <a:cs typeface="Times" panose="02020603050405020304" pitchFamily="18" charset="0"/>
                </a:rPr>
                <a:t> </a:t>
              </a:r>
              <a:r>
                <a:rPr lang="en-US" sz="1400" b="1" dirty="0">
                  <a:highlight>
                    <a:srgbClr val="00FF00"/>
                  </a:highlight>
                  <a:latin typeface="Times" panose="02020603050405020304" pitchFamily="18" charset="0"/>
                  <a:cs typeface="Times" panose="02020603050405020304" pitchFamily="18" charset="0"/>
                </a:rPr>
                <a:t>in meshing tool</a:t>
              </a:r>
              <a:br>
                <a:rPr lang="en-US" sz="1400" dirty="0">
                  <a:latin typeface="Times" panose="02020603050405020304" pitchFamily="18" charset="0"/>
                  <a:cs typeface="Times" panose="02020603050405020304" pitchFamily="18" charset="0"/>
                </a:rPr>
              </a:br>
              <a:endParaRPr lang="en-IN" sz="11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4EDAD415-DF59-4BED-90CC-54BF6C0C8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969" y="1440791"/>
            <a:ext cx="3480056" cy="385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559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DF3C3-AB3A-46B1-8AFB-D0084D75D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772" y="-69153"/>
            <a:ext cx="7335921" cy="691118"/>
          </a:xfrm>
        </p:spPr>
        <p:txBody>
          <a:bodyPr>
            <a:normAutofit fontScale="90000"/>
          </a:bodyPr>
          <a:lstStyle/>
          <a:p>
            <a:r>
              <a:rPr lang="en-US" dirty="0"/>
              <a:t>Solving</a:t>
            </a: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670658CA-7990-4D95-BF58-E18054F2447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2757369" y="3121418"/>
            <a:ext cx="3760255" cy="1773941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241C4-6227-4DB6-A7FA-DC38FB3AE51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29714" y="5914704"/>
            <a:ext cx="5597497" cy="631040"/>
          </a:xfrm>
        </p:spPr>
        <p:txBody>
          <a:bodyPr/>
          <a:lstStyle/>
          <a:p>
            <a:r>
              <a:rPr lang="en-US" sz="2400" dirty="0">
                <a:latin typeface="Tw Cen MT" panose="020B0602020104020603" pitchFamily="34" charset="0"/>
              </a:rPr>
              <a:t>Discretization of integral equations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005392-518B-4050-917A-1AD9D1EBAE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77922" y="665894"/>
            <a:ext cx="11136573" cy="1286857"/>
          </a:xfrm>
        </p:spPr>
        <p:txBody>
          <a:bodyPr/>
          <a:lstStyle/>
          <a:p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Governing Equation of the Fluid Flow are replaced with a set of algebraic equations</a:t>
            </a:r>
          </a:p>
          <a:p>
            <a:r>
              <a:rPr lang="en-US" sz="2200" dirty="0">
                <a:highlight>
                  <a:srgbClr val="FF0000"/>
                </a:highlight>
                <a:latin typeface="Times" panose="02020603050405020304" pitchFamily="18" charset="0"/>
                <a:cs typeface="Times" panose="02020603050405020304" pitchFamily="18" charset="0"/>
              </a:rPr>
              <a:t> the process is called discretization</a:t>
            </a:r>
          </a:p>
          <a:p>
            <a:r>
              <a:rPr lang="en-US" sz="2200" dirty="0">
                <a:solidFill>
                  <a:srgbClr val="FFFF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3 methods of Discretization Finite difference, Finite volume and Finite element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1B0904C-12C4-4CDB-BF8D-EF102B90173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757369" y="6278542"/>
            <a:ext cx="3342188" cy="980457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Tw Cen MT" panose="020B0602020104020603" pitchFamily="34" charset="0"/>
              </a:rPr>
              <a:t>Used in Finite  Volume method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088DB452-1539-47F9-8B84-12C66F041310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1" r="4651"/>
          <a:stretch/>
        </p:blipFill>
        <p:spPr>
          <a:xfrm>
            <a:off x="7122217" y="2575562"/>
            <a:ext cx="2956574" cy="2956574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5B65EF-1512-4EA2-A9DD-E7537EFE85E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517624" y="5927382"/>
            <a:ext cx="5597498" cy="427195"/>
          </a:xfrm>
        </p:spPr>
        <p:txBody>
          <a:bodyPr/>
          <a:lstStyle/>
          <a:p>
            <a:r>
              <a:rPr lang="en-US" sz="2400" dirty="0">
                <a:latin typeface="Tw Cen MT" panose="020B0602020104020603" pitchFamily="34" charset="0"/>
              </a:rPr>
              <a:t>Discretization of differential equations</a:t>
            </a:r>
            <a:endParaRPr lang="en-US" sz="24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BE33341-084A-4117-953D-AA1D92E1A8C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833480" y="6248590"/>
            <a:ext cx="3342188" cy="980457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Tw Cen MT" panose="020B0602020104020603" pitchFamily="34" charset="0"/>
              </a:rPr>
              <a:t>used in Finite difference method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A0B231E-BC29-4F0A-AC0C-69AD5D4C7AA5}"/>
              </a:ext>
            </a:extLst>
          </p:cNvPr>
          <p:cNvSpPr/>
          <p:nvPr/>
        </p:nvSpPr>
        <p:spPr>
          <a:xfrm>
            <a:off x="2729552" y="2306481"/>
            <a:ext cx="3877310" cy="3546118"/>
          </a:xfrm>
          <a:prstGeom prst="roundRect">
            <a:avLst>
              <a:gd name="adj" fmla="val 13542"/>
            </a:avLst>
          </a:prstGeom>
          <a:noFill/>
          <a:ln w="57150">
            <a:solidFill>
              <a:srgbClr val="3E8E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3AB3CC1-E3B6-4860-9B15-7A49AA29405C}"/>
              </a:ext>
            </a:extLst>
          </p:cNvPr>
          <p:cNvSpPr/>
          <p:nvPr/>
        </p:nvSpPr>
        <p:spPr>
          <a:xfrm>
            <a:off x="6833480" y="2416989"/>
            <a:ext cx="3437334" cy="3367363"/>
          </a:xfrm>
          <a:prstGeom prst="roundRect">
            <a:avLst>
              <a:gd name="adj" fmla="val 13542"/>
            </a:avLst>
          </a:prstGeom>
          <a:noFill/>
          <a:ln w="57150">
            <a:solidFill>
              <a:srgbClr val="3E8E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00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build="p"/>
      <p:bldP spid="9" grpId="0" build="p"/>
      <p:bldP spid="11" grpId="0" build="p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DF3C3-AB3A-46B1-8AFB-D0084D75D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772" y="-69153"/>
            <a:ext cx="7335921" cy="691118"/>
          </a:xfrm>
        </p:spPr>
        <p:txBody>
          <a:bodyPr>
            <a:normAutofit fontScale="90000"/>
          </a:bodyPr>
          <a:lstStyle/>
          <a:p>
            <a:r>
              <a:rPr lang="en-US" dirty="0"/>
              <a:t>Solving</a:t>
            </a: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670658CA-7990-4D95-BF58-E18054F2447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1248" y="1433015"/>
            <a:ext cx="4375437" cy="450795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95FA57-C96F-4E86-8F33-EED03C8B23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4247" y="4728817"/>
            <a:ext cx="3481070" cy="37614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241C4-6227-4DB6-A7FA-DC38FB3AE51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145317" y="6236359"/>
            <a:ext cx="3481070" cy="555625"/>
          </a:xfrm>
        </p:spPr>
        <p:txBody>
          <a:bodyPr/>
          <a:lstStyle/>
          <a:p>
            <a:r>
              <a:rPr lang="en-US" sz="1600" dirty="0"/>
              <a:t>At cell </a:t>
            </a:r>
            <a:r>
              <a:rPr lang="en-US" sz="1600" dirty="0" err="1"/>
              <a:t>centre</a:t>
            </a:r>
            <a:r>
              <a:rPr lang="en-US" sz="1600" dirty="0"/>
              <a:t> or node we get the values of  p, V, 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005392-518B-4050-917A-1AD9D1EBAE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55260" y="621965"/>
            <a:ext cx="11136573" cy="1286857"/>
          </a:xfrm>
        </p:spPr>
        <p:txBody>
          <a:bodyPr/>
          <a:lstStyle/>
          <a:p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System of algebraic equations are solved numerically (on a computer) for the flow field variables at each node or cell</a:t>
            </a:r>
          </a:p>
        </p:txBody>
      </p:sp>
    </p:spTree>
    <p:extLst>
      <p:ext uri="{BB962C8B-B14F-4D97-AF65-F5344CB8AC3E}">
        <p14:creationId xmlns:p14="http://schemas.microsoft.com/office/powerpoint/2010/main" val="2257868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DF3C3-AB3A-46B1-8AFB-D0084D75D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772" y="-69153"/>
            <a:ext cx="7335921" cy="691118"/>
          </a:xfrm>
        </p:spPr>
        <p:txBody>
          <a:bodyPr>
            <a:normAutofit fontScale="90000"/>
          </a:bodyPr>
          <a:lstStyle/>
          <a:p>
            <a:r>
              <a:rPr lang="en-US" dirty="0"/>
              <a:t>Solving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005392-518B-4050-917A-1AD9D1EBAE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4597" y="787169"/>
            <a:ext cx="11136573" cy="1286857"/>
          </a:xfrm>
        </p:spPr>
        <p:txBody>
          <a:bodyPr/>
          <a:lstStyle/>
          <a:p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Solver also perform supplying problem specification, like BC, fluid properties </a:t>
            </a:r>
            <a:r>
              <a:rPr lang="en-US" sz="2200" dirty="0" err="1">
                <a:latin typeface="Times" panose="02020603050405020304" pitchFamily="18" charset="0"/>
                <a:cs typeface="Times" panose="02020603050405020304" pitchFamily="18" charset="0"/>
              </a:rPr>
              <a:t>etc</a:t>
            </a:r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088DB452-1539-47F9-8B84-12C66F041310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3777890" y="1203923"/>
            <a:ext cx="5327537" cy="4201246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5B65EF-1512-4EA2-A9DD-E7537EFE85E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328199" y="4728817"/>
            <a:ext cx="3481070" cy="37614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BE33341-084A-4117-953D-AA1D92E1A8C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270743" y="5660740"/>
            <a:ext cx="5395095" cy="1191454"/>
          </a:xfrm>
        </p:spPr>
        <p:txBody>
          <a:bodyPr/>
          <a:lstStyle/>
          <a:p>
            <a:r>
              <a:rPr lang="en-US" dirty="0">
                <a:latin typeface="Tw Cen MT" panose="020B0602020104020603" pitchFamily="34" charset="0"/>
              </a:rPr>
              <a:t> </a:t>
            </a:r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3AB3CC1-E3B6-4860-9B15-7A49AA29405C}"/>
              </a:ext>
            </a:extLst>
          </p:cNvPr>
          <p:cNvSpPr/>
          <p:nvPr/>
        </p:nvSpPr>
        <p:spPr>
          <a:xfrm>
            <a:off x="3667316" y="1258531"/>
            <a:ext cx="5548684" cy="4092029"/>
          </a:xfrm>
          <a:prstGeom prst="roundRect">
            <a:avLst>
              <a:gd name="adj" fmla="val 13542"/>
            </a:avLst>
          </a:prstGeom>
          <a:noFill/>
          <a:ln w="57150">
            <a:solidFill>
              <a:srgbClr val="3E8E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768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 build="p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F3947CD-295C-4AA1-BA45-8F4293806D2F}"/>
              </a:ext>
            </a:extLst>
          </p:cNvPr>
          <p:cNvGrpSpPr/>
          <p:nvPr/>
        </p:nvGrpSpPr>
        <p:grpSpPr>
          <a:xfrm>
            <a:off x="1433882" y="657053"/>
            <a:ext cx="9119549" cy="884447"/>
            <a:chOff x="3109551" y="711206"/>
            <a:chExt cx="3092742" cy="64633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4C6562D-805D-4DCF-9F0A-CE0275A17EDE}"/>
                </a:ext>
              </a:extLst>
            </p:cNvPr>
            <p:cNvSpPr/>
            <p:nvPr/>
          </p:nvSpPr>
          <p:spPr>
            <a:xfrm>
              <a:off x="3109551" y="713007"/>
              <a:ext cx="3092742" cy="466734"/>
            </a:xfrm>
            <a:prstGeom prst="roundRect">
              <a:avLst>
                <a:gd name="adj" fmla="val 50000"/>
              </a:avLst>
            </a:prstGeom>
            <a:solidFill>
              <a:srgbClr val="837A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Montserrat" panose="00000500000000000000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AAE02A2-E436-4D00-8F9D-4231677F6A5F}"/>
                </a:ext>
              </a:extLst>
            </p:cNvPr>
            <p:cNvSpPr txBox="1"/>
            <p:nvPr/>
          </p:nvSpPr>
          <p:spPr>
            <a:xfrm>
              <a:off x="3155518" y="711206"/>
              <a:ext cx="297676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Montserrat ExtraBold" panose="00000900000000000000" pitchFamily="2" charset="0"/>
                </a:rPr>
                <a:t>Data is obtained after solution at </a:t>
              </a:r>
              <a:r>
                <a:rPr lang="en-US" b="1" dirty="0">
                  <a:solidFill>
                    <a:srgbClr val="FFFF00"/>
                  </a:solidFill>
                  <a:latin typeface="Montserrat ExtraBold" panose="00000900000000000000" pitchFamily="2" charset="0"/>
                </a:rPr>
                <a:t>discrete point </a:t>
              </a:r>
              <a:r>
                <a:rPr lang="en-US" b="1" dirty="0">
                  <a:solidFill>
                    <a:schemeClr val="bg1"/>
                  </a:solidFill>
                  <a:latin typeface="Montserrat ExtraBold" panose="00000900000000000000" pitchFamily="2" charset="0"/>
                </a:rPr>
                <a:t>of the domain</a:t>
              </a:r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4DAE9F14-010C-43E3-9F96-2358A71F899A}"/>
              </a:ext>
            </a:extLst>
          </p:cNvPr>
          <p:cNvSpPr/>
          <p:nvPr/>
        </p:nvSpPr>
        <p:spPr>
          <a:xfrm>
            <a:off x="656120" y="305385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F8A01AB-3E47-44B0-A7E9-B14464891F80}"/>
              </a:ext>
            </a:extLst>
          </p:cNvPr>
          <p:cNvSpPr/>
          <p:nvPr/>
        </p:nvSpPr>
        <p:spPr>
          <a:xfrm rot="10800000">
            <a:off x="-1" y="62048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8C860C2-CCE7-4AB6-9756-A9594B9869E4}"/>
              </a:ext>
            </a:extLst>
          </p:cNvPr>
          <p:cNvSpPr/>
          <p:nvPr/>
        </p:nvSpPr>
        <p:spPr>
          <a:xfrm rot="10800000">
            <a:off x="-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006332C-7924-45F6-8F1B-0029924742E8}"/>
              </a:ext>
            </a:extLst>
          </p:cNvPr>
          <p:cNvSpPr/>
          <p:nvPr/>
        </p:nvSpPr>
        <p:spPr>
          <a:xfrm>
            <a:off x="4719992" y="6350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3344FEB-2281-442D-A72E-BA4F1945E27F}"/>
              </a:ext>
            </a:extLst>
          </p:cNvPr>
          <p:cNvSpPr/>
          <p:nvPr/>
        </p:nvSpPr>
        <p:spPr>
          <a:xfrm>
            <a:off x="4341482" y="5565617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C3C6562-A7BF-45C4-8F1B-47634E9E4BD2}"/>
              </a:ext>
            </a:extLst>
          </p:cNvPr>
          <p:cNvSpPr/>
          <p:nvPr/>
        </p:nvSpPr>
        <p:spPr>
          <a:xfrm>
            <a:off x="5960309" y="17410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60A61356-271A-4F3F-BF03-642010FE8FD2}"/>
              </a:ext>
            </a:extLst>
          </p:cNvPr>
          <p:cNvSpPr/>
          <p:nvPr/>
        </p:nvSpPr>
        <p:spPr>
          <a:xfrm>
            <a:off x="5960309" y="559738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8A6A15F-EA2B-48B1-A142-A4B0C39E3F27}"/>
              </a:ext>
            </a:extLst>
          </p:cNvPr>
          <p:cNvCxnSpPr>
            <a:cxnSpLocks/>
          </p:cNvCxnSpPr>
          <p:nvPr/>
        </p:nvCxnSpPr>
        <p:spPr>
          <a:xfrm>
            <a:off x="1049700" y="3656158"/>
            <a:ext cx="0" cy="11266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Oval 110">
            <a:extLst>
              <a:ext uri="{FF2B5EF4-FFF2-40B4-BE49-F238E27FC236}">
                <a16:creationId xmlns:a16="http://schemas.microsoft.com/office/drawing/2014/main" id="{1193EA8F-BC4A-4C71-9BCC-C09677F8A73D}"/>
              </a:ext>
            </a:extLst>
          </p:cNvPr>
          <p:cNvSpPr/>
          <p:nvPr/>
        </p:nvSpPr>
        <p:spPr>
          <a:xfrm>
            <a:off x="1006837" y="2107831"/>
            <a:ext cx="85726" cy="8572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0E292DEE-4531-42A7-94E7-BE61FF6D36DC}"/>
              </a:ext>
            </a:extLst>
          </p:cNvPr>
          <p:cNvSpPr/>
          <p:nvPr/>
        </p:nvSpPr>
        <p:spPr>
          <a:xfrm>
            <a:off x="920160" y="2021154"/>
            <a:ext cx="259080" cy="259080"/>
          </a:xfrm>
          <a:prstGeom prst="ellipse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B3E0BDFA-97CA-4B2F-A0C2-6253332547FA}"/>
              </a:ext>
            </a:extLst>
          </p:cNvPr>
          <p:cNvCxnSpPr>
            <a:cxnSpLocks/>
          </p:cNvCxnSpPr>
          <p:nvPr/>
        </p:nvCxnSpPr>
        <p:spPr>
          <a:xfrm>
            <a:off x="1049700" y="2280234"/>
            <a:ext cx="0" cy="11266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DF5D618-7601-4683-B3BF-A155325FDDDF}"/>
              </a:ext>
            </a:extLst>
          </p:cNvPr>
          <p:cNvGrpSpPr/>
          <p:nvPr/>
        </p:nvGrpSpPr>
        <p:grpSpPr>
          <a:xfrm>
            <a:off x="1295318" y="1886930"/>
            <a:ext cx="4159637" cy="1401878"/>
            <a:chOff x="6680267" y="1442950"/>
            <a:chExt cx="4159637" cy="1401878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4F9D532-385A-41C2-9422-2C92CC173A59}"/>
                </a:ext>
              </a:extLst>
            </p:cNvPr>
            <p:cNvSpPr txBox="1"/>
            <p:nvPr/>
          </p:nvSpPr>
          <p:spPr>
            <a:xfrm>
              <a:off x="6681901" y="1442950"/>
              <a:ext cx="33070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Montserrat" panose="00000500000000000000" pitchFamily="2" charset="0"/>
                </a:rPr>
                <a:t> 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760135AF-AB8C-4A7A-B3FA-DBE2F74535E0}"/>
                </a:ext>
              </a:extLst>
            </p:cNvPr>
            <p:cNvSpPr txBox="1"/>
            <p:nvPr/>
          </p:nvSpPr>
          <p:spPr>
            <a:xfrm>
              <a:off x="6680267" y="1644499"/>
              <a:ext cx="415963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0" dirty="0"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Domain geometry and grid display</a:t>
              </a:r>
              <a:r>
                <a:rPr lang="en-US" sz="2400" b="1" dirty="0"/>
                <a:t> </a:t>
              </a:r>
              <a:br>
                <a:rPr lang="en-US" sz="2400" b="1" dirty="0"/>
              </a:br>
              <a:endParaRPr lang="en-US" sz="2400" b="1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117" name="Oval 116">
            <a:extLst>
              <a:ext uri="{FF2B5EF4-FFF2-40B4-BE49-F238E27FC236}">
                <a16:creationId xmlns:a16="http://schemas.microsoft.com/office/drawing/2014/main" id="{B78728E8-4E2C-4F2C-A5FF-1F738F674ED5}"/>
              </a:ext>
            </a:extLst>
          </p:cNvPr>
          <p:cNvSpPr/>
          <p:nvPr/>
        </p:nvSpPr>
        <p:spPr>
          <a:xfrm>
            <a:off x="1006837" y="3487247"/>
            <a:ext cx="85726" cy="8572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99D80301-A86B-44E3-8C91-BC2F9945C8BD}"/>
              </a:ext>
            </a:extLst>
          </p:cNvPr>
          <p:cNvSpPr/>
          <p:nvPr/>
        </p:nvSpPr>
        <p:spPr>
          <a:xfrm>
            <a:off x="920160" y="3400570"/>
            <a:ext cx="259080" cy="259080"/>
          </a:xfrm>
          <a:prstGeom prst="ellipse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C200B673-9142-4B13-8DAD-F8BEEA621A56}"/>
              </a:ext>
            </a:extLst>
          </p:cNvPr>
          <p:cNvGrpSpPr/>
          <p:nvPr/>
        </p:nvGrpSpPr>
        <p:grpSpPr>
          <a:xfrm>
            <a:off x="1282220" y="3390458"/>
            <a:ext cx="4304959" cy="839195"/>
            <a:chOff x="6681901" y="1306384"/>
            <a:chExt cx="4304959" cy="839195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449A20D3-D1E3-48B2-AEB2-FE1E7D57A505}"/>
                </a:ext>
              </a:extLst>
            </p:cNvPr>
            <p:cNvSpPr txBox="1"/>
            <p:nvPr/>
          </p:nvSpPr>
          <p:spPr>
            <a:xfrm>
              <a:off x="6709512" y="1306384"/>
              <a:ext cx="42773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0" dirty="0"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Vector and contour plots  </a:t>
              </a:r>
              <a:br>
                <a:rPr lang="en-US" sz="2400" b="1" dirty="0"/>
              </a:br>
              <a:endParaRPr lang="en-US" sz="2400" b="1" dirty="0">
                <a:solidFill>
                  <a:srgbClr val="92D050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CCDF64C5-151D-481A-8B31-0784219DA281}"/>
                </a:ext>
              </a:extLst>
            </p:cNvPr>
            <p:cNvSpPr txBox="1"/>
            <p:nvPr/>
          </p:nvSpPr>
          <p:spPr>
            <a:xfrm>
              <a:off x="6681901" y="1807025"/>
              <a:ext cx="41596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600" b="1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122" name="Oval 121">
            <a:extLst>
              <a:ext uri="{FF2B5EF4-FFF2-40B4-BE49-F238E27FC236}">
                <a16:creationId xmlns:a16="http://schemas.microsoft.com/office/drawing/2014/main" id="{A8808558-8D68-4E27-B823-FD4022468FA3}"/>
              </a:ext>
            </a:extLst>
          </p:cNvPr>
          <p:cNvSpPr/>
          <p:nvPr/>
        </p:nvSpPr>
        <p:spPr>
          <a:xfrm>
            <a:off x="1006837" y="4863171"/>
            <a:ext cx="85726" cy="8572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1837C953-D9D5-4AC0-9B9E-0CE4CA8014CD}"/>
              </a:ext>
            </a:extLst>
          </p:cNvPr>
          <p:cNvSpPr/>
          <p:nvPr/>
        </p:nvSpPr>
        <p:spPr>
          <a:xfrm>
            <a:off x="920160" y="4776494"/>
            <a:ext cx="259080" cy="259080"/>
          </a:xfrm>
          <a:prstGeom prst="ellipse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731F9B1-BC3B-4A35-A43C-A26AEF6BA42C}"/>
              </a:ext>
            </a:extLst>
          </p:cNvPr>
          <p:cNvGrpSpPr/>
          <p:nvPr/>
        </p:nvGrpSpPr>
        <p:grpSpPr>
          <a:xfrm>
            <a:off x="1296952" y="4618399"/>
            <a:ext cx="4172886" cy="959400"/>
            <a:chOff x="6681901" y="1442950"/>
            <a:chExt cx="4172886" cy="959400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675FC07F-ED9B-43C1-9713-FBD221391B89}"/>
                </a:ext>
              </a:extLst>
            </p:cNvPr>
            <p:cNvSpPr txBox="1"/>
            <p:nvPr/>
          </p:nvSpPr>
          <p:spPr>
            <a:xfrm>
              <a:off x="6681901" y="1442950"/>
              <a:ext cx="2542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Montserrat" panose="00000500000000000000" pitchFamily="2" charset="0"/>
                </a:rPr>
                <a:t> 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3FAEB4D-0416-4422-BB15-11931CBF514D}"/>
                </a:ext>
              </a:extLst>
            </p:cNvPr>
            <p:cNvSpPr txBox="1"/>
            <p:nvPr/>
          </p:nvSpPr>
          <p:spPr>
            <a:xfrm>
              <a:off x="6695150" y="1571353"/>
              <a:ext cx="415963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Montserrat" panose="00000500000000000000" pitchFamily="2" charset="0"/>
                </a:rPr>
                <a:t>Graphs of variable quantity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45B3E930-5B54-4098-8DDE-4CA1633F61CE}"/>
              </a:ext>
            </a:extLst>
          </p:cNvPr>
          <p:cNvSpPr/>
          <p:nvPr/>
        </p:nvSpPr>
        <p:spPr>
          <a:xfrm>
            <a:off x="8477045" y="5835290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B2068FB-D538-423F-8081-D3F5E2537891}"/>
              </a:ext>
            </a:extLst>
          </p:cNvPr>
          <p:cNvSpPr/>
          <p:nvPr/>
        </p:nvSpPr>
        <p:spPr>
          <a:xfrm rot="5400000">
            <a:off x="6686913" y="666108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EAA200B-56CF-43D6-B662-0A8082F098C0}"/>
              </a:ext>
            </a:extLst>
          </p:cNvPr>
          <p:cNvSpPr/>
          <p:nvPr/>
        </p:nvSpPr>
        <p:spPr>
          <a:xfrm rot="10800000">
            <a:off x="6095998" y="251266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349701-D5FE-42FF-9E96-5385942D4CA8}"/>
              </a:ext>
            </a:extLst>
          </p:cNvPr>
          <p:cNvSpPr/>
          <p:nvPr/>
        </p:nvSpPr>
        <p:spPr>
          <a:xfrm>
            <a:off x="10815991" y="6350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CBDD39B-5DEC-4E93-BAC2-E2F0B7C40476}"/>
              </a:ext>
            </a:extLst>
          </p:cNvPr>
          <p:cNvSpPr/>
          <p:nvPr/>
        </p:nvSpPr>
        <p:spPr>
          <a:xfrm>
            <a:off x="10553431" y="6219262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87F1216-3F27-4917-A837-AD367EC70350}"/>
              </a:ext>
            </a:extLst>
          </p:cNvPr>
          <p:cNvSpPr/>
          <p:nvPr/>
        </p:nvSpPr>
        <p:spPr>
          <a:xfrm>
            <a:off x="12056308" y="17410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EB28C1-AB4C-4EC0-8920-BB6DE8083190}"/>
              </a:ext>
            </a:extLst>
          </p:cNvPr>
          <p:cNvSpPr/>
          <p:nvPr/>
        </p:nvSpPr>
        <p:spPr>
          <a:xfrm>
            <a:off x="12056308" y="559738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>
              <a:latin typeface="Montserrat" panose="00000500000000000000" pitchFamily="2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70032B8-53EE-460B-85FC-B73F4440997C}"/>
              </a:ext>
            </a:extLst>
          </p:cNvPr>
          <p:cNvCxnSpPr>
            <a:cxnSpLocks/>
          </p:cNvCxnSpPr>
          <p:nvPr/>
        </p:nvCxnSpPr>
        <p:spPr>
          <a:xfrm>
            <a:off x="7272119" y="3656158"/>
            <a:ext cx="0" cy="1126686"/>
          </a:xfrm>
          <a:prstGeom prst="line">
            <a:avLst/>
          </a:prstGeom>
          <a:ln w="28575">
            <a:solidFill>
              <a:srgbClr val="9188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9EE65680-0676-4143-A7B0-2D4EAB86F045}"/>
              </a:ext>
            </a:extLst>
          </p:cNvPr>
          <p:cNvSpPr/>
          <p:nvPr/>
        </p:nvSpPr>
        <p:spPr>
          <a:xfrm>
            <a:off x="7229256" y="2107831"/>
            <a:ext cx="85726" cy="85726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9188E5"/>
              </a:solidFill>
              <a:latin typeface="Montserrat" panose="00000500000000000000" pitchFamily="2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73873ED-590E-4DA5-B6E1-EADA9EFB5458}"/>
              </a:ext>
            </a:extLst>
          </p:cNvPr>
          <p:cNvSpPr/>
          <p:nvPr/>
        </p:nvSpPr>
        <p:spPr>
          <a:xfrm>
            <a:off x="7142579" y="2021154"/>
            <a:ext cx="259080" cy="259080"/>
          </a:xfrm>
          <a:prstGeom prst="ellipse">
            <a:avLst/>
          </a:prstGeom>
          <a:noFill/>
          <a:ln w="28575">
            <a:solidFill>
              <a:srgbClr val="9188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9188E5"/>
              </a:solidFill>
              <a:latin typeface="Montserrat" panose="00000500000000000000" pitchFamily="2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C73A631-6CD5-4D4D-98A4-737ED11539F6}"/>
              </a:ext>
            </a:extLst>
          </p:cNvPr>
          <p:cNvCxnSpPr>
            <a:cxnSpLocks/>
          </p:cNvCxnSpPr>
          <p:nvPr/>
        </p:nvCxnSpPr>
        <p:spPr>
          <a:xfrm>
            <a:off x="7272119" y="2280234"/>
            <a:ext cx="0" cy="1126686"/>
          </a:xfrm>
          <a:prstGeom prst="line">
            <a:avLst/>
          </a:prstGeom>
          <a:ln w="28575">
            <a:solidFill>
              <a:srgbClr val="9188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281584A-BE79-4EC0-BA31-AD1D89869FB6}"/>
              </a:ext>
            </a:extLst>
          </p:cNvPr>
          <p:cNvGrpSpPr/>
          <p:nvPr/>
        </p:nvGrpSpPr>
        <p:grpSpPr>
          <a:xfrm>
            <a:off x="7519371" y="1695699"/>
            <a:ext cx="4159637" cy="1533626"/>
            <a:chOff x="6681901" y="1442950"/>
            <a:chExt cx="4159637" cy="1533626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A2FAAB5-E833-4CC6-8830-6BEF70570816}"/>
                </a:ext>
              </a:extLst>
            </p:cNvPr>
            <p:cNvSpPr txBox="1"/>
            <p:nvPr/>
          </p:nvSpPr>
          <p:spPr>
            <a:xfrm>
              <a:off x="6681901" y="1442950"/>
              <a:ext cx="33070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9188E5"/>
                  </a:solidFill>
                  <a:latin typeface="Montserrat" panose="00000500000000000000" pitchFamily="2" charset="0"/>
                </a:rPr>
                <a:t> 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2630F91-8409-403B-98B7-7A91D7792F79}"/>
                </a:ext>
              </a:extLst>
            </p:cNvPr>
            <p:cNvSpPr txBox="1"/>
            <p:nvPr/>
          </p:nvSpPr>
          <p:spPr>
            <a:xfrm>
              <a:off x="6681901" y="1807025"/>
              <a:ext cx="4159637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0" i="0" dirty="0">
                  <a:effectLst/>
                  <a:latin typeface="Arial" panose="020B0604020202020204" pitchFamily="34" charset="0"/>
                </a:rPr>
                <a:t>Visualization of the variation of scalar variables</a:t>
              </a:r>
              <a:r>
                <a:rPr lang="en-US" sz="2400" dirty="0"/>
                <a:t> </a:t>
              </a:r>
              <a:br>
                <a:rPr lang="en-US" sz="2400" dirty="0"/>
              </a:br>
              <a:endParaRPr lang="en-US" sz="2200" b="1" dirty="0">
                <a:latin typeface="Montserrat" panose="00000500000000000000" pitchFamily="2" charset="0"/>
              </a:endParaRPr>
            </a:p>
          </p:txBody>
        </p:sp>
      </p:grpSp>
      <p:sp>
        <p:nvSpPr>
          <p:cNvPr id="65" name="Oval 64">
            <a:extLst>
              <a:ext uri="{FF2B5EF4-FFF2-40B4-BE49-F238E27FC236}">
                <a16:creationId xmlns:a16="http://schemas.microsoft.com/office/drawing/2014/main" id="{7D0BE69C-AF71-4CA9-A7FC-0D145B9B2F20}"/>
              </a:ext>
            </a:extLst>
          </p:cNvPr>
          <p:cNvSpPr/>
          <p:nvPr/>
        </p:nvSpPr>
        <p:spPr>
          <a:xfrm>
            <a:off x="7229256" y="3487247"/>
            <a:ext cx="85726" cy="85726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9188E5"/>
              </a:solidFill>
              <a:latin typeface="Montserrat" panose="00000500000000000000" pitchFamily="2" charset="0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34BAEAE-2A34-401F-B4F8-174F79D6B1AC}"/>
              </a:ext>
            </a:extLst>
          </p:cNvPr>
          <p:cNvSpPr/>
          <p:nvPr/>
        </p:nvSpPr>
        <p:spPr>
          <a:xfrm>
            <a:off x="7142579" y="3400570"/>
            <a:ext cx="259080" cy="259080"/>
          </a:xfrm>
          <a:prstGeom prst="ellipse">
            <a:avLst/>
          </a:prstGeom>
          <a:noFill/>
          <a:ln w="28575">
            <a:solidFill>
              <a:srgbClr val="9188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9188E5"/>
              </a:solidFill>
              <a:latin typeface="Montserrat" panose="00000500000000000000" pitchFamily="2" charset="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30B1F8B-CDAA-4278-8B32-22F216DBF922}"/>
              </a:ext>
            </a:extLst>
          </p:cNvPr>
          <p:cNvGrpSpPr/>
          <p:nvPr/>
        </p:nvGrpSpPr>
        <p:grpSpPr>
          <a:xfrm>
            <a:off x="7512723" y="3265571"/>
            <a:ext cx="4783908" cy="872822"/>
            <a:chOff x="6675253" y="1442950"/>
            <a:chExt cx="4159637" cy="872822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40E98A9-6D00-4AF0-9C84-27651352CAD7}"/>
                </a:ext>
              </a:extLst>
            </p:cNvPr>
            <p:cNvSpPr txBox="1"/>
            <p:nvPr/>
          </p:nvSpPr>
          <p:spPr>
            <a:xfrm>
              <a:off x="6681901" y="1442950"/>
              <a:ext cx="2542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9188E5"/>
                  </a:solidFill>
                  <a:latin typeface="Montserrat" panose="00000500000000000000" pitchFamily="2" charset="0"/>
                </a:rPr>
                <a:t> 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CAE11FC-E45D-4171-B126-42E058CBA3F1}"/>
                </a:ext>
              </a:extLst>
            </p:cNvPr>
            <p:cNvSpPr txBox="1"/>
            <p:nvPr/>
          </p:nvSpPr>
          <p:spPr>
            <a:xfrm>
              <a:off x="6675253" y="1546331"/>
              <a:ext cx="415963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" panose="00000500000000000000" pitchFamily="2" charset="0"/>
                </a:rPr>
                <a:t> extract quantities of interest (e.g. lift, drag,  pressure loss</a:t>
              </a:r>
            </a:p>
          </p:txBody>
        </p:sp>
      </p:grpSp>
      <p:sp>
        <p:nvSpPr>
          <p:cNvPr id="70" name="Oval 69">
            <a:extLst>
              <a:ext uri="{FF2B5EF4-FFF2-40B4-BE49-F238E27FC236}">
                <a16:creationId xmlns:a16="http://schemas.microsoft.com/office/drawing/2014/main" id="{9E144A1C-9ABC-4646-894E-A57E1D8722AF}"/>
              </a:ext>
            </a:extLst>
          </p:cNvPr>
          <p:cNvSpPr/>
          <p:nvPr/>
        </p:nvSpPr>
        <p:spPr>
          <a:xfrm>
            <a:off x="7229256" y="4863171"/>
            <a:ext cx="85726" cy="85726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9188E5"/>
              </a:solidFill>
              <a:latin typeface="Montserrat" panose="00000500000000000000" pitchFamily="2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131F1EB-021F-4CEF-8516-446E8142C991}"/>
              </a:ext>
            </a:extLst>
          </p:cNvPr>
          <p:cNvSpPr/>
          <p:nvPr/>
        </p:nvSpPr>
        <p:spPr>
          <a:xfrm>
            <a:off x="7142579" y="4776494"/>
            <a:ext cx="259080" cy="259080"/>
          </a:xfrm>
          <a:prstGeom prst="ellipse">
            <a:avLst/>
          </a:prstGeom>
          <a:noFill/>
          <a:ln w="28575">
            <a:solidFill>
              <a:srgbClr val="9188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9188E5"/>
              </a:solidFill>
              <a:latin typeface="Montserrat" panose="00000500000000000000" pitchFamily="2" charset="0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1718DCE-59AE-46B7-8656-CE8048F71718}"/>
              </a:ext>
            </a:extLst>
          </p:cNvPr>
          <p:cNvGrpSpPr/>
          <p:nvPr/>
        </p:nvGrpSpPr>
        <p:grpSpPr>
          <a:xfrm>
            <a:off x="7536199" y="4675115"/>
            <a:ext cx="4159637" cy="487186"/>
            <a:chOff x="6681901" y="1442950"/>
            <a:chExt cx="4159637" cy="487186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2F3F8E3-D001-4D51-AD47-6E373CC727EF}"/>
                </a:ext>
              </a:extLst>
            </p:cNvPr>
            <p:cNvSpPr txBox="1"/>
            <p:nvPr/>
          </p:nvSpPr>
          <p:spPr>
            <a:xfrm>
              <a:off x="6681901" y="1442950"/>
              <a:ext cx="2542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9188E5"/>
                  </a:solidFill>
                  <a:latin typeface="Montserrat" panose="00000500000000000000" pitchFamily="2" charset="0"/>
                </a:rPr>
                <a:t> 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83FBFFD-FCBB-4905-9615-F1F398C6CB6E}"/>
                </a:ext>
              </a:extLst>
            </p:cNvPr>
            <p:cNvSpPr txBox="1"/>
            <p:nvPr/>
          </p:nvSpPr>
          <p:spPr>
            <a:xfrm>
              <a:off x="6681901" y="1499249"/>
              <a:ext cx="415963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" panose="00000500000000000000" pitchFamily="2" charset="0"/>
                </a:rPr>
                <a:t>Creating Animation 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14FC6241-2CC1-4DE4-88BA-DDD1FDA7B8C2}"/>
              </a:ext>
            </a:extLst>
          </p:cNvPr>
          <p:cNvSpPr txBox="1"/>
          <p:nvPr/>
        </p:nvSpPr>
        <p:spPr>
          <a:xfrm>
            <a:off x="4341482" y="131625"/>
            <a:ext cx="4135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Montserrat ExtraBold" panose="00000900000000000000" pitchFamily="2" charset="0"/>
              </a:rPr>
              <a:t>Post processing</a:t>
            </a:r>
          </a:p>
        </p:txBody>
      </p:sp>
      <p:sp>
        <p:nvSpPr>
          <p:cNvPr id="28" name="Rectangle 7">
            <a:extLst>
              <a:ext uri="{FF2B5EF4-FFF2-40B4-BE49-F238E27FC236}">
                <a16:creationId xmlns:a16="http://schemas.microsoft.com/office/drawing/2014/main" id="{AED00442-5454-43D1-8FBA-A41E92E21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151" y="333283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453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 animBg="1"/>
      <p:bldP spid="112" grpId="0" animBg="1"/>
      <p:bldP spid="117" grpId="0" animBg="1"/>
      <p:bldP spid="118" grpId="0" animBg="1"/>
      <p:bldP spid="122" grpId="0" animBg="1"/>
      <p:bldP spid="123" grpId="0" animBg="1"/>
      <p:bldP spid="59" grpId="0" animBg="1"/>
      <p:bldP spid="60" grpId="0" animBg="1"/>
      <p:bldP spid="65" grpId="0" animBg="1"/>
      <p:bldP spid="66" grpId="0" animBg="1"/>
      <p:bldP spid="70" grpId="0" animBg="1"/>
      <p:bldP spid="71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3434</TotalTime>
  <Words>452</Words>
  <Application>Microsoft Office PowerPoint</Application>
  <PresentationFormat>Widescreen</PresentationFormat>
  <Paragraphs>95</Paragraphs>
  <Slides>12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31" baseType="lpstr">
      <vt:lpstr>Arial</vt:lpstr>
      <vt:lpstr>Calibri</vt:lpstr>
      <vt:lpstr>Cambria Math</vt:lpstr>
      <vt:lpstr>Century Gothic</vt:lpstr>
      <vt:lpstr>Eurostile BQ</vt:lpstr>
      <vt:lpstr>Montserrat</vt:lpstr>
      <vt:lpstr>Montserrat ExtraBold</vt:lpstr>
      <vt:lpstr>Open Sans</vt:lpstr>
      <vt:lpstr>Open Sans Condensed</vt:lpstr>
      <vt:lpstr>Open Sans Condensed Light</vt:lpstr>
      <vt:lpstr>Open Sans Semibold</vt:lpstr>
      <vt:lpstr>THSarabunNew</vt:lpstr>
      <vt:lpstr>Times</vt:lpstr>
      <vt:lpstr>Times New Roman</vt:lpstr>
      <vt:lpstr>Tinos</vt:lpstr>
      <vt:lpstr>Tw Cen MT</vt:lpstr>
      <vt:lpstr>Wingdings 3</vt:lpstr>
      <vt:lpstr>Ion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CFD affect Designing</vt:lpstr>
      <vt:lpstr>PowerPoint Presentation</vt:lpstr>
      <vt:lpstr>PowerPoint Presentation</vt:lpstr>
      <vt:lpstr>Solving</vt:lpstr>
      <vt:lpstr>Solving</vt:lpstr>
      <vt:lpstr>Solving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Pankaj Sharma</dc:creator>
  <cp:lastModifiedBy>faisal</cp:lastModifiedBy>
  <cp:revision>109</cp:revision>
  <dcterms:created xsi:type="dcterms:W3CDTF">2017-06-20T17:01:42Z</dcterms:created>
  <dcterms:modified xsi:type="dcterms:W3CDTF">2022-10-12T10:17:01Z</dcterms:modified>
</cp:coreProperties>
</file>