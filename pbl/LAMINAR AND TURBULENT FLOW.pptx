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1" r:id="rId1"/>
  </p:sldMasterIdLst>
  <p:sldIdLst>
    <p:sldId id="256" r:id="rId2"/>
    <p:sldId id="257" r:id="rId3"/>
  </p:sldIdLst>
  <p:sldSz cx="28443238" cy="42800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0">
          <p15:clr>
            <a:srgbClr val="A4A3A4"/>
          </p15:clr>
        </p15:guide>
        <p15:guide id="2" pos="895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a:srgbClr val="FFFFCC"/>
    <a:srgbClr val="FFFF00"/>
    <a:srgbClr val="FF3399"/>
    <a:srgbClr val="FF00FF"/>
    <a:srgbClr val="F8E9BE"/>
    <a:srgbClr val="ECE6CA"/>
    <a:srgbClr val="EBDBCB"/>
    <a:srgbClr val="D4D4E2"/>
    <a:srgbClr val="E7CF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32" d="100"/>
          <a:sy n="32" d="100"/>
        </p:scale>
        <p:origin x="582" y="-5958"/>
      </p:cViewPr>
      <p:guideLst>
        <p:guide orient="horz" pos="13480"/>
        <p:guide pos="895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7411" y="39947215"/>
            <a:ext cx="28435832"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39" y="39532291"/>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559892" y="4736598"/>
            <a:ext cx="23465671" cy="22256306"/>
          </a:xfrm>
        </p:spPr>
        <p:txBody>
          <a:bodyPr anchor="b">
            <a:normAutofit/>
          </a:bodyPr>
          <a:lstStyle>
            <a:lvl1pPr algn="l">
              <a:lnSpc>
                <a:spcPct val="85000"/>
              </a:lnSpc>
              <a:defRPr sz="24885" spc="-156"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2566355" y="27807407"/>
            <a:ext cx="23465671" cy="7133431"/>
          </a:xfrm>
        </p:spPr>
        <p:txBody>
          <a:bodyPr lIns="91440" rIns="91440">
            <a:normAutofit/>
          </a:bodyPr>
          <a:lstStyle>
            <a:lvl1pPr marL="0" indent="0" algn="l">
              <a:buNone/>
              <a:defRPr sz="7465" cap="all" spc="622" baseline="0">
                <a:solidFill>
                  <a:schemeClr val="tx2"/>
                </a:solidFill>
                <a:latin typeface="+mj-lt"/>
              </a:defRPr>
            </a:lvl1pPr>
            <a:lvl2pPr marL="1422166" indent="0" algn="ctr">
              <a:buNone/>
              <a:defRPr sz="7465"/>
            </a:lvl2pPr>
            <a:lvl3pPr marL="2844333" indent="0" algn="ctr">
              <a:buNone/>
              <a:defRPr sz="7465"/>
            </a:lvl3pPr>
            <a:lvl4pPr marL="4266499" indent="0" algn="ctr">
              <a:buNone/>
              <a:defRPr sz="6221"/>
            </a:lvl4pPr>
            <a:lvl5pPr marL="5688665" indent="0" algn="ctr">
              <a:buNone/>
              <a:defRPr sz="6221"/>
            </a:lvl5pPr>
            <a:lvl6pPr marL="7110832" indent="0" algn="ctr">
              <a:buNone/>
              <a:defRPr sz="6221"/>
            </a:lvl6pPr>
            <a:lvl7pPr marL="8532998" indent="0" algn="ctr">
              <a:buNone/>
              <a:defRPr sz="6221"/>
            </a:lvl7pPr>
            <a:lvl8pPr marL="9955164" indent="0" algn="ctr">
              <a:buNone/>
              <a:defRPr sz="6221"/>
            </a:lvl8pPr>
            <a:lvl9pPr marL="11377331" indent="0" algn="ctr">
              <a:buNone/>
              <a:defRPr sz="622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972FCD-9765-44CC-9752-E7B11B5CC4F6}" type="datetimeFigureOut">
              <a:rPr lang="en-IN" smtClean="0"/>
              <a:t>28-06-2022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t>‹#›</a:t>
            </a:fld>
            <a:endParaRPr lang="en-IN"/>
          </a:p>
        </p:txBody>
      </p:sp>
      <p:cxnSp>
        <p:nvCxnSpPr>
          <p:cNvPr id="9" name="Straight Connector 8"/>
          <p:cNvCxnSpPr/>
          <p:nvPr/>
        </p:nvCxnSpPr>
        <p:spPr>
          <a:xfrm>
            <a:off x="2817398" y="27107039"/>
            <a:ext cx="2303902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605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972FCD-9765-44CC-9752-E7B11B5CC4F6}" type="datetimeFigureOut">
              <a:rPr lang="en-IN" smtClean="0"/>
              <a:t>28-06-2022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341253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7411" y="39947215"/>
            <a:ext cx="28435832"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39" y="39532291"/>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559892" y="4736598"/>
            <a:ext cx="23465671" cy="22256306"/>
          </a:xfrm>
        </p:spPr>
        <p:txBody>
          <a:bodyPr anchor="b" anchorCtr="0">
            <a:normAutofit/>
          </a:bodyPr>
          <a:lstStyle>
            <a:lvl1pPr>
              <a:lnSpc>
                <a:spcPct val="85000"/>
              </a:lnSpc>
              <a:defRPr sz="24885"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559892" y="27791849"/>
            <a:ext cx="23465671" cy="7133431"/>
          </a:xfrm>
        </p:spPr>
        <p:txBody>
          <a:bodyPr lIns="91440" rIns="91440" anchor="t" anchorCtr="0">
            <a:normAutofit/>
          </a:bodyPr>
          <a:lstStyle>
            <a:lvl1pPr marL="0" indent="0">
              <a:buNone/>
              <a:defRPr sz="7465" cap="all" spc="622" baseline="0">
                <a:solidFill>
                  <a:schemeClr val="tx2"/>
                </a:solidFill>
                <a:latin typeface="+mj-lt"/>
              </a:defRPr>
            </a:lvl1pPr>
            <a:lvl2pPr marL="1422166" indent="0">
              <a:buNone/>
              <a:defRPr sz="5599">
                <a:solidFill>
                  <a:schemeClr val="tx1">
                    <a:tint val="75000"/>
                  </a:schemeClr>
                </a:solidFill>
              </a:defRPr>
            </a:lvl2pPr>
            <a:lvl3pPr marL="2844333" indent="0">
              <a:buNone/>
              <a:defRPr sz="4977">
                <a:solidFill>
                  <a:schemeClr val="tx1">
                    <a:tint val="75000"/>
                  </a:schemeClr>
                </a:solidFill>
              </a:defRPr>
            </a:lvl3pPr>
            <a:lvl4pPr marL="4266499" indent="0">
              <a:buNone/>
              <a:defRPr sz="4355">
                <a:solidFill>
                  <a:schemeClr val="tx1">
                    <a:tint val="75000"/>
                  </a:schemeClr>
                </a:solidFill>
              </a:defRPr>
            </a:lvl4pPr>
            <a:lvl5pPr marL="5688665" indent="0">
              <a:buNone/>
              <a:defRPr sz="4355">
                <a:solidFill>
                  <a:schemeClr val="tx1">
                    <a:tint val="75000"/>
                  </a:schemeClr>
                </a:solidFill>
              </a:defRPr>
            </a:lvl5pPr>
            <a:lvl6pPr marL="7110832" indent="0">
              <a:buNone/>
              <a:defRPr sz="4355">
                <a:solidFill>
                  <a:schemeClr val="tx1">
                    <a:tint val="75000"/>
                  </a:schemeClr>
                </a:solidFill>
              </a:defRPr>
            </a:lvl6pPr>
            <a:lvl7pPr marL="8532998" indent="0">
              <a:buNone/>
              <a:defRPr sz="4355">
                <a:solidFill>
                  <a:schemeClr val="tx1">
                    <a:tint val="75000"/>
                  </a:schemeClr>
                </a:solidFill>
              </a:defRPr>
            </a:lvl7pPr>
            <a:lvl8pPr marL="9955164" indent="0">
              <a:buNone/>
              <a:defRPr sz="4355">
                <a:solidFill>
                  <a:schemeClr val="tx1">
                    <a:tint val="75000"/>
                  </a:schemeClr>
                </a:solidFill>
              </a:defRPr>
            </a:lvl8pPr>
            <a:lvl9pPr marL="11377331" indent="0">
              <a:buNone/>
              <a:defRPr sz="4355">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C972FCD-9765-44CC-9752-E7B11B5CC4F6}" type="datetimeFigureOut">
              <a:rPr lang="en-IN" smtClean="0"/>
              <a:t>28-06-2022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t>‹#›</a:t>
            </a:fld>
            <a:endParaRPr lang="en-IN"/>
          </a:p>
        </p:txBody>
      </p:sp>
      <p:cxnSp>
        <p:nvCxnSpPr>
          <p:cNvPr id="9" name="Straight Connector 8"/>
          <p:cNvCxnSpPr/>
          <p:nvPr/>
        </p:nvCxnSpPr>
        <p:spPr>
          <a:xfrm>
            <a:off x="2817398" y="27107039"/>
            <a:ext cx="2303902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3559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2559892" y="1788691"/>
            <a:ext cx="23465671" cy="9054134"/>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559892" y="11519175"/>
            <a:ext cx="11519511" cy="2510967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4506052" y="11519181"/>
            <a:ext cx="11519511" cy="2510967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972FCD-9765-44CC-9752-E7B11B5CC4F6}" type="datetimeFigureOut">
              <a:rPr lang="en-IN" smtClean="0"/>
              <a:t>28-06-2022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2854321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2559892" y="1788691"/>
            <a:ext cx="23465671" cy="9054134"/>
          </a:xfrm>
        </p:spPr>
        <p:txBody>
          <a:bodyPr/>
          <a:lstStyle/>
          <a:p>
            <a:r>
              <a:rPr lang="en-US"/>
              <a:t>Click to edit Master title style</a:t>
            </a:r>
            <a:endParaRPr lang="en-US" dirty="0"/>
          </a:p>
        </p:txBody>
      </p:sp>
      <p:sp>
        <p:nvSpPr>
          <p:cNvPr id="3" name="Text Placeholder 2"/>
          <p:cNvSpPr>
            <a:spLocks noGrp="1"/>
          </p:cNvSpPr>
          <p:nvPr>
            <p:ph type="body" idx="1"/>
          </p:nvPr>
        </p:nvSpPr>
        <p:spPr>
          <a:xfrm>
            <a:off x="2559892" y="11521159"/>
            <a:ext cx="11519511" cy="4595116"/>
          </a:xfrm>
        </p:spPr>
        <p:txBody>
          <a:bodyPr lIns="91440" rIns="91440" anchor="ctr">
            <a:normAutofit/>
          </a:bodyPr>
          <a:lstStyle>
            <a:lvl1pPr marL="0" indent="0">
              <a:buNone/>
              <a:defRPr sz="6221" b="0" cap="all" baseline="0">
                <a:solidFill>
                  <a:schemeClr val="tx2"/>
                </a:solidFill>
              </a:defRPr>
            </a:lvl1pPr>
            <a:lvl2pPr marL="1422166" indent="0">
              <a:buNone/>
              <a:defRPr sz="6221" b="1"/>
            </a:lvl2pPr>
            <a:lvl3pPr marL="2844333" indent="0">
              <a:buNone/>
              <a:defRPr sz="5599" b="1"/>
            </a:lvl3pPr>
            <a:lvl4pPr marL="4266499" indent="0">
              <a:buNone/>
              <a:defRPr sz="4977" b="1"/>
            </a:lvl4pPr>
            <a:lvl5pPr marL="5688665" indent="0">
              <a:buNone/>
              <a:defRPr sz="4977" b="1"/>
            </a:lvl5pPr>
            <a:lvl6pPr marL="7110832" indent="0">
              <a:buNone/>
              <a:defRPr sz="4977" b="1"/>
            </a:lvl6pPr>
            <a:lvl7pPr marL="8532998" indent="0">
              <a:buNone/>
              <a:defRPr sz="4977" b="1"/>
            </a:lvl7pPr>
            <a:lvl8pPr marL="9955164" indent="0">
              <a:buNone/>
              <a:defRPr sz="4977" b="1"/>
            </a:lvl8pPr>
            <a:lvl9pPr marL="11377331" indent="0">
              <a:buNone/>
              <a:defRPr sz="4977" b="1"/>
            </a:lvl9pPr>
          </a:lstStyle>
          <a:p>
            <a:pPr lvl="0"/>
            <a:r>
              <a:rPr lang="en-US"/>
              <a:t>Edit Master text styles</a:t>
            </a:r>
          </a:p>
        </p:txBody>
      </p:sp>
      <p:sp>
        <p:nvSpPr>
          <p:cNvPr id="4" name="Content Placeholder 3"/>
          <p:cNvSpPr>
            <a:spLocks noGrp="1"/>
          </p:cNvSpPr>
          <p:nvPr>
            <p:ph sz="half" idx="2"/>
          </p:nvPr>
        </p:nvSpPr>
        <p:spPr>
          <a:xfrm>
            <a:off x="2559892" y="16116275"/>
            <a:ext cx="11519511" cy="210832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4506052" y="11521159"/>
            <a:ext cx="11519511" cy="4595116"/>
          </a:xfrm>
        </p:spPr>
        <p:txBody>
          <a:bodyPr lIns="91440" rIns="91440" anchor="ctr">
            <a:normAutofit/>
          </a:bodyPr>
          <a:lstStyle>
            <a:lvl1pPr marL="0" indent="0">
              <a:buNone/>
              <a:defRPr sz="6221" b="0" cap="all" baseline="0">
                <a:solidFill>
                  <a:schemeClr val="tx2"/>
                </a:solidFill>
              </a:defRPr>
            </a:lvl1pPr>
            <a:lvl2pPr marL="1422166" indent="0">
              <a:buNone/>
              <a:defRPr sz="6221" b="1"/>
            </a:lvl2pPr>
            <a:lvl3pPr marL="2844333" indent="0">
              <a:buNone/>
              <a:defRPr sz="5599" b="1"/>
            </a:lvl3pPr>
            <a:lvl4pPr marL="4266499" indent="0">
              <a:buNone/>
              <a:defRPr sz="4977" b="1"/>
            </a:lvl4pPr>
            <a:lvl5pPr marL="5688665" indent="0">
              <a:buNone/>
              <a:defRPr sz="4977" b="1"/>
            </a:lvl5pPr>
            <a:lvl6pPr marL="7110832" indent="0">
              <a:buNone/>
              <a:defRPr sz="4977" b="1"/>
            </a:lvl6pPr>
            <a:lvl7pPr marL="8532998" indent="0">
              <a:buNone/>
              <a:defRPr sz="4977" b="1"/>
            </a:lvl7pPr>
            <a:lvl8pPr marL="9955164" indent="0">
              <a:buNone/>
              <a:defRPr sz="4977" b="1"/>
            </a:lvl8pPr>
            <a:lvl9pPr marL="11377331" indent="0">
              <a:buNone/>
              <a:defRPr sz="4977" b="1"/>
            </a:lvl9pPr>
          </a:lstStyle>
          <a:p>
            <a:pPr lvl="0"/>
            <a:r>
              <a:rPr lang="en-US"/>
              <a:t>Edit Master text styles</a:t>
            </a:r>
          </a:p>
        </p:txBody>
      </p:sp>
      <p:sp>
        <p:nvSpPr>
          <p:cNvPr id="6" name="Content Placeholder 5"/>
          <p:cNvSpPr>
            <a:spLocks noGrp="1"/>
          </p:cNvSpPr>
          <p:nvPr>
            <p:ph sz="quarter" idx="4"/>
          </p:nvPr>
        </p:nvSpPr>
        <p:spPr>
          <a:xfrm>
            <a:off x="14506052" y="16116275"/>
            <a:ext cx="11519511" cy="210832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972FCD-9765-44CC-9752-E7B11B5CC4F6}" type="datetimeFigureOut">
              <a:rPr lang="en-IN" smtClean="0"/>
              <a:t>28-06-2022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428862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972FCD-9765-44CC-9752-E7B11B5CC4F6}" type="datetimeFigureOut">
              <a:rPr lang="en-IN" smtClean="0"/>
              <a:t>28-06-2022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4155207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7411" y="39947215"/>
            <a:ext cx="28435832"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39" y="39532291"/>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C972FCD-9765-44CC-9752-E7B11B5CC4F6}" type="datetimeFigureOut">
              <a:rPr lang="en-IN" smtClean="0"/>
              <a:t>28-06-2022</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2696848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42" y="0"/>
            <a:ext cx="9450263" cy="428005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425254" y="0"/>
            <a:ext cx="149327" cy="428005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66621" y="3709378"/>
            <a:ext cx="7466350" cy="14266863"/>
          </a:xfrm>
        </p:spPr>
        <p:txBody>
          <a:bodyPr anchor="b">
            <a:normAutofit/>
          </a:bodyPr>
          <a:lstStyle>
            <a:lvl1pPr>
              <a:defRPr sz="11198"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11199525" y="4565396"/>
            <a:ext cx="15146024" cy="32813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66621" y="18261584"/>
            <a:ext cx="7466350" cy="21089019"/>
          </a:xfrm>
        </p:spPr>
        <p:txBody>
          <a:bodyPr lIns="91440" rIns="91440">
            <a:normAutofit/>
          </a:bodyPr>
          <a:lstStyle>
            <a:lvl1pPr marL="0" indent="0">
              <a:buNone/>
              <a:defRPr sz="4666">
                <a:solidFill>
                  <a:srgbClr val="FFFFFF"/>
                </a:solidFill>
              </a:defRPr>
            </a:lvl1pPr>
            <a:lvl2pPr marL="1422166" indent="0">
              <a:buNone/>
              <a:defRPr sz="3733"/>
            </a:lvl2pPr>
            <a:lvl3pPr marL="2844333" indent="0">
              <a:buNone/>
              <a:defRPr sz="3111"/>
            </a:lvl3pPr>
            <a:lvl4pPr marL="4266499" indent="0">
              <a:buNone/>
              <a:defRPr sz="2800"/>
            </a:lvl4pPr>
            <a:lvl5pPr marL="5688665" indent="0">
              <a:buNone/>
              <a:defRPr sz="2800"/>
            </a:lvl5pPr>
            <a:lvl6pPr marL="7110832" indent="0">
              <a:buNone/>
              <a:defRPr sz="2800"/>
            </a:lvl6pPr>
            <a:lvl7pPr marL="8532998" indent="0">
              <a:buNone/>
              <a:defRPr sz="2800"/>
            </a:lvl7pPr>
            <a:lvl8pPr marL="9955164" indent="0">
              <a:buNone/>
              <a:defRPr sz="2800"/>
            </a:lvl8pPr>
            <a:lvl9pPr marL="11377331" indent="0">
              <a:buNone/>
              <a:defRPr sz="2800"/>
            </a:lvl9pPr>
          </a:lstStyle>
          <a:p>
            <a:pPr lvl="0"/>
            <a:r>
              <a:rPr lang="en-US"/>
              <a:t>Edit Master text styles</a:t>
            </a:r>
          </a:p>
        </p:txBody>
      </p:sp>
      <p:sp>
        <p:nvSpPr>
          <p:cNvPr id="5" name="Date Placeholder 4"/>
          <p:cNvSpPr>
            <a:spLocks noGrp="1"/>
          </p:cNvSpPr>
          <p:nvPr>
            <p:ph type="dt" sz="half" idx="10"/>
          </p:nvPr>
        </p:nvSpPr>
        <p:spPr>
          <a:xfrm>
            <a:off x="1086015" y="40315349"/>
            <a:ext cx="6108835" cy="2278735"/>
          </a:xfrm>
        </p:spPr>
        <p:txBody>
          <a:bodyPr/>
          <a:lstStyle>
            <a:lvl1pPr algn="l">
              <a:defRPr/>
            </a:lvl1pPr>
          </a:lstStyle>
          <a:p>
            <a:fld id="{0C972FCD-9765-44CC-9752-E7B11B5CC4F6}" type="datetimeFigureOut">
              <a:rPr lang="en-IN" smtClean="0"/>
              <a:t>28-06-2022</a:t>
            </a:fld>
            <a:endParaRPr lang="en-IN"/>
          </a:p>
        </p:txBody>
      </p:sp>
      <p:sp>
        <p:nvSpPr>
          <p:cNvPr id="6" name="Footer Placeholder 5"/>
          <p:cNvSpPr>
            <a:spLocks noGrp="1"/>
          </p:cNvSpPr>
          <p:nvPr>
            <p:ph type="ftr" sz="quarter" idx="11"/>
          </p:nvPr>
        </p:nvSpPr>
        <p:spPr>
          <a:xfrm>
            <a:off x="11199525" y="40315349"/>
            <a:ext cx="10843984" cy="227873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CF6D0B2-FC02-4FCE-96D5-8F676BDAAEE6}" type="slidenum">
              <a:rPr lang="en-IN" smtClean="0"/>
              <a:t>‹#›</a:t>
            </a:fld>
            <a:endParaRPr lang="en-IN"/>
          </a:p>
        </p:txBody>
      </p:sp>
    </p:spTree>
    <p:extLst>
      <p:ext uri="{BB962C8B-B14F-4D97-AF65-F5344CB8AC3E}">
        <p14:creationId xmlns:p14="http://schemas.microsoft.com/office/powerpoint/2010/main" val="4119731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30911536"/>
            <a:ext cx="28435832" cy="118890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9" y="30674853"/>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559891" y="31672435"/>
            <a:ext cx="23594556" cy="5136071"/>
          </a:xfrm>
        </p:spPr>
        <p:txBody>
          <a:bodyPr tIns="0" bIns="0" anchor="b">
            <a:noAutofit/>
          </a:bodyPr>
          <a:lstStyle>
            <a:lvl1pPr>
              <a:defRPr sz="11198"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9" y="0"/>
            <a:ext cx="28443204" cy="30674853"/>
          </a:xfrm>
          <a:solidFill>
            <a:schemeClr val="bg2">
              <a:lumMod val="90000"/>
            </a:schemeClr>
          </a:solidFill>
        </p:spPr>
        <p:txBody>
          <a:bodyPr lIns="457200" tIns="457200" anchor="t"/>
          <a:lstStyle>
            <a:lvl1pPr marL="0" indent="0">
              <a:buNone/>
              <a:defRPr sz="9954"/>
            </a:lvl1pPr>
            <a:lvl2pPr marL="1422166" indent="0">
              <a:buNone/>
              <a:defRPr sz="8710"/>
            </a:lvl2pPr>
            <a:lvl3pPr marL="2844333" indent="0">
              <a:buNone/>
              <a:defRPr sz="7465"/>
            </a:lvl3pPr>
            <a:lvl4pPr marL="4266499" indent="0">
              <a:buNone/>
              <a:defRPr sz="6221"/>
            </a:lvl4pPr>
            <a:lvl5pPr marL="5688665" indent="0">
              <a:buNone/>
              <a:defRPr sz="6221"/>
            </a:lvl5pPr>
            <a:lvl6pPr marL="7110832" indent="0">
              <a:buNone/>
              <a:defRPr sz="6221"/>
            </a:lvl6pPr>
            <a:lvl7pPr marL="8532998" indent="0">
              <a:buNone/>
              <a:defRPr sz="6221"/>
            </a:lvl7pPr>
            <a:lvl8pPr marL="9955164" indent="0">
              <a:buNone/>
              <a:defRPr sz="6221"/>
            </a:lvl8pPr>
            <a:lvl9pPr marL="11377331" indent="0">
              <a:buNone/>
              <a:defRPr sz="6221"/>
            </a:lvl9pPr>
          </a:lstStyle>
          <a:p>
            <a:r>
              <a:rPr lang="en-US"/>
              <a:t>Click icon to add picture</a:t>
            </a:r>
            <a:endParaRPr lang="en-US" dirty="0"/>
          </a:p>
        </p:txBody>
      </p:sp>
      <p:sp>
        <p:nvSpPr>
          <p:cNvPr id="4" name="Text Placeholder 3"/>
          <p:cNvSpPr>
            <a:spLocks noGrp="1"/>
          </p:cNvSpPr>
          <p:nvPr>
            <p:ph type="body" sz="half" idx="2"/>
          </p:nvPr>
        </p:nvSpPr>
        <p:spPr>
          <a:xfrm>
            <a:off x="2559891" y="36865573"/>
            <a:ext cx="23607888" cy="3709384"/>
          </a:xfrm>
        </p:spPr>
        <p:txBody>
          <a:bodyPr lIns="91440" tIns="0" rIns="91440" bIns="0">
            <a:normAutofit/>
          </a:bodyPr>
          <a:lstStyle>
            <a:lvl1pPr marL="0" indent="0">
              <a:spcBef>
                <a:spcPts val="0"/>
              </a:spcBef>
              <a:spcAft>
                <a:spcPts val="1866"/>
              </a:spcAft>
              <a:buNone/>
              <a:defRPr sz="4666">
                <a:solidFill>
                  <a:srgbClr val="FFFFFF"/>
                </a:solidFill>
              </a:defRPr>
            </a:lvl1pPr>
            <a:lvl2pPr marL="1422166" indent="0">
              <a:buNone/>
              <a:defRPr sz="3733"/>
            </a:lvl2pPr>
            <a:lvl3pPr marL="2844333" indent="0">
              <a:buNone/>
              <a:defRPr sz="3111"/>
            </a:lvl3pPr>
            <a:lvl4pPr marL="4266499" indent="0">
              <a:buNone/>
              <a:defRPr sz="2800"/>
            </a:lvl4pPr>
            <a:lvl5pPr marL="5688665" indent="0">
              <a:buNone/>
              <a:defRPr sz="2800"/>
            </a:lvl5pPr>
            <a:lvl6pPr marL="7110832" indent="0">
              <a:buNone/>
              <a:defRPr sz="2800"/>
            </a:lvl6pPr>
            <a:lvl7pPr marL="8532998" indent="0">
              <a:buNone/>
              <a:defRPr sz="2800"/>
            </a:lvl7pPr>
            <a:lvl8pPr marL="9955164" indent="0">
              <a:buNone/>
              <a:defRPr sz="2800"/>
            </a:lvl8pPr>
            <a:lvl9pPr marL="11377331" indent="0">
              <a:buNone/>
              <a:defRPr sz="2800"/>
            </a:lvl9pPr>
          </a:lstStyle>
          <a:p>
            <a:pPr lvl="0"/>
            <a:r>
              <a:rPr lang="en-US"/>
              <a:t>Edit Master text styles</a:t>
            </a:r>
          </a:p>
        </p:txBody>
      </p:sp>
      <p:sp>
        <p:nvSpPr>
          <p:cNvPr id="5" name="Date Placeholder 4"/>
          <p:cNvSpPr>
            <a:spLocks noGrp="1"/>
          </p:cNvSpPr>
          <p:nvPr>
            <p:ph type="dt" sz="half" idx="10"/>
          </p:nvPr>
        </p:nvSpPr>
        <p:spPr/>
        <p:txBody>
          <a:bodyPr/>
          <a:lstStyle/>
          <a:p>
            <a:fld id="{0C972FCD-9765-44CC-9752-E7B11B5CC4F6}" type="datetimeFigureOut">
              <a:rPr lang="en-IN" smtClean="0"/>
              <a:t>28-06-2022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3541666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972FCD-9765-44CC-9752-E7B11B5CC4F6}" type="datetimeFigureOut">
              <a:rPr lang="en-IN" smtClean="0"/>
              <a:t>28-06-2022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1246687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7411" y="39947215"/>
            <a:ext cx="28435832"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39" y="39532291"/>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20354694" y="2573165"/>
            <a:ext cx="6133073" cy="3594736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955474" y="2573165"/>
            <a:ext cx="18043679" cy="35947364"/>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972FCD-9765-44CC-9752-E7B11B5CC4F6}" type="datetimeFigureOut">
              <a:rPr lang="en-IN" smtClean="0"/>
              <a:t>28-06-2022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419961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39947215"/>
            <a:ext cx="28443241"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 y="39532288"/>
            <a:ext cx="28443241" cy="4118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59892" y="1788691"/>
            <a:ext cx="23465671" cy="905413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559890" y="11519175"/>
            <a:ext cx="23465674" cy="25109678"/>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559896" y="40315349"/>
            <a:ext cx="5767666" cy="2278735"/>
          </a:xfrm>
          <a:prstGeom prst="rect">
            <a:avLst/>
          </a:prstGeom>
        </p:spPr>
        <p:txBody>
          <a:bodyPr vert="horz" lIns="91440" tIns="45720" rIns="91440" bIns="45720" rtlCol="0" anchor="ctr"/>
          <a:lstStyle>
            <a:lvl1pPr algn="l">
              <a:defRPr sz="2800">
                <a:solidFill>
                  <a:srgbClr val="FFFFFF"/>
                </a:solidFill>
              </a:defRPr>
            </a:lvl1pPr>
          </a:lstStyle>
          <a:p>
            <a:fld id="{0C972FCD-9765-44CC-9752-E7B11B5CC4F6}" type="datetimeFigureOut">
              <a:rPr lang="en-IN" smtClean="0"/>
              <a:t>28-06-2022</a:t>
            </a:fld>
            <a:endParaRPr lang="en-IN"/>
          </a:p>
        </p:txBody>
      </p:sp>
      <p:sp>
        <p:nvSpPr>
          <p:cNvPr id="5" name="Footer Placeholder 4"/>
          <p:cNvSpPr>
            <a:spLocks noGrp="1"/>
          </p:cNvSpPr>
          <p:nvPr>
            <p:ph type="ftr" sz="quarter" idx="3"/>
          </p:nvPr>
        </p:nvSpPr>
        <p:spPr>
          <a:xfrm>
            <a:off x="8599661" y="40315349"/>
            <a:ext cx="11251326" cy="2278735"/>
          </a:xfrm>
          <a:prstGeom prst="rect">
            <a:avLst/>
          </a:prstGeom>
        </p:spPr>
        <p:txBody>
          <a:bodyPr vert="horz" lIns="91440" tIns="45720" rIns="91440" bIns="45720" rtlCol="0" anchor="ctr"/>
          <a:lstStyle>
            <a:lvl1pPr algn="ctr">
              <a:defRPr sz="28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23097205" y="40315349"/>
            <a:ext cx="3060880" cy="2278735"/>
          </a:xfrm>
          <a:prstGeom prst="rect">
            <a:avLst/>
          </a:prstGeom>
        </p:spPr>
        <p:txBody>
          <a:bodyPr vert="horz" lIns="91440" tIns="45720" rIns="91440" bIns="45720" rtlCol="0" anchor="ctr"/>
          <a:lstStyle>
            <a:lvl1pPr algn="r">
              <a:defRPr sz="3266">
                <a:solidFill>
                  <a:srgbClr val="FFFFFF"/>
                </a:solidFill>
              </a:defRPr>
            </a:lvl1pPr>
          </a:lstStyle>
          <a:p>
            <a:fld id="{1CF6D0B2-FC02-4FCE-96D5-8F676BDAAEE6}" type="slidenum">
              <a:rPr lang="en-IN" smtClean="0"/>
              <a:t>‹#›</a:t>
            </a:fld>
            <a:endParaRPr lang="en-IN"/>
          </a:p>
        </p:txBody>
      </p:sp>
      <p:cxnSp>
        <p:nvCxnSpPr>
          <p:cNvPr id="10" name="Straight Connector 9"/>
          <p:cNvCxnSpPr/>
          <p:nvPr/>
        </p:nvCxnSpPr>
        <p:spPr>
          <a:xfrm>
            <a:off x="2784442" y="10845842"/>
            <a:ext cx="2325234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1937946"/>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Lst>
  <p:txStyles>
    <p:titleStyle>
      <a:lvl1pPr algn="l" defTabSz="2844333" rtl="0" eaLnBrk="1" latinLnBrk="0" hangingPunct="1">
        <a:lnSpc>
          <a:spcPct val="85000"/>
        </a:lnSpc>
        <a:spcBef>
          <a:spcPct val="0"/>
        </a:spcBef>
        <a:buNone/>
        <a:defRPr sz="14931" kern="1200" spc="-156" baseline="0">
          <a:solidFill>
            <a:schemeClr val="tx1">
              <a:lumMod val="75000"/>
              <a:lumOff val="25000"/>
            </a:schemeClr>
          </a:solidFill>
          <a:latin typeface="+mj-lt"/>
          <a:ea typeface="+mj-ea"/>
          <a:cs typeface="+mj-cs"/>
        </a:defRPr>
      </a:lvl1pPr>
    </p:titleStyle>
    <p:bodyStyle>
      <a:lvl1pPr marL="284433" indent="-284433" algn="l" defTabSz="2844333" rtl="0" eaLnBrk="1" latinLnBrk="0" hangingPunct="1">
        <a:lnSpc>
          <a:spcPct val="90000"/>
        </a:lnSpc>
        <a:spcBef>
          <a:spcPts val="3733"/>
        </a:spcBef>
        <a:spcAft>
          <a:spcPts val="622"/>
        </a:spcAft>
        <a:buClr>
          <a:schemeClr val="accent1"/>
        </a:buClr>
        <a:buSzPct val="100000"/>
        <a:buFont typeface="Calibri" panose="020F0502020204030204" pitchFamily="34" charset="0"/>
        <a:buChar char=" "/>
        <a:defRPr sz="6221" kern="1200">
          <a:solidFill>
            <a:schemeClr val="tx1">
              <a:lumMod val="75000"/>
              <a:lumOff val="25000"/>
            </a:schemeClr>
          </a:solidFill>
          <a:latin typeface="+mn-lt"/>
          <a:ea typeface="+mn-ea"/>
          <a:cs typeface="+mn-cs"/>
        </a:defRPr>
      </a:lvl1pPr>
      <a:lvl2pPr marL="1194620" indent="-568867" algn="l" defTabSz="2844333" rtl="0" eaLnBrk="1" latinLnBrk="0" hangingPunct="1">
        <a:lnSpc>
          <a:spcPct val="90000"/>
        </a:lnSpc>
        <a:spcBef>
          <a:spcPts val="622"/>
        </a:spcBef>
        <a:spcAft>
          <a:spcPts val="1244"/>
        </a:spcAft>
        <a:buClr>
          <a:schemeClr val="accent1"/>
        </a:buClr>
        <a:buFont typeface="Calibri" pitchFamily="34" charset="0"/>
        <a:buChar char="◦"/>
        <a:defRPr sz="5599" kern="1200">
          <a:solidFill>
            <a:schemeClr val="tx1">
              <a:lumMod val="75000"/>
              <a:lumOff val="25000"/>
            </a:schemeClr>
          </a:solidFill>
          <a:latin typeface="+mn-lt"/>
          <a:ea typeface="+mn-ea"/>
          <a:cs typeface="+mn-cs"/>
        </a:defRPr>
      </a:lvl2pPr>
      <a:lvl3pPr marL="1763486" indent="-568867"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3pPr>
      <a:lvl4pPr marL="2332353" indent="-568867"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4pPr>
      <a:lvl5pPr marL="2901219" indent="-568867"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5pPr>
      <a:lvl6pPr marL="3421660" indent="-711083"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6pPr>
      <a:lvl7pPr marL="4043780" indent="-711083"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7pPr>
      <a:lvl8pPr marL="4665900" indent="-711083"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8pPr>
      <a:lvl9pPr marL="5288020" indent="-711083"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9pPr>
    </p:bodyStyle>
    <p:otherStyle>
      <a:defPPr>
        <a:defRPr lang="en-US"/>
      </a:defPPr>
      <a:lvl1pPr marL="0" algn="l" defTabSz="2844333" rtl="0" eaLnBrk="1" latinLnBrk="0" hangingPunct="1">
        <a:defRPr sz="5599" kern="1200">
          <a:solidFill>
            <a:schemeClr val="tx1"/>
          </a:solidFill>
          <a:latin typeface="+mn-lt"/>
          <a:ea typeface="+mn-ea"/>
          <a:cs typeface="+mn-cs"/>
        </a:defRPr>
      </a:lvl1pPr>
      <a:lvl2pPr marL="1422166" algn="l" defTabSz="2844333" rtl="0" eaLnBrk="1" latinLnBrk="0" hangingPunct="1">
        <a:defRPr sz="5599" kern="1200">
          <a:solidFill>
            <a:schemeClr val="tx1"/>
          </a:solidFill>
          <a:latin typeface="+mn-lt"/>
          <a:ea typeface="+mn-ea"/>
          <a:cs typeface="+mn-cs"/>
        </a:defRPr>
      </a:lvl2pPr>
      <a:lvl3pPr marL="2844333" algn="l" defTabSz="2844333" rtl="0" eaLnBrk="1" latinLnBrk="0" hangingPunct="1">
        <a:defRPr sz="5599" kern="1200">
          <a:solidFill>
            <a:schemeClr val="tx1"/>
          </a:solidFill>
          <a:latin typeface="+mn-lt"/>
          <a:ea typeface="+mn-ea"/>
          <a:cs typeface="+mn-cs"/>
        </a:defRPr>
      </a:lvl3pPr>
      <a:lvl4pPr marL="4266499" algn="l" defTabSz="2844333" rtl="0" eaLnBrk="1" latinLnBrk="0" hangingPunct="1">
        <a:defRPr sz="5599" kern="1200">
          <a:solidFill>
            <a:schemeClr val="tx1"/>
          </a:solidFill>
          <a:latin typeface="+mn-lt"/>
          <a:ea typeface="+mn-ea"/>
          <a:cs typeface="+mn-cs"/>
        </a:defRPr>
      </a:lvl4pPr>
      <a:lvl5pPr marL="5688665" algn="l" defTabSz="2844333" rtl="0" eaLnBrk="1" latinLnBrk="0" hangingPunct="1">
        <a:defRPr sz="5599" kern="1200">
          <a:solidFill>
            <a:schemeClr val="tx1"/>
          </a:solidFill>
          <a:latin typeface="+mn-lt"/>
          <a:ea typeface="+mn-ea"/>
          <a:cs typeface="+mn-cs"/>
        </a:defRPr>
      </a:lvl5pPr>
      <a:lvl6pPr marL="7110832" algn="l" defTabSz="2844333" rtl="0" eaLnBrk="1" latinLnBrk="0" hangingPunct="1">
        <a:defRPr sz="5599" kern="1200">
          <a:solidFill>
            <a:schemeClr val="tx1"/>
          </a:solidFill>
          <a:latin typeface="+mn-lt"/>
          <a:ea typeface="+mn-ea"/>
          <a:cs typeface="+mn-cs"/>
        </a:defRPr>
      </a:lvl6pPr>
      <a:lvl7pPr marL="8532998" algn="l" defTabSz="2844333" rtl="0" eaLnBrk="1" latinLnBrk="0" hangingPunct="1">
        <a:defRPr sz="5599" kern="1200">
          <a:solidFill>
            <a:schemeClr val="tx1"/>
          </a:solidFill>
          <a:latin typeface="+mn-lt"/>
          <a:ea typeface="+mn-ea"/>
          <a:cs typeface="+mn-cs"/>
        </a:defRPr>
      </a:lvl7pPr>
      <a:lvl8pPr marL="9955164" algn="l" defTabSz="2844333" rtl="0" eaLnBrk="1" latinLnBrk="0" hangingPunct="1">
        <a:defRPr sz="5599" kern="1200">
          <a:solidFill>
            <a:schemeClr val="tx1"/>
          </a:solidFill>
          <a:latin typeface="+mn-lt"/>
          <a:ea typeface="+mn-ea"/>
          <a:cs typeface="+mn-cs"/>
        </a:defRPr>
      </a:lvl8pPr>
      <a:lvl9pPr marL="11377331" algn="l" defTabSz="2844333" rtl="0" eaLnBrk="1" latinLnBrk="0" hangingPunct="1">
        <a:defRPr sz="55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6111" y="194475"/>
            <a:ext cx="2857500" cy="2857500"/>
          </a:xfrm>
          <a:prstGeom prst="rect">
            <a:avLst/>
          </a:prstGeom>
        </p:spPr>
      </p:pic>
      <p:sp>
        <p:nvSpPr>
          <p:cNvPr id="5" name="Rounded Rectangle 4"/>
          <p:cNvSpPr/>
          <p:nvPr/>
        </p:nvSpPr>
        <p:spPr>
          <a:xfrm>
            <a:off x="4531264" y="245289"/>
            <a:ext cx="22707600" cy="3403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800" b="1" dirty="0"/>
              <a:t>Computational Fluid Dynamics  Project </a:t>
            </a:r>
          </a:p>
        </p:txBody>
      </p:sp>
      <p:sp>
        <p:nvSpPr>
          <p:cNvPr id="6" name="Rounded Rectangle 5"/>
          <p:cNvSpPr/>
          <p:nvPr/>
        </p:nvSpPr>
        <p:spPr>
          <a:xfrm>
            <a:off x="976111" y="6894858"/>
            <a:ext cx="12928649" cy="6814513"/>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nSpc>
                <a:spcPct val="107000"/>
              </a:lnSpc>
              <a:spcBef>
                <a:spcPts val="0"/>
              </a:spcBef>
              <a:spcAft>
                <a:spcPts val="800"/>
              </a:spcAft>
            </a:pPr>
            <a:endParaRPr lang="en-IN" sz="2400" u="sng"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IN" sz="2400" b="1" u="sng"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LAMINAR FLOW</a:t>
            </a:r>
            <a:r>
              <a:rPr lang="en-IN" sz="2400" u="sng" dirty="0">
                <a:latin typeface="Times New Roman" panose="02020603050405020304" pitchFamily="18" charset="0"/>
                <a:ea typeface="Calibri" panose="020F0502020204030204" pitchFamily="34" charset="0"/>
                <a:cs typeface="Times New Roman" panose="02020603050405020304" pitchFamily="18" charset="0"/>
              </a:rPr>
              <a:t>: </a:t>
            </a:r>
            <a:r>
              <a:rPr lang="en-IN" sz="2400" dirty="0">
                <a:solidFill>
                  <a:srgbClr val="202122"/>
                </a:solidFill>
                <a:effectLst/>
                <a:latin typeface="Times New Roman" panose="02020603050405020304" pitchFamily="18" charset="0"/>
                <a:ea typeface="Calibri" panose="020F0502020204030204" pitchFamily="34" charset="0"/>
                <a:cs typeface="Times New Roman" panose="02020603050405020304" pitchFamily="18" charset="0"/>
              </a:rPr>
              <a:t>In </a:t>
            </a:r>
            <a:r>
              <a:rPr lang="en-IN"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fluid</a:t>
            </a:r>
            <a:r>
              <a:rPr lang="en-IN" sz="2400" u="sng" dirty="0">
                <a:solidFill>
                  <a:srgbClr val="0645AD"/>
                </a:solidFill>
                <a:latin typeface="Times New Roman" panose="02020603050405020304" pitchFamily="18" charset="0"/>
                <a:ea typeface="Calibri" panose="020F0502020204030204" pitchFamily="34" charset="0"/>
                <a:cs typeface="Times New Roman" panose="02020603050405020304" pitchFamily="18" charset="0"/>
              </a:rPr>
              <a:t> </a:t>
            </a:r>
            <a:r>
              <a:rPr lang="en-IN"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dynamics</a:t>
            </a:r>
            <a:r>
              <a:rPr lang="en-IN" sz="2400" dirty="0">
                <a:solidFill>
                  <a:srgbClr val="202122"/>
                </a:solidFill>
                <a:effectLst/>
                <a:latin typeface="Times New Roman" panose="02020603050405020304" pitchFamily="18" charset="0"/>
                <a:ea typeface="Calibri" panose="020F0502020204030204" pitchFamily="34" charset="0"/>
                <a:cs typeface="Times New Roman" panose="02020603050405020304" pitchFamily="18" charset="0"/>
              </a:rPr>
              <a:t>, laminar flow is characterized by fluid particles following smooth paths in layers, with each layer moving smoothly past the adjacent layers with little or no mixing. At low velocities, the fluid tends to flow without lateral mixing, and adjacent layers slide past one another like </a:t>
            </a:r>
            <a:r>
              <a:rPr lang="en-IN"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playing cars</a:t>
            </a: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2400" dirty="0">
                <a:solidFill>
                  <a:srgbClr val="202122"/>
                </a:solidFill>
                <a:effectLst/>
                <a:latin typeface="Times New Roman" panose="02020603050405020304" pitchFamily="18" charset="0"/>
                <a:ea typeface="Calibri" panose="020F0502020204030204" pitchFamily="34" charset="0"/>
                <a:cs typeface="Times New Roman" panose="02020603050405020304" pitchFamily="18" charset="0"/>
              </a:rPr>
              <a:t> There are no cross-currents perpendicular to the direction of flow, nor </a:t>
            </a:r>
            <a:r>
              <a:rPr lang="en-IN"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eddies</a:t>
            </a:r>
            <a:r>
              <a:rPr lang="en-IN" sz="2400" dirty="0">
                <a:solidFill>
                  <a:srgbClr val="202122"/>
                </a:solidFill>
                <a:effectLst/>
                <a:latin typeface="Times New Roman" panose="02020603050405020304" pitchFamily="18" charset="0"/>
                <a:ea typeface="Calibri" panose="020F0502020204030204" pitchFamily="34" charset="0"/>
                <a:cs typeface="Times New Roman" panose="02020603050405020304" pitchFamily="18" charset="0"/>
              </a:rPr>
              <a:t> or swirls of fluids. In laminar flow, the motion of the particles of the fluid is very orderly with particles close to a solid surface moving in straight lines parallel to that surface.</a:t>
            </a:r>
            <a:r>
              <a:rPr lang="en-IN" sz="2400" baseline="30000" dirty="0">
                <a:solidFill>
                  <a:srgbClr val="2021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400" dirty="0">
                <a:solidFill>
                  <a:srgbClr val="202122"/>
                </a:solidFill>
                <a:effectLst/>
                <a:latin typeface="Times New Roman" panose="02020603050405020304" pitchFamily="18" charset="0"/>
                <a:ea typeface="Calibri" panose="020F0502020204030204" pitchFamily="34" charset="0"/>
                <a:cs typeface="Times New Roman" panose="02020603050405020304" pitchFamily="18" charset="0"/>
              </a:rPr>
              <a:t> Laminar flow is a flow regime characterized by high </a:t>
            </a:r>
            <a:r>
              <a:rPr lang="en-IN"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momentum diffusion</a:t>
            </a: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400" dirty="0">
                <a:solidFill>
                  <a:srgbClr val="202122"/>
                </a:solidFill>
                <a:effectLst/>
                <a:latin typeface="Times New Roman" panose="02020603050405020304" pitchFamily="18" charset="0"/>
                <a:ea typeface="Calibri" panose="020F0502020204030204" pitchFamily="34" charset="0"/>
                <a:cs typeface="Times New Roman" panose="02020603050405020304" pitchFamily="18" charset="0"/>
              </a:rPr>
              <a:t>and low momentum </a:t>
            </a:r>
            <a:r>
              <a:rPr lang="en-IN"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convection</a:t>
            </a: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spcBef>
                <a:spcPts val="0"/>
              </a:spcBef>
              <a:spcAft>
                <a:spcPts val="800"/>
              </a:spcAft>
            </a:pPr>
            <a:r>
              <a:rPr lang="en-IN" sz="2400" b="1" u="sng"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TURBULENT FLOW</a:t>
            </a:r>
            <a:r>
              <a:rPr lang="en-IN" sz="2400" u="sng" dirty="0">
                <a:latin typeface="Times New Roman" panose="02020603050405020304" pitchFamily="18" charset="0"/>
                <a:ea typeface="Calibri" panose="020F0502020204030204" pitchFamily="34" charset="0"/>
                <a:cs typeface="Times New Roman" panose="02020603050405020304" pitchFamily="18" charset="0"/>
              </a:rPr>
              <a:t>: </a:t>
            </a:r>
            <a:r>
              <a:rPr lang="en-IN" sz="2400" b="0" dirty="0">
                <a:solidFill>
                  <a:srgbClr val="1A1A1A"/>
                </a:solidFill>
                <a:effectLst/>
                <a:latin typeface="Times New Roman" panose="02020603050405020304" pitchFamily="18" charset="0"/>
                <a:ea typeface="Calibri" panose="020F0502020204030204" pitchFamily="34" charset="0"/>
                <a:cs typeface="Times New Roman" panose="02020603050405020304" pitchFamily="18" charset="0"/>
              </a:rPr>
              <a:t>Turbulent flow</a:t>
            </a:r>
            <a:r>
              <a:rPr lang="en-IN" sz="2400" dirty="0">
                <a:solidFill>
                  <a:srgbClr val="1A1A1A"/>
                </a:solidFill>
                <a:effectLst/>
                <a:latin typeface="Times New Roman" panose="02020603050405020304" pitchFamily="18" charset="0"/>
                <a:ea typeface="Calibri" panose="020F0502020204030204" pitchFamily="34" charset="0"/>
                <a:cs typeface="Times New Roman" panose="02020603050405020304" pitchFamily="18" charset="0"/>
              </a:rPr>
              <a:t>, type of </a:t>
            </a:r>
            <a:r>
              <a:rPr lang="en-IN"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fluid</a:t>
            </a:r>
            <a:r>
              <a:rPr lang="en-IN" sz="2400" dirty="0">
                <a:solidFill>
                  <a:srgbClr val="1A1A1A"/>
                </a:solidFill>
                <a:effectLst/>
                <a:latin typeface="Times New Roman" panose="02020603050405020304" pitchFamily="18" charset="0"/>
                <a:ea typeface="Calibri" panose="020F0502020204030204" pitchFamily="34" charset="0"/>
                <a:cs typeface="Times New Roman" panose="02020603050405020304" pitchFamily="18" charset="0"/>
              </a:rPr>
              <a:t> (gas or liquid) flow in which the fluid undergoes irregular fluctuations, or mixing, in contrast to</a:t>
            </a: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laminar flow</a:t>
            </a:r>
            <a:r>
              <a:rPr lang="en-IN" sz="2400" dirty="0">
                <a:solidFill>
                  <a:srgbClr val="1A1A1A"/>
                </a:solidFill>
                <a:effectLst/>
                <a:latin typeface="Times New Roman" panose="02020603050405020304" pitchFamily="18" charset="0"/>
                <a:ea typeface="Calibri" panose="020F0502020204030204" pitchFamily="34" charset="0"/>
                <a:cs typeface="Times New Roman" panose="02020603050405020304" pitchFamily="18" charset="0"/>
              </a:rPr>
              <a:t>, in which the fluid moves in smooth paths or layers. In turbulent flow the speed of the fluid at a point is continuously undergoing changes in both magnitude and direction. The flow of wind and rivers is generally turbulent in this sense, even if the currents are gentle. The air or water swirls and eddies while its overall bulk moves along a specific direction.</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7" name="Rounded Rectangle 6"/>
          <p:cNvSpPr/>
          <p:nvPr/>
        </p:nvSpPr>
        <p:spPr>
          <a:xfrm>
            <a:off x="2248039" y="5943600"/>
            <a:ext cx="3631731" cy="9144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dirty="0">
                <a:latin typeface="Times New Roman" panose="02020603050405020304" pitchFamily="18" charset="0"/>
                <a:cs typeface="Times New Roman" panose="02020603050405020304" pitchFamily="18" charset="0"/>
              </a:rPr>
              <a:t>  Introduction</a:t>
            </a:r>
            <a:endParaRPr lang="en-IN" sz="4400" dirty="0">
              <a:latin typeface="Times New Roman" panose="02020603050405020304" pitchFamily="18" charset="0"/>
              <a:cs typeface="Times New Roman" panose="02020603050405020304" pitchFamily="18" charset="0"/>
            </a:endParaRPr>
          </a:p>
        </p:txBody>
      </p:sp>
      <p:sp>
        <p:nvSpPr>
          <p:cNvPr id="15" name="Rounded Rectangle 14"/>
          <p:cNvSpPr/>
          <p:nvPr/>
        </p:nvSpPr>
        <p:spPr>
          <a:xfrm>
            <a:off x="2248039" y="14605000"/>
            <a:ext cx="5353851" cy="914400"/>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latin typeface="Times New Roman" panose="02020603050405020304" pitchFamily="18" charset="0"/>
                <a:cs typeface="Times New Roman" panose="02020603050405020304" pitchFamily="18" charset="0"/>
              </a:rPr>
              <a:t>Objective</a:t>
            </a:r>
            <a:endParaRPr lang="en-IN" sz="4000" dirty="0"/>
          </a:p>
        </p:txBody>
      </p:sp>
      <p:sp>
        <p:nvSpPr>
          <p:cNvPr id="16" name="Rounded Rectangle 15"/>
          <p:cNvSpPr/>
          <p:nvPr/>
        </p:nvSpPr>
        <p:spPr>
          <a:xfrm>
            <a:off x="881530" y="31046098"/>
            <a:ext cx="11849196" cy="6947018"/>
          </a:xfrm>
          <a:prstGeom prst="roundRect">
            <a:avLst/>
          </a:prstGeom>
          <a:solidFill>
            <a:srgbClr val="D4D4E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i="0" u="sng" dirty="0">
                <a:solidFill>
                  <a:srgbClr val="202124"/>
                </a:solidFill>
                <a:effectLst/>
                <a:latin typeface="arial" panose="020B0604020202020204" pitchFamily="34" charset="0"/>
              </a:rPr>
              <a:t>Velocity vector- </a:t>
            </a:r>
            <a:r>
              <a:rPr lang="en-IN" sz="2400" i="0" dirty="0">
                <a:solidFill>
                  <a:srgbClr val="202124"/>
                </a:solidFill>
                <a:effectLst/>
                <a:latin typeface="arial" panose="020B0604020202020204" pitchFamily="34" charset="0"/>
              </a:rPr>
              <a:t>A velocity vector represents the rate of change of the position of an object.</a:t>
            </a:r>
            <a:endParaRPr lang="en-IN" sz="2400"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dirty="0">
              <a:solidFill>
                <a:schemeClr val="tx1"/>
              </a:solidFill>
              <a:latin typeface="Times New Roman" panose="02020603050405020304" pitchFamily="18" charset="0"/>
              <a:cs typeface="Times New Roman" panose="02020603050405020304" pitchFamily="18" charset="0"/>
            </a:endParaRPr>
          </a:p>
          <a:p>
            <a:r>
              <a:rPr lang="en-IN" sz="2400" b="1" dirty="0"/>
              <a:t> </a:t>
            </a:r>
            <a:endParaRPr lang="en-IN" sz="2400" dirty="0"/>
          </a:p>
        </p:txBody>
      </p:sp>
      <p:sp>
        <p:nvSpPr>
          <p:cNvPr id="17" name="Rounded Rectangle 16"/>
          <p:cNvSpPr/>
          <p:nvPr/>
        </p:nvSpPr>
        <p:spPr>
          <a:xfrm>
            <a:off x="2591690" y="30158388"/>
            <a:ext cx="8229600" cy="91440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4400" dirty="0">
                <a:latin typeface="Times New Roman" panose="02020603050405020304" pitchFamily="18" charset="0"/>
                <a:cs typeface="Times New Roman" panose="02020603050405020304" pitchFamily="18" charset="0"/>
              </a:rPr>
              <a:t>Results</a:t>
            </a:r>
          </a:p>
        </p:txBody>
      </p:sp>
      <p:sp>
        <p:nvSpPr>
          <p:cNvPr id="20" name="Rounded Rectangle 19"/>
          <p:cNvSpPr/>
          <p:nvPr/>
        </p:nvSpPr>
        <p:spPr>
          <a:xfrm>
            <a:off x="15444213" y="15373599"/>
            <a:ext cx="11895532" cy="6947018"/>
          </a:xfrm>
          <a:prstGeom prst="roundRect">
            <a:avLst/>
          </a:prstGeom>
          <a:solidFill>
            <a:srgbClr val="FF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400" dirty="0">
              <a:solidFill>
                <a:schemeClr val="tx1"/>
              </a:solidFill>
              <a:latin typeface="Times New Roman" panose="02020603050405020304" pitchFamily="18" charset="0"/>
              <a:cs typeface="Times New Roman" panose="02020603050405020304" pitchFamily="18" charset="0"/>
            </a:endParaRPr>
          </a:p>
          <a:p>
            <a:r>
              <a:rPr lang="en-IN" sz="2400" i="0" dirty="0">
                <a:solidFill>
                  <a:srgbClr val="202122"/>
                </a:solidFill>
                <a:effectLst/>
                <a:latin typeface="Times New Roman" panose="02020603050405020304" pitchFamily="18" charset="0"/>
                <a:cs typeface="Times New Roman" panose="02020603050405020304" pitchFamily="18" charset="0"/>
              </a:rPr>
              <a:t>Mesh generation </a:t>
            </a:r>
            <a:r>
              <a:rPr lang="en-IN" sz="2400" b="0" i="0" dirty="0">
                <a:solidFill>
                  <a:srgbClr val="202122"/>
                </a:solidFill>
                <a:effectLst/>
                <a:latin typeface="Times New Roman" panose="02020603050405020304" pitchFamily="18" charset="0"/>
                <a:cs typeface="Times New Roman" panose="02020603050405020304" pitchFamily="18" charset="0"/>
              </a:rPr>
              <a:t>is the practice of creating </a:t>
            </a:r>
            <a:r>
              <a:rPr lang="en-IN" sz="2400" dirty="0">
                <a:solidFill>
                  <a:schemeClr val="tx1"/>
                </a:solidFill>
                <a:latin typeface="Times New Roman" panose="02020603050405020304" pitchFamily="18" charset="0"/>
                <a:cs typeface="Times New Roman" panose="02020603050405020304" pitchFamily="18" charset="0"/>
              </a:rPr>
              <a:t>mes</a:t>
            </a:r>
            <a:r>
              <a:rPr lang="en-IN" sz="2400" dirty="0">
                <a:solidFill>
                  <a:srgbClr val="0645AD"/>
                </a:solidFill>
                <a:latin typeface="Times New Roman" panose="02020603050405020304" pitchFamily="18" charset="0"/>
                <a:cs typeface="Times New Roman" panose="02020603050405020304" pitchFamily="18" charset="0"/>
              </a:rPr>
              <a:t>h</a:t>
            </a:r>
            <a:r>
              <a:rPr lang="en-IN" sz="2400" b="0" i="0" dirty="0">
                <a:solidFill>
                  <a:srgbClr val="202122"/>
                </a:solidFill>
                <a:effectLst/>
                <a:latin typeface="Times New Roman" panose="02020603050405020304" pitchFamily="18" charset="0"/>
                <a:cs typeface="Times New Roman" panose="02020603050405020304" pitchFamily="18" charset="0"/>
              </a:rPr>
              <a:t>, a subdivision of a continuous geometric space into discrete geometric and topological cells. Often these cells form a </a:t>
            </a:r>
            <a:r>
              <a:rPr lang="en-IN" sz="2400" dirty="0">
                <a:solidFill>
                  <a:schemeClr val="tx1"/>
                </a:solidFill>
                <a:latin typeface="Times New Roman" panose="02020603050405020304" pitchFamily="18" charset="0"/>
                <a:cs typeface="Times New Roman" panose="02020603050405020304" pitchFamily="18" charset="0"/>
              </a:rPr>
              <a:t>simplicial complex</a:t>
            </a:r>
            <a:r>
              <a:rPr lang="en-IN" sz="2400" b="0" i="0" dirty="0">
                <a:solidFill>
                  <a:srgbClr val="202122"/>
                </a:solidFill>
                <a:effectLst/>
                <a:latin typeface="Times New Roman" panose="02020603050405020304" pitchFamily="18" charset="0"/>
                <a:cs typeface="Times New Roman" panose="02020603050405020304" pitchFamily="18" charset="0"/>
              </a:rPr>
              <a:t>. Usually the cells partition the geometric input domain. Mesh cells are used as discrete local approximations of the larger domain. Meshes are created by computer algorithms, often with human guidance through a</a:t>
            </a:r>
            <a:r>
              <a:rPr lang="en-IN" sz="2400" b="0" i="0" dirty="0">
                <a:solidFill>
                  <a:schemeClr val="tx1"/>
                </a:solidFill>
                <a:effectLst/>
                <a:latin typeface="Times New Roman" panose="02020603050405020304" pitchFamily="18" charset="0"/>
                <a:cs typeface="Times New Roman" panose="02020603050405020304" pitchFamily="18" charset="0"/>
              </a:rPr>
              <a:t> </a:t>
            </a:r>
            <a:r>
              <a:rPr lang="en-IN" sz="2400" dirty="0">
                <a:solidFill>
                  <a:schemeClr val="tx1"/>
                </a:solidFill>
                <a:latin typeface="Times New Roman" panose="02020603050405020304" pitchFamily="18" charset="0"/>
                <a:cs typeface="Times New Roman" panose="02020603050405020304" pitchFamily="18" charset="0"/>
              </a:rPr>
              <a:t>GUI</a:t>
            </a:r>
            <a:r>
              <a:rPr lang="en-IN" sz="2400" b="0" i="0" dirty="0">
                <a:solidFill>
                  <a:schemeClr val="tx1"/>
                </a:solidFill>
                <a:effectLst/>
                <a:latin typeface="Times New Roman" panose="02020603050405020304" pitchFamily="18" charset="0"/>
                <a:cs typeface="Times New Roman" panose="02020603050405020304" pitchFamily="18" charset="0"/>
              </a:rPr>
              <a:t> </a:t>
            </a:r>
            <a:r>
              <a:rPr lang="en-IN" sz="2400" b="0" i="0" dirty="0">
                <a:solidFill>
                  <a:srgbClr val="202122"/>
                </a:solidFill>
                <a:effectLst/>
                <a:latin typeface="Times New Roman" panose="02020603050405020304" pitchFamily="18" charset="0"/>
                <a:cs typeface="Times New Roman" panose="02020603050405020304" pitchFamily="18" charset="0"/>
              </a:rPr>
              <a:t>, depending on the complexity of the domain and the type of mesh desired.</a:t>
            </a:r>
            <a:endParaRPr lang="en-IN" sz="2400" dirty="0">
              <a:solidFill>
                <a:schemeClr val="tx1"/>
              </a:solidFill>
              <a:latin typeface="Times New Roman" panose="02020603050405020304" pitchFamily="18" charset="0"/>
              <a:cs typeface="Times New Roman" panose="02020603050405020304" pitchFamily="18" charset="0"/>
            </a:endParaRPr>
          </a:p>
          <a:p>
            <a:endParaRPr lang="en-IN" sz="2400" dirty="0">
              <a:solidFill>
                <a:schemeClr val="tx1"/>
              </a:solidFill>
              <a:latin typeface="Times New Roman" panose="02020603050405020304" pitchFamily="18" charset="0"/>
              <a:cs typeface="Times New Roman" panose="02020603050405020304" pitchFamily="18" charset="0"/>
            </a:endParaRPr>
          </a:p>
          <a:p>
            <a:endParaRPr lang="en-IN" sz="2400" dirty="0">
              <a:solidFill>
                <a:schemeClr val="tx1"/>
              </a:solidFill>
              <a:latin typeface="Times New Roman" panose="02020603050405020304" pitchFamily="18" charset="0"/>
              <a:cs typeface="Times New Roman" panose="02020603050405020304" pitchFamily="18" charset="0"/>
            </a:endParaRPr>
          </a:p>
          <a:p>
            <a:endParaRPr lang="en-IN" sz="2400" dirty="0">
              <a:solidFill>
                <a:schemeClr val="tx1"/>
              </a:solidFill>
              <a:latin typeface="Times New Roman" panose="02020603050405020304" pitchFamily="18" charset="0"/>
              <a:cs typeface="Times New Roman" panose="02020603050405020304" pitchFamily="18" charset="0"/>
            </a:endParaRPr>
          </a:p>
          <a:p>
            <a:endParaRPr lang="en-IN" sz="2400" dirty="0">
              <a:solidFill>
                <a:schemeClr val="tx1"/>
              </a:solidFill>
              <a:latin typeface="Times New Roman" panose="02020603050405020304" pitchFamily="18" charset="0"/>
              <a:cs typeface="Times New Roman" panose="02020603050405020304" pitchFamily="18" charset="0"/>
            </a:endParaRPr>
          </a:p>
          <a:p>
            <a:endParaRPr lang="en-IN" sz="2400" dirty="0">
              <a:solidFill>
                <a:schemeClr val="tx1"/>
              </a:solidFill>
              <a:latin typeface="Times New Roman" panose="02020603050405020304" pitchFamily="18" charset="0"/>
              <a:cs typeface="Times New Roman" panose="02020603050405020304" pitchFamily="18" charset="0"/>
            </a:endParaRPr>
          </a:p>
          <a:p>
            <a:endParaRPr lang="en-IN" sz="2400" dirty="0">
              <a:solidFill>
                <a:schemeClr val="tx1"/>
              </a:solidFill>
              <a:latin typeface="Times New Roman" panose="02020603050405020304" pitchFamily="18" charset="0"/>
              <a:cs typeface="Times New Roman" panose="02020603050405020304" pitchFamily="18" charset="0"/>
            </a:endParaRPr>
          </a:p>
          <a:p>
            <a:endParaRPr lang="en-IN" sz="2400" dirty="0">
              <a:solidFill>
                <a:schemeClr val="tx1"/>
              </a:solidFill>
              <a:latin typeface="Times New Roman" panose="02020603050405020304" pitchFamily="18" charset="0"/>
              <a:cs typeface="Times New Roman" panose="02020603050405020304" pitchFamily="18" charset="0"/>
            </a:endParaRPr>
          </a:p>
          <a:p>
            <a:endParaRPr lang="en-IN" sz="2400" dirty="0">
              <a:solidFill>
                <a:schemeClr val="tx1"/>
              </a:solidFill>
              <a:latin typeface="Times New Roman" panose="02020603050405020304" pitchFamily="18" charset="0"/>
              <a:cs typeface="Times New Roman" panose="02020603050405020304" pitchFamily="18" charset="0"/>
            </a:endParaRPr>
          </a:p>
          <a:p>
            <a:endParaRPr lang="en-IN" sz="2400"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IN" sz="2400"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21" name="Rounded Rectangle 20"/>
          <p:cNvSpPr/>
          <p:nvPr/>
        </p:nvSpPr>
        <p:spPr>
          <a:xfrm>
            <a:off x="17432574" y="14837330"/>
            <a:ext cx="5213978" cy="857349"/>
          </a:xfrm>
          <a:prstGeom prst="roundRect">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4800" dirty="0">
                <a:latin typeface="Times New Roman" panose="02020603050405020304" pitchFamily="18" charset="0"/>
                <a:cs typeface="Times New Roman" panose="02020603050405020304" pitchFamily="18" charset="0"/>
              </a:rPr>
              <a:t>Mesh Generation  </a:t>
            </a:r>
          </a:p>
        </p:txBody>
      </p:sp>
      <p:sp>
        <p:nvSpPr>
          <p:cNvPr id="22" name="Rounded Rectangle 21"/>
          <p:cNvSpPr/>
          <p:nvPr/>
        </p:nvSpPr>
        <p:spPr>
          <a:xfrm>
            <a:off x="976111" y="23402439"/>
            <a:ext cx="11533717" cy="6385617"/>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IN" sz="2400" b="1" u="sng" dirty="0">
              <a:solidFill>
                <a:schemeClr val="tx1"/>
              </a:solidFill>
              <a:latin typeface="Times New Roman" panose="02020603050405020304" pitchFamily="18" charset="0"/>
              <a:cs typeface="Times New Roman" panose="02020603050405020304" pitchFamily="18" charset="0"/>
            </a:endParaRPr>
          </a:p>
          <a:p>
            <a:pPr algn="just"/>
            <a:endParaRPr lang="en-IN" sz="2400" b="1" u="sng" dirty="0">
              <a:solidFill>
                <a:schemeClr val="tx1"/>
              </a:solidFill>
              <a:latin typeface="Times New Roman" panose="02020603050405020304" pitchFamily="18" charset="0"/>
              <a:cs typeface="Times New Roman" panose="02020603050405020304" pitchFamily="18" charset="0"/>
            </a:endParaRPr>
          </a:p>
          <a:p>
            <a:pPr algn="just"/>
            <a:endParaRPr lang="en-IN" sz="2400" b="1" u="sng" dirty="0">
              <a:solidFill>
                <a:schemeClr val="tx1"/>
              </a:solidFill>
              <a:latin typeface="Times New Roman" panose="02020603050405020304" pitchFamily="18" charset="0"/>
              <a:cs typeface="Times New Roman" panose="02020603050405020304" pitchFamily="18" charset="0"/>
            </a:endParaRPr>
          </a:p>
          <a:p>
            <a:pPr algn="just"/>
            <a:endParaRPr lang="en-IN" sz="2400" b="1" u="sng" dirty="0">
              <a:solidFill>
                <a:schemeClr val="tx1"/>
              </a:solidFill>
              <a:latin typeface="Times New Roman" panose="02020603050405020304" pitchFamily="18" charset="0"/>
              <a:cs typeface="Times New Roman" panose="02020603050405020304" pitchFamily="18" charset="0"/>
            </a:endParaRPr>
          </a:p>
          <a:p>
            <a:pPr algn="just"/>
            <a:r>
              <a:rPr lang="en-IN" sz="2400" b="1" u="sng" dirty="0">
                <a:solidFill>
                  <a:schemeClr val="tx1"/>
                </a:solidFill>
                <a:latin typeface="Times New Roman" panose="02020603050405020304" pitchFamily="18" charset="0"/>
                <a:cs typeface="Times New Roman" panose="02020603050405020304" pitchFamily="18" charset="0"/>
              </a:rPr>
              <a:t>Velocity profile- </a:t>
            </a:r>
            <a:r>
              <a:rPr lang="en-IN" sz="2400" b="0" i="0" dirty="0">
                <a:solidFill>
                  <a:srgbClr val="202124"/>
                </a:solidFill>
                <a:effectLst/>
                <a:latin typeface="Times New Roman" panose="02020603050405020304" pitchFamily="18" charset="0"/>
                <a:cs typeface="Times New Roman" panose="02020603050405020304" pitchFamily="18" charset="0"/>
              </a:rPr>
              <a:t>Velocity profiles are </a:t>
            </a:r>
            <a:r>
              <a:rPr lang="en-IN" sz="2400" b="1" i="0" dirty="0">
                <a:solidFill>
                  <a:srgbClr val="202124"/>
                </a:solidFill>
                <a:effectLst/>
                <a:latin typeface="Times New Roman" panose="02020603050405020304" pitchFamily="18" charset="0"/>
                <a:cs typeface="Times New Roman" panose="02020603050405020304" pitchFamily="18" charset="0"/>
              </a:rPr>
              <a:t>recorded whenever necessary to ensure</a:t>
            </a:r>
            <a:r>
              <a:rPr lang="en-IN" sz="2400" b="0" i="0" dirty="0">
                <a:solidFill>
                  <a:srgbClr val="202124"/>
                </a:solidFill>
                <a:effectLst/>
                <a:latin typeface="Times New Roman" panose="02020603050405020304" pitchFamily="18" charset="0"/>
                <a:cs typeface="Times New Roman" panose="02020603050405020304" pitchFamily="18" charset="0"/>
              </a:rPr>
              <a:t> that the correct speed of sound in seawater is utilized for the calibrations of the geophysical and bathymetric instruments.</a:t>
            </a:r>
            <a:endParaRPr lang="en-IN" sz="2400" b="1" u="sng" dirty="0">
              <a:solidFill>
                <a:schemeClr val="tx1"/>
              </a:solidFill>
              <a:latin typeface="Times New Roman" panose="02020603050405020304" pitchFamily="18" charset="0"/>
              <a:cs typeface="Times New Roman" panose="02020603050405020304" pitchFamily="18" charset="0"/>
            </a:endParaRPr>
          </a:p>
          <a:p>
            <a:pPr algn="just"/>
            <a:endParaRPr lang="en-IN" sz="2400" b="1" u="sng" dirty="0">
              <a:solidFill>
                <a:schemeClr val="tx1"/>
              </a:solidFill>
              <a:latin typeface="Times New Roman" panose="02020603050405020304" pitchFamily="18" charset="0"/>
              <a:cs typeface="Times New Roman" panose="02020603050405020304" pitchFamily="18" charset="0"/>
            </a:endParaRPr>
          </a:p>
          <a:p>
            <a:pPr algn="just"/>
            <a:endParaRPr lang="en-IN" sz="2400" b="1" u="sng" dirty="0">
              <a:solidFill>
                <a:schemeClr val="tx1"/>
              </a:solidFill>
              <a:latin typeface="Times New Roman" panose="02020603050405020304" pitchFamily="18" charset="0"/>
              <a:cs typeface="Times New Roman" panose="02020603050405020304" pitchFamily="18" charset="0"/>
            </a:endParaRPr>
          </a:p>
          <a:p>
            <a:pPr algn="just"/>
            <a:endParaRPr lang="en-IN" sz="2400" b="1" u="sng" dirty="0">
              <a:solidFill>
                <a:schemeClr val="tx1"/>
              </a:solidFill>
              <a:latin typeface="Times New Roman" panose="02020603050405020304" pitchFamily="18" charset="0"/>
              <a:cs typeface="Times New Roman" panose="02020603050405020304" pitchFamily="18" charset="0"/>
            </a:endParaRPr>
          </a:p>
          <a:p>
            <a:pPr algn="just"/>
            <a:endParaRPr lang="en-IN" sz="2400" b="1" u="sng" dirty="0">
              <a:solidFill>
                <a:schemeClr val="tx1"/>
              </a:solidFill>
              <a:latin typeface="Times New Roman" panose="02020603050405020304" pitchFamily="18" charset="0"/>
              <a:cs typeface="Times New Roman" panose="02020603050405020304" pitchFamily="18" charset="0"/>
            </a:endParaRPr>
          </a:p>
          <a:p>
            <a:pPr algn="just"/>
            <a:endParaRPr lang="en-IN" sz="2400" b="1" u="sng" dirty="0">
              <a:solidFill>
                <a:schemeClr val="tx1"/>
              </a:solidFill>
              <a:latin typeface="Times New Roman" panose="02020603050405020304" pitchFamily="18" charset="0"/>
              <a:cs typeface="Times New Roman" panose="02020603050405020304" pitchFamily="18" charset="0"/>
            </a:endParaRPr>
          </a:p>
          <a:p>
            <a:pPr algn="just"/>
            <a:endParaRPr lang="en-IN" sz="2400" b="1" u="sng" dirty="0">
              <a:solidFill>
                <a:schemeClr val="tx1"/>
              </a:solidFill>
              <a:latin typeface="Times New Roman" panose="02020603050405020304" pitchFamily="18" charset="0"/>
              <a:cs typeface="Times New Roman" panose="02020603050405020304" pitchFamily="18" charset="0"/>
            </a:endParaRPr>
          </a:p>
          <a:p>
            <a:pPr algn="just"/>
            <a:endParaRPr lang="en-IN" sz="2400" dirty="0">
              <a:solidFill>
                <a:schemeClr val="tx1"/>
              </a:solidFill>
              <a:latin typeface="Times New Roman" panose="02020603050405020304" pitchFamily="18" charset="0"/>
              <a:cs typeface="Times New Roman" panose="02020603050405020304" pitchFamily="18" charset="0"/>
            </a:endParaRPr>
          </a:p>
          <a:p>
            <a:pPr algn="just"/>
            <a:endParaRPr lang="en-IN" sz="2400" dirty="0">
              <a:solidFill>
                <a:schemeClr val="tx1"/>
              </a:solidFill>
              <a:latin typeface="Times New Roman" panose="02020603050405020304" pitchFamily="18" charset="0"/>
              <a:cs typeface="Times New Roman" panose="02020603050405020304" pitchFamily="18" charset="0"/>
            </a:endParaRPr>
          </a:p>
          <a:p>
            <a:pPr algn="just"/>
            <a:endParaRPr lang="en-IN" sz="2400" dirty="0">
              <a:solidFill>
                <a:schemeClr val="tx1"/>
              </a:solidFill>
              <a:latin typeface="Times New Roman" panose="02020603050405020304" pitchFamily="18" charset="0"/>
              <a:cs typeface="Times New Roman" panose="02020603050405020304" pitchFamily="18" charset="0"/>
            </a:endParaRPr>
          </a:p>
          <a:p>
            <a:pPr algn="just"/>
            <a:endParaRPr lang="en-IN" sz="2400" dirty="0">
              <a:solidFill>
                <a:schemeClr val="tx1"/>
              </a:solidFill>
              <a:latin typeface="Times New Roman" panose="02020603050405020304" pitchFamily="18" charset="0"/>
              <a:cs typeface="Times New Roman" panose="02020603050405020304" pitchFamily="18" charset="0"/>
            </a:endParaRPr>
          </a:p>
          <a:p>
            <a:pPr algn="just"/>
            <a:endParaRPr lang="en-IN" sz="2400" dirty="0">
              <a:solidFill>
                <a:schemeClr val="tx1"/>
              </a:solidFill>
              <a:latin typeface="Times New Roman" panose="02020603050405020304" pitchFamily="18" charset="0"/>
              <a:cs typeface="Times New Roman" panose="02020603050405020304" pitchFamily="18" charset="0"/>
            </a:endParaRPr>
          </a:p>
          <a:p>
            <a:pPr algn="just"/>
            <a:endParaRPr lang="en-IN" sz="2400" dirty="0">
              <a:solidFill>
                <a:schemeClr val="tx1"/>
              </a:solidFill>
              <a:latin typeface="Times New Roman" panose="02020603050405020304" pitchFamily="18" charset="0"/>
              <a:cs typeface="Times New Roman" panose="02020603050405020304" pitchFamily="18" charset="0"/>
            </a:endParaRPr>
          </a:p>
          <a:p>
            <a:pPr algn="just"/>
            <a:endParaRPr lang="en-IN" sz="2400" dirty="0">
              <a:solidFill>
                <a:schemeClr val="tx1"/>
              </a:solidFill>
              <a:latin typeface="Times New Roman" panose="02020603050405020304" pitchFamily="18" charset="0"/>
              <a:cs typeface="Times New Roman" panose="02020603050405020304" pitchFamily="18" charset="0"/>
            </a:endParaRPr>
          </a:p>
          <a:p>
            <a:pPr algn="just"/>
            <a:endParaRPr lang="en-IN" sz="2400" dirty="0">
              <a:solidFill>
                <a:schemeClr val="tx1"/>
              </a:solidFill>
              <a:latin typeface="Times New Roman" panose="02020603050405020304" pitchFamily="18" charset="0"/>
              <a:cs typeface="Times New Roman" panose="02020603050405020304" pitchFamily="18" charset="0"/>
            </a:endParaRPr>
          </a:p>
          <a:p>
            <a:pPr algn="just"/>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23" name="Rounded Rectangle 22"/>
          <p:cNvSpPr/>
          <p:nvPr/>
        </p:nvSpPr>
        <p:spPr>
          <a:xfrm>
            <a:off x="1819556" y="23032107"/>
            <a:ext cx="6210816" cy="581660"/>
          </a:xfrm>
          <a:prstGeom prst="round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4400" dirty="0">
                <a:latin typeface="Times New Roman" panose="02020603050405020304" pitchFamily="18" charset="0"/>
                <a:cs typeface="Times New Roman" panose="02020603050405020304" pitchFamily="18" charset="0"/>
              </a:rPr>
              <a:t>Results</a:t>
            </a:r>
          </a:p>
        </p:txBody>
      </p:sp>
      <p:sp>
        <p:nvSpPr>
          <p:cNvPr id="3" name="TextBox 2">
            <a:extLst>
              <a:ext uri="{FF2B5EF4-FFF2-40B4-BE49-F238E27FC236}">
                <a16:creationId xmlns:a16="http://schemas.microsoft.com/office/drawing/2014/main" id="{926C7247-C33B-47E5-89A5-09F21B3D8D3C}"/>
              </a:ext>
            </a:extLst>
          </p:cNvPr>
          <p:cNvSpPr txBox="1"/>
          <p:nvPr/>
        </p:nvSpPr>
        <p:spPr>
          <a:xfrm>
            <a:off x="1489566" y="39873740"/>
            <a:ext cx="26479595" cy="5940088"/>
          </a:xfrm>
          <a:prstGeom prst="rect">
            <a:avLst/>
          </a:prstGeom>
          <a:noFill/>
        </p:spPr>
        <p:txBody>
          <a:bodyPr wrap="square" rtlCol="0">
            <a:spAutoFit/>
          </a:bodyPr>
          <a:lstStyle/>
          <a:p>
            <a:r>
              <a:rPr lang="en-US" sz="6000" b="1" dirty="0"/>
              <a:t>Student                                                                                   Instructor                     </a:t>
            </a:r>
            <a:r>
              <a:rPr lang="en-US" sz="6000" dirty="0"/>
              <a:t>SHIKKHA SOOD                                                                      </a:t>
            </a:r>
            <a:r>
              <a:rPr lang="en-US" sz="8000" b="1" dirty="0"/>
              <a:t>Mr. Faisal Shameem</a:t>
            </a:r>
          </a:p>
          <a:p>
            <a:r>
              <a:rPr lang="en-US" sz="6000" i="1" dirty="0"/>
              <a:t>                          </a:t>
            </a:r>
          </a:p>
          <a:p>
            <a:endParaRPr lang="en-US" sz="6000" i="1" dirty="0"/>
          </a:p>
          <a:p>
            <a:endParaRPr lang="en-US" sz="6000" dirty="0"/>
          </a:p>
          <a:p>
            <a:endParaRPr lang="en-US" sz="6000" dirty="0"/>
          </a:p>
        </p:txBody>
      </p:sp>
      <p:sp>
        <p:nvSpPr>
          <p:cNvPr id="9" name="TextBox 8">
            <a:extLst>
              <a:ext uri="{FF2B5EF4-FFF2-40B4-BE49-F238E27FC236}">
                <a16:creationId xmlns:a16="http://schemas.microsoft.com/office/drawing/2014/main" id="{FAAC1B69-6245-4A1F-951A-9268473F7BC7}"/>
              </a:ext>
            </a:extLst>
          </p:cNvPr>
          <p:cNvSpPr txBox="1"/>
          <p:nvPr/>
        </p:nvSpPr>
        <p:spPr>
          <a:xfrm>
            <a:off x="2248039" y="4069373"/>
            <a:ext cx="24703148" cy="1015663"/>
          </a:xfrm>
          <a:prstGeom prst="rect">
            <a:avLst/>
          </a:prstGeom>
          <a:noFill/>
        </p:spPr>
        <p:txBody>
          <a:bodyPr wrap="square" rtlCol="0">
            <a:spAutoFit/>
          </a:bodyPr>
          <a:lstStyle/>
          <a:p>
            <a:pPr algn="ctr"/>
            <a:r>
              <a:rPr lang="en-US" sz="6000" dirty="0"/>
              <a:t>Topic: </a:t>
            </a:r>
            <a:r>
              <a:rPr lang="en-IN" sz="6000" b="1" dirty="0"/>
              <a:t> </a:t>
            </a:r>
            <a:r>
              <a:rPr lang="en-IN" sz="6000" b="1" u="sng" dirty="0"/>
              <a:t>Verification of Laminar and validation of Turbulent pipe flows </a:t>
            </a:r>
            <a:endParaRPr lang="en-US" sz="6000" dirty="0"/>
          </a:p>
        </p:txBody>
      </p:sp>
      <p:sp>
        <p:nvSpPr>
          <p:cNvPr id="10" name="TextBox 9">
            <a:extLst>
              <a:ext uri="{FF2B5EF4-FFF2-40B4-BE49-F238E27FC236}">
                <a16:creationId xmlns:a16="http://schemas.microsoft.com/office/drawing/2014/main" id="{0D18AC2A-6E67-45E9-B434-15FA549192E7}"/>
              </a:ext>
            </a:extLst>
          </p:cNvPr>
          <p:cNvSpPr txBox="1"/>
          <p:nvPr/>
        </p:nvSpPr>
        <p:spPr>
          <a:xfrm>
            <a:off x="2248039" y="38450520"/>
            <a:ext cx="24990825" cy="1015663"/>
          </a:xfrm>
          <a:prstGeom prst="rect">
            <a:avLst/>
          </a:prstGeom>
          <a:noFill/>
        </p:spPr>
        <p:txBody>
          <a:bodyPr wrap="square" rtlCol="0">
            <a:spAutoFit/>
          </a:bodyPr>
          <a:lstStyle/>
          <a:p>
            <a:pPr algn="ctr"/>
            <a:r>
              <a:rPr lang="en-US" sz="6000" b="1" dirty="0"/>
              <a:t>Dept. of Mechanical Eng., Galgotias University  </a:t>
            </a:r>
          </a:p>
        </p:txBody>
      </p:sp>
      <p:sp>
        <p:nvSpPr>
          <p:cNvPr id="32" name="Rounded Rectangle 31"/>
          <p:cNvSpPr/>
          <p:nvPr/>
        </p:nvSpPr>
        <p:spPr>
          <a:xfrm>
            <a:off x="14291020" y="23265192"/>
            <a:ext cx="12108087" cy="6385616"/>
          </a:xfrm>
          <a:prstGeom prst="round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u="sng" dirty="0">
                <a:solidFill>
                  <a:schemeClr val="tx1"/>
                </a:solidFill>
                <a:latin typeface="Times New Roman" panose="02020603050405020304" pitchFamily="18" charset="0"/>
                <a:cs typeface="Times New Roman" panose="02020603050405020304" pitchFamily="18" charset="0"/>
              </a:rPr>
              <a:t>Residuals- </a:t>
            </a:r>
            <a:r>
              <a:rPr lang="en-IN" sz="2400" b="0" i="0" dirty="0">
                <a:solidFill>
                  <a:srgbClr val="202124"/>
                </a:solidFill>
                <a:effectLst/>
                <a:latin typeface="Times New Roman" panose="02020603050405020304" pitchFamily="18" charset="0"/>
                <a:cs typeface="Times New Roman" panose="02020603050405020304" pitchFamily="18" charset="0"/>
              </a:rPr>
              <a:t>Residuals in a statistical or machine learning model are </a:t>
            </a:r>
            <a:r>
              <a:rPr lang="en-IN" sz="2400" b="1" i="0" dirty="0">
                <a:solidFill>
                  <a:srgbClr val="202124"/>
                </a:solidFill>
                <a:effectLst/>
                <a:latin typeface="Times New Roman" panose="02020603050405020304" pitchFamily="18" charset="0"/>
                <a:cs typeface="Times New Roman" panose="02020603050405020304" pitchFamily="18" charset="0"/>
              </a:rPr>
              <a:t>the differences between observed and predicted values of data</a:t>
            </a:r>
            <a:r>
              <a:rPr lang="en-IN" sz="2400" b="0" i="0" dirty="0">
                <a:solidFill>
                  <a:srgbClr val="202124"/>
                </a:solidFill>
                <a:effectLst/>
                <a:latin typeface="Times New Roman" panose="02020603050405020304" pitchFamily="18" charset="0"/>
                <a:cs typeface="Times New Roman" panose="02020603050405020304" pitchFamily="18" charset="0"/>
              </a:rPr>
              <a:t>.</a:t>
            </a:r>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25" name="Rounded Rectangle 24"/>
          <p:cNvSpPr/>
          <p:nvPr/>
        </p:nvSpPr>
        <p:spPr>
          <a:xfrm>
            <a:off x="15596040" y="22947752"/>
            <a:ext cx="9081612" cy="63488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4800" dirty="0">
                <a:solidFill>
                  <a:schemeClr val="tx1"/>
                </a:solidFill>
                <a:latin typeface="Times New Roman" panose="02020603050405020304" pitchFamily="18" charset="0"/>
                <a:cs typeface="Times New Roman" panose="02020603050405020304" pitchFamily="18" charset="0"/>
              </a:rPr>
              <a:t>Results</a:t>
            </a:r>
          </a:p>
        </p:txBody>
      </p:sp>
      <p:pic>
        <p:nvPicPr>
          <p:cNvPr id="27" name="Picture 26">
            <a:extLst>
              <a:ext uri="{FF2B5EF4-FFF2-40B4-BE49-F238E27FC236}">
                <a16:creationId xmlns:a16="http://schemas.microsoft.com/office/drawing/2014/main" id="{FA5DDF2E-1881-4E00-A340-A562AEE71660}"/>
              </a:ext>
            </a:extLst>
          </p:cNvPr>
          <p:cNvPicPr>
            <a:picLocks noChangeAspect="1"/>
          </p:cNvPicPr>
          <p:nvPr/>
        </p:nvPicPr>
        <p:blipFill>
          <a:blip r:embed="rId3"/>
          <a:stretch>
            <a:fillRect/>
          </a:stretch>
        </p:blipFill>
        <p:spPr>
          <a:xfrm>
            <a:off x="16459200" y="18324042"/>
            <a:ext cx="9939907" cy="3551199"/>
          </a:xfrm>
          <a:prstGeom prst="rect">
            <a:avLst/>
          </a:prstGeom>
        </p:spPr>
      </p:pic>
      <p:pic>
        <p:nvPicPr>
          <p:cNvPr id="30" name="Picture 29">
            <a:extLst>
              <a:ext uri="{FF2B5EF4-FFF2-40B4-BE49-F238E27FC236}">
                <a16:creationId xmlns:a16="http://schemas.microsoft.com/office/drawing/2014/main" id="{B77C3D33-E6AD-4098-85E0-11E01CE8696D}"/>
              </a:ext>
            </a:extLst>
          </p:cNvPr>
          <p:cNvPicPr>
            <a:picLocks noChangeAspect="1"/>
          </p:cNvPicPr>
          <p:nvPr/>
        </p:nvPicPr>
        <p:blipFill>
          <a:blip r:embed="rId4"/>
          <a:stretch>
            <a:fillRect/>
          </a:stretch>
        </p:blipFill>
        <p:spPr>
          <a:xfrm>
            <a:off x="1369112" y="32975028"/>
            <a:ext cx="5273497" cy="4541768"/>
          </a:xfrm>
          <a:prstGeom prst="rect">
            <a:avLst/>
          </a:prstGeom>
        </p:spPr>
      </p:pic>
      <p:pic>
        <p:nvPicPr>
          <p:cNvPr id="31" name="Picture 30">
            <a:extLst>
              <a:ext uri="{FF2B5EF4-FFF2-40B4-BE49-F238E27FC236}">
                <a16:creationId xmlns:a16="http://schemas.microsoft.com/office/drawing/2014/main" id="{92A483DC-2B0A-4918-A692-2B205AB1DBBA}"/>
              </a:ext>
            </a:extLst>
          </p:cNvPr>
          <p:cNvPicPr>
            <a:picLocks noChangeAspect="1"/>
          </p:cNvPicPr>
          <p:nvPr/>
        </p:nvPicPr>
        <p:blipFill>
          <a:blip r:embed="rId5"/>
          <a:stretch>
            <a:fillRect/>
          </a:stretch>
        </p:blipFill>
        <p:spPr>
          <a:xfrm>
            <a:off x="7082057" y="32975028"/>
            <a:ext cx="5273497" cy="4541768"/>
          </a:xfrm>
          <a:prstGeom prst="rect">
            <a:avLst/>
          </a:prstGeom>
        </p:spPr>
      </p:pic>
      <p:pic>
        <p:nvPicPr>
          <p:cNvPr id="34" name="Picture 33">
            <a:extLst>
              <a:ext uri="{FF2B5EF4-FFF2-40B4-BE49-F238E27FC236}">
                <a16:creationId xmlns:a16="http://schemas.microsoft.com/office/drawing/2014/main" id="{2140E236-319B-449D-A57A-4BAF6F352C12}"/>
              </a:ext>
            </a:extLst>
          </p:cNvPr>
          <p:cNvPicPr>
            <a:picLocks noChangeAspect="1"/>
          </p:cNvPicPr>
          <p:nvPr/>
        </p:nvPicPr>
        <p:blipFill>
          <a:blip r:embed="rId6"/>
          <a:stretch>
            <a:fillRect/>
          </a:stretch>
        </p:blipFill>
        <p:spPr>
          <a:xfrm>
            <a:off x="1525126" y="25345449"/>
            <a:ext cx="4557114" cy="4167220"/>
          </a:xfrm>
          <a:prstGeom prst="rect">
            <a:avLst/>
          </a:prstGeom>
        </p:spPr>
      </p:pic>
      <p:pic>
        <p:nvPicPr>
          <p:cNvPr id="35" name="Picture 34">
            <a:extLst>
              <a:ext uri="{FF2B5EF4-FFF2-40B4-BE49-F238E27FC236}">
                <a16:creationId xmlns:a16="http://schemas.microsoft.com/office/drawing/2014/main" id="{613BC0CD-BDA5-4A70-A078-B326856E0A62}"/>
              </a:ext>
            </a:extLst>
          </p:cNvPr>
          <p:cNvPicPr>
            <a:picLocks noChangeAspect="1"/>
          </p:cNvPicPr>
          <p:nvPr/>
        </p:nvPicPr>
        <p:blipFill>
          <a:blip r:embed="rId7"/>
          <a:stretch>
            <a:fillRect/>
          </a:stretch>
        </p:blipFill>
        <p:spPr>
          <a:xfrm>
            <a:off x="6375268" y="25345449"/>
            <a:ext cx="5300477" cy="4167220"/>
          </a:xfrm>
          <a:prstGeom prst="rect">
            <a:avLst/>
          </a:prstGeom>
        </p:spPr>
      </p:pic>
      <p:pic>
        <p:nvPicPr>
          <p:cNvPr id="37" name="Picture 36">
            <a:extLst>
              <a:ext uri="{FF2B5EF4-FFF2-40B4-BE49-F238E27FC236}">
                <a16:creationId xmlns:a16="http://schemas.microsoft.com/office/drawing/2014/main" id="{D2974220-0CA2-4D96-8BD7-C9F1CA6207E2}"/>
              </a:ext>
            </a:extLst>
          </p:cNvPr>
          <p:cNvPicPr>
            <a:picLocks noChangeAspect="1"/>
          </p:cNvPicPr>
          <p:nvPr/>
        </p:nvPicPr>
        <p:blipFill>
          <a:blip r:embed="rId8"/>
          <a:stretch>
            <a:fillRect/>
          </a:stretch>
        </p:blipFill>
        <p:spPr>
          <a:xfrm>
            <a:off x="15158458" y="25529034"/>
            <a:ext cx="10653766" cy="3396486"/>
          </a:xfrm>
          <a:prstGeom prst="rect">
            <a:avLst/>
          </a:prstGeom>
        </p:spPr>
      </p:pic>
      <p:sp>
        <p:nvSpPr>
          <p:cNvPr id="36" name="Rounded Rectangle 13">
            <a:extLst>
              <a:ext uri="{FF2B5EF4-FFF2-40B4-BE49-F238E27FC236}">
                <a16:creationId xmlns:a16="http://schemas.microsoft.com/office/drawing/2014/main" id="{1C296BF2-C3CA-46D8-8F87-9E757CF2100E}"/>
              </a:ext>
            </a:extLst>
          </p:cNvPr>
          <p:cNvSpPr/>
          <p:nvPr/>
        </p:nvSpPr>
        <p:spPr>
          <a:xfrm>
            <a:off x="572477" y="15372424"/>
            <a:ext cx="13906100" cy="650880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Purpose is to simulate steady laminar and turbulent pipe flow following the “CFD Process” by an interactive step-by-step approach. We are using ANSYS to compute axial velocity profile, centreline velocity, centreline pressure, and friction factor. we will conduct verification studies for friction factor and axial velocity profile of laminar pipe flows, including iterative error and grid uncertainties and effect of refinement ratio on verification. Students will validate turbulent pipe flow simulation using EFD data, analyse the differences between laminar and turbulent flows, and present results in CFD Lab report.</a:t>
            </a:r>
          </a:p>
          <a:p>
            <a:pPr algn="just"/>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
        <p:nvSpPr>
          <p:cNvPr id="40" name="Rounded Rectangle 17">
            <a:extLst>
              <a:ext uri="{FF2B5EF4-FFF2-40B4-BE49-F238E27FC236}">
                <a16:creationId xmlns:a16="http://schemas.microsoft.com/office/drawing/2014/main" id="{62A9ECF9-A0A8-47AE-BD69-4807F913898B}"/>
              </a:ext>
            </a:extLst>
          </p:cNvPr>
          <p:cNvSpPr/>
          <p:nvPr/>
        </p:nvSpPr>
        <p:spPr>
          <a:xfrm>
            <a:off x="15910876" y="6794856"/>
            <a:ext cx="11327987" cy="7142595"/>
          </a:xfrm>
          <a:prstGeom prst="roundRect">
            <a:avLst/>
          </a:prstGeom>
          <a:solidFill>
            <a:srgbClr val="F8E9B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IN" sz="2400" dirty="0">
              <a:solidFill>
                <a:schemeClr val="tx1"/>
              </a:solidFill>
              <a:latin typeface="Times New Roman" panose="02020603050405020304" pitchFamily="18" charset="0"/>
              <a:cs typeface="Times New Roman" panose="02020603050405020304" pitchFamily="18" charset="0"/>
            </a:endParaRPr>
          </a:p>
          <a:p>
            <a:pPr algn="just"/>
            <a:r>
              <a:rPr lang="en-IN" sz="2400" dirty="0">
                <a:solidFill>
                  <a:schemeClr val="tx1"/>
                </a:solidFill>
                <a:latin typeface="Times New Roman" panose="02020603050405020304" pitchFamily="18" charset="0"/>
                <a:cs typeface="Times New Roman" panose="02020603050405020304" pitchFamily="18" charset="0"/>
              </a:rPr>
              <a:t>The following figure shows the sketch window you will see in ANSYS with definitions for all geometry parameters. The Ahmed body with geometry dimension in figure below.</a:t>
            </a:r>
          </a:p>
          <a:p>
            <a:pPr algn="just"/>
            <a:endParaRPr lang="en-IN" sz="2400" dirty="0">
              <a:solidFill>
                <a:schemeClr val="tx1"/>
              </a:solidFill>
              <a:latin typeface="Times New Roman" panose="02020603050405020304" pitchFamily="18" charset="0"/>
              <a:cs typeface="Times New Roman" panose="02020603050405020304" pitchFamily="18" charset="0"/>
            </a:endParaRPr>
          </a:p>
          <a:p>
            <a:pPr algn="just"/>
            <a:endParaRPr lang="en-IN" sz="2400" dirty="0">
              <a:solidFill>
                <a:schemeClr val="tx1"/>
              </a:solidFill>
              <a:latin typeface="Times New Roman" panose="02020603050405020304" pitchFamily="18" charset="0"/>
              <a:cs typeface="Times New Roman" panose="02020603050405020304" pitchFamily="18" charset="0"/>
            </a:endParaRPr>
          </a:p>
          <a:p>
            <a:pPr algn="just"/>
            <a:endParaRPr lang="en-IN" sz="2400" dirty="0">
              <a:solidFill>
                <a:schemeClr val="tx1"/>
              </a:solidFill>
              <a:latin typeface="Times New Roman" panose="02020603050405020304" pitchFamily="18" charset="0"/>
              <a:cs typeface="Times New Roman" panose="02020603050405020304" pitchFamily="18" charset="0"/>
            </a:endParaRPr>
          </a:p>
          <a:p>
            <a:pPr algn="just"/>
            <a:endParaRPr lang="en-IN" sz="2400" dirty="0">
              <a:solidFill>
                <a:schemeClr val="tx1"/>
              </a:solidFill>
              <a:latin typeface="Times New Roman" panose="02020603050405020304" pitchFamily="18" charset="0"/>
              <a:cs typeface="Times New Roman" panose="02020603050405020304" pitchFamily="18" charset="0"/>
            </a:endParaRPr>
          </a:p>
          <a:p>
            <a:pPr algn="just"/>
            <a:endParaRPr lang="en-IN" sz="2400" dirty="0">
              <a:solidFill>
                <a:schemeClr val="tx1"/>
              </a:solidFill>
              <a:latin typeface="Times New Roman" panose="02020603050405020304" pitchFamily="18" charset="0"/>
              <a:cs typeface="Times New Roman" panose="02020603050405020304" pitchFamily="18" charset="0"/>
            </a:endParaRPr>
          </a:p>
          <a:p>
            <a:pPr algn="just"/>
            <a:endParaRPr lang="en-IN" sz="2400" dirty="0">
              <a:solidFill>
                <a:schemeClr val="tx1"/>
              </a:solidFill>
              <a:latin typeface="Times New Roman" panose="02020603050405020304" pitchFamily="18" charset="0"/>
              <a:cs typeface="Times New Roman" panose="02020603050405020304" pitchFamily="18" charset="0"/>
            </a:endParaRPr>
          </a:p>
          <a:p>
            <a:pPr algn="just"/>
            <a:endParaRPr lang="en-IN" sz="2400" dirty="0">
              <a:solidFill>
                <a:schemeClr val="tx1"/>
              </a:solidFill>
              <a:latin typeface="Times New Roman" panose="02020603050405020304" pitchFamily="18" charset="0"/>
              <a:cs typeface="Times New Roman" panose="02020603050405020304" pitchFamily="18" charset="0"/>
            </a:endParaRPr>
          </a:p>
          <a:p>
            <a:pPr algn="just"/>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41" name="Rounded Rectangle 18">
            <a:extLst>
              <a:ext uri="{FF2B5EF4-FFF2-40B4-BE49-F238E27FC236}">
                <a16:creationId xmlns:a16="http://schemas.microsoft.com/office/drawing/2014/main" id="{57581B40-D70B-4153-F570-D46571A08FB3}"/>
              </a:ext>
            </a:extLst>
          </p:cNvPr>
          <p:cNvSpPr/>
          <p:nvPr/>
        </p:nvSpPr>
        <p:spPr>
          <a:xfrm>
            <a:off x="16926366" y="6331173"/>
            <a:ext cx="5145689" cy="66941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latin typeface="Times New Roman" panose="02020603050405020304" pitchFamily="18" charset="0"/>
                <a:cs typeface="Times New Roman" panose="02020603050405020304" pitchFamily="18" charset="0"/>
              </a:rPr>
              <a:t>Simulation Design  </a:t>
            </a:r>
            <a:endParaRPr lang="en-IN" sz="4000" dirty="0"/>
          </a:p>
        </p:txBody>
      </p:sp>
      <p:pic>
        <p:nvPicPr>
          <p:cNvPr id="42" name="Picture 41">
            <a:extLst>
              <a:ext uri="{FF2B5EF4-FFF2-40B4-BE49-F238E27FC236}">
                <a16:creationId xmlns:a16="http://schemas.microsoft.com/office/drawing/2014/main" id="{0DCD7FE0-F519-88A0-2A94-E15A1CE905FE}"/>
              </a:ext>
            </a:extLst>
          </p:cNvPr>
          <p:cNvPicPr>
            <a:picLocks noChangeAspect="1"/>
          </p:cNvPicPr>
          <p:nvPr/>
        </p:nvPicPr>
        <p:blipFill>
          <a:blip r:embed="rId9"/>
          <a:stretch>
            <a:fillRect/>
          </a:stretch>
        </p:blipFill>
        <p:spPr>
          <a:xfrm>
            <a:off x="17727199" y="9660747"/>
            <a:ext cx="7924800" cy="3936332"/>
          </a:xfrm>
          <a:prstGeom prst="rect">
            <a:avLst/>
          </a:prstGeom>
        </p:spPr>
      </p:pic>
      <p:sp>
        <p:nvSpPr>
          <p:cNvPr id="43" name="Rounded Rectangle 11">
            <a:extLst>
              <a:ext uri="{FF2B5EF4-FFF2-40B4-BE49-F238E27FC236}">
                <a16:creationId xmlns:a16="http://schemas.microsoft.com/office/drawing/2014/main" id="{1205C5BB-0550-A00E-2779-28929B88B455}"/>
              </a:ext>
            </a:extLst>
          </p:cNvPr>
          <p:cNvSpPr/>
          <p:nvPr/>
        </p:nvSpPr>
        <p:spPr>
          <a:xfrm>
            <a:off x="14478577" y="31131179"/>
            <a:ext cx="12304522" cy="6385617"/>
          </a:xfrm>
          <a:prstGeom prst="roundRect">
            <a:avLst/>
          </a:prstGeom>
          <a:solidFill>
            <a:srgbClr val="EA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r>
              <a:rPr lang="en-IN" sz="2400" b="1" u="sng" dirty="0">
                <a:solidFill>
                  <a:schemeClr val="tx1"/>
                </a:solidFill>
                <a:latin typeface="Times New Roman" panose="02020603050405020304" pitchFamily="18" charset="0"/>
                <a:cs typeface="Times New Roman" panose="02020603050405020304" pitchFamily="18" charset="0"/>
              </a:rPr>
              <a:t>Velocity Contours</a:t>
            </a:r>
            <a:r>
              <a:rPr lang="en-IN" sz="2400" dirty="0">
                <a:solidFill>
                  <a:schemeClr val="tx1"/>
                </a:solidFill>
                <a:latin typeface="Times New Roman" panose="02020603050405020304" pitchFamily="18" charset="0"/>
                <a:cs typeface="Times New Roman" panose="02020603050405020304" pitchFamily="18" charset="0"/>
              </a:rPr>
              <a:t>:-</a:t>
            </a:r>
            <a:r>
              <a:rPr lang="en-IN" sz="2400" i="0" dirty="0">
                <a:solidFill>
                  <a:schemeClr val="tx1"/>
                </a:solidFill>
                <a:effectLst/>
                <a:latin typeface="Times New Roman" panose="02020603050405020304" pitchFamily="18" charset="0"/>
                <a:cs typeface="Times New Roman" panose="02020603050405020304" pitchFamily="18" charset="0"/>
              </a:rPr>
              <a:t>A method of measuring stream discharge in which point velocity measurements are translated into average cross-sectional flow velocities by contouring the point velocities; these averages are then multiplied by the areas of the cross sections to give the discharge.</a:t>
            </a:r>
            <a:endParaRPr lang="en-IN" sz="2400" dirty="0">
              <a:solidFill>
                <a:schemeClr val="tx1"/>
              </a:solidFill>
              <a:latin typeface="Times New Roman" panose="02020603050405020304" pitchFamily="18" charset="0"/>
              <a:cs typeface="Times New Roman" panose="02020603050405020304" pitchFamily="18" charset="0"/>
            </a:endParaRPr>
          </a:p>
          <a:p>
            <a:endParaRPr lang="en-IN" sz="2400" dirty="0">
              <a:solidFill>
                <a:schemeClr val="tx1"/>
              </a:solidFill>
            </a:endParaRPr>
          </a:p>
          <a:p>
            <a:endParaRPr lang="en-IN" sz="2400" dirty="0">
              <a:solidFill>
                <a:schemeClr val="tx1"/>
              </a:solidFill>
            </a:endParaRPr>
          </a:p>
          <a:p>
            <a:endParaRPr lang="en-IN" sz="2400" dirty="0">
              <a:solidFill>
                <a:schemeClr val="tx1"/>
              </a:solidFill>
            </a:endParaRPr>
          </a:p>
          <a:p>
            <a:endParaRPr lang="en-IN" sz="2400" dirty="0">
              <a:solidFill>
                <a:schemeClr val="tx1"/>
              </a:solidFill>
            </a:endParaRPr>
          </a:p>
          <a:p>
            <a:endParaRPr lang="en-IN" sz="2400" dirty="0">
              <a:solidFill>
                <a:schemeClr val="tx1"/>
              </a:solidFill>
            </a:endParaRPr>
          </a:p>
          <a:p>
            <a:endParaRPr lang="en-IN" sz="2400" dirty="0">
              <a:solidFill>
                <a:schemeClr val="tx1"/>
              </a:solidFill>
            </a:endParaRPr>
          </a:p>
          <a:p>
            <a:endParaRPr lang="en-IN" sz="2400" dirty="0">
              <a:solidFill>
                <a:schemeClr val="tx1"/>
              </a:solidFill>
            </a:endParaRPr>
          </a:p>
          <a:p>
            <a:endParaRPr lang="en-IN" sz="2400" dirty="0">
              <a:solidFill>
                <a:schemeClr val="tx1"/>
              </a:solidFill>
            </a:endParaRPr>
          </a:p>
          <a:p>
            <a:endParaRPr lang="en-IN" sz="2400" dirty="0">
              <a:solidFill>
                <a:schemeClr val="tx1"/>
              </a:solidFill>
            </a:endParaRPr>
          </a:p>
          <a:p>
            <a:endParaRPr lang="en-IN" sz="2400" dirty="0">
              <a:solidFill>
                <a:schemeClr val="tx1"/>
              </a:solidFill>
            </a:endParaRPr>
          </a:p>
          <a:p>
            <a:endParaRPr lang="en-IN" sz="2400" dirty="0">
              <a:solidFill>
                <a:schemeClr val="tx1"/>
              </a:solidFill>
            </a:endParaRPr>
          </a:p>
          <a:p>
            <a:endParaRPr lang="en-IN" sz="2400" dirty="0">
              <a:solidFill>
                <a:schemeClr val="tx1"/>
              </a:solidFill>
            </a:endParaRPr>
          </a:p>
          <a:p>
            <a:endParaRPr lang="en-IN" sz="2400" dirty="0">
              <a:solidFill>
                <a:schemeClr val="tx1"/>
              </a:solidFill>
            </a:endParaRPr>
          </a:p>
          <a:p>
            <a:endParaRPr lang="en-IN" sz="2400" dirty="0">
              <a:solidFill>
                <a:schemeClr val="tx1"/>
              </a:solidFill>
            </a:endParaRPr>
          </a:p>
          <a:p>
            <a:r>
              <a:rPr lang="en-IN" sz="2400" dirty="0">
                <a:solidFill>
                  <a:schemeClr val="tx1"/>
                </a:solidFill>
              </a:rPr>
              <a:t>-</a:t>
            </a:r>
          </a:p>
          <a:p>
            <a:endParaRPr lang="en-IN" sz="2400" dirty="0">
              <a:solidFill>
                <a:schemeClr val="tx1"/>
              </a:solidFill>
            </a:endParaRPr>
          </a:p>
        </p:txBody>
      </p:sp>
      <p:pic>
        <p:nvPicPr>
          <p:cNvPr id="45" name="Picture 44">
            <a:extLst>
              <a:ext uri="{FF2B5EF4-FFF2-40B4-BE49-F238E27FC236}">
                <a16:creationId xmlns:a16="http://schemas.microsoft.com/office/drawing/2014/main" id="{26C7D562-A117-F144-70D2-E95B8C5AD0FE}"/>
              </a:ext>
            </a:extLst>
          </p:cNvPr>
          <p:cNvPicPr>
            <a:picLocks noChangeAspect="1"/>
          </p:cNvPicPr>
          <p:nvPr/>
        </p:nvPicPr>
        <p:blipFill>
          <a:blip r:embed="rId10"/>
          <a:stretch>
            <a:fillRect/>
          </a:stretch>
        </p:blipFill>
        <p:spPr>
          <a:xfrm>
            <a:off x="15010380" y="33760542"/>
            <a:ext cx="5273497" cy="3383380"/>
          </a:xfrm>
          <a:prstGeom prst="rect">
            <a:avLst/>
          </a:prstGeom>
        </p:spPr>
      </p:pic>
      <p:pic>
        <p:nvPicPr>
          <p:cNvPr id="46" name="Picture 45">
            <a:extLst>
              <a:ext uri="{FF2B5EF4-FFF2-40B4-BE49-F238E27FC236}">
                <a16:creationId xmlns:a16="http://schemas.microsoft.com/office/drawing/2014/main" id="{D9203785-FE85-C151-9F34-B1D6407DD1A7}"/>
              </a:ext>
            </a:extLst>
          </p:cNvPr>
          <p:cNvPicPr>
            <a:picLocks noChangeAspect="1"/>
          </p:cNvPicPr>
          <p:nvPr/>
        </p:nvPicPr>
        <p:blipFill>
          <a:blip r:embed="rId11"/>
          <a:stretch>
            <a:fillRect/>
          </a:stretch>
        </p:blipFill>
        <p:spPr>
          <a:xfrm>
            <a:off x="20857854" y="33741260"/>
            <a:ext cx="5273497" cy="3383380"/>
          </a:xfrm>
          <a:prstGeom prst="rect">
            <a:avLst/>
          </a:prstGeom>
        </p:spPr>
      </p:pic>
    </p:spTree>
    <p:extLst>
      <p:ext uri="{BB962C8B-B14F-4D97-AF65-F5344CB8AC3E}">
        <p14:creationId xmlns:p14="http://schemas.microsoft.com/office/powerpoint/2010/main" val="1985454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AB1C6-7381-C66D-888E-EF0D5A0A975E}"/>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ED61A910-54E8-B501-B378-95F78690698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85377577"/>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3023</TotalTime>
  <Words>593</Words>
  <Application>Microsoft Office PowerPoint</Application>
  <PresentationFormat>Custom</PresentationFormat>
  <Paragraphs>98</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Arial</vt:lpstr>
      <vt:lpstr>Calibri</vt:lpstr>
      <vt:lpstr>Calibri Light</vt:lpstr>
      <vt:lpstr>Times New Roman</vt:lpstr>
      <vt:lpstr>Retrospect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Sartaj Anwar Khan</dc:creator>
  <cp:lastModifiedBy>faisal</cp:lastModifiedBy>
  <cp:revision>50</cp:revision>
  <dcterms:created xsi:type="dcterms:W3CDTF">2021-06-08T20:16:13Z</dcterms:created>
  <dcterms:modified xsi:type="dcterms:W3CDTF">2022-06-28T09:41:25Z</dcterms:modified>
</cp:coreProperties>
</file>