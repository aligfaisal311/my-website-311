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56" r:id="rId2"/>
  </p:sldIdLst>
  <p:sldSz cx="28443238" cy="4280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0">
          <p15:clr>
            <a:srgbClr val="A4A3A4"/>
          </p15:clr>
        </p15:guide>
        <p15:guide id="2" pos="8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CC"/>
    <a:srgbClr val="FFFF00"/>
    <a:srgbClr val="FF3399"/>
    <a:srgbClr val="FF00FF"/>
    <a:srgbClr val="F8E9BE"/>
    <a:srgbClr val="ECE6CA"/>
    <a:srgbClr val="EBDBCB"/>
    <a:srgbClr val="D4D4E2"/>
    <a:srgbClr val="E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8" d="100"/>
          <a:sy n="28" d="100"/>
        </p:scale>
        <p:origin x="954" y="18"/>
      </p:cViewPr>
      <p:guideLst>
        <p:guide orient="horz" pos="13480"/>
        <p:guide pos="89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9892" y="4736598"/>
            <a:ext cx="23465671" cy="2225630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24885" spc="-156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6355" y="27807407"/>
            <a:ext cx="23465671" cy="7133431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 algn="ctr">
              <a:buNone/>
              <a:defRPr sz="7465"/>
            </a:lvl2pPr>
            <a:lvl3pPr marL="2844333" indent="0" algn="ctr">
              <a:buNone/>
              <a:defRPr sz="7465"/>
            </a:lvl3pPr>
            <a:lvl4pPr marL="4266499" indent="0" algn="ctr">
              <a:buNone/>
              <a:defRPr sz="6221"/>
            </a:lvl4pPr>
            <a:lvl5pPr marL="5688665" indent="0" algn="ctr">
              <a:buNone/>
              <a:defRPr sz="6221"/>
            </a:lvl5pPr>
            <a:lvl6pPr marL="7110832" indent="0" algn="ctr">
              <a:buNone/>
              <a:defRPr sz="6221"/>
            </a:lvl6pPr>
            <a:lvl7pPr marL="8532998" indent="0" algn="ctr">
              <a:buNone/>
              <a:defRPr sz="6221"/>
            </a:lvl7pPr>
            <a:lvl8pPr marL="9955164" indent="0" algn="ctr">
              <a:buNone/>
              <a:defRPr sz="6221"/>
            </a:lvl8pPr>
            <a:lvl9pPr marL="11377331" indent="0" algn="ctr">
              <a:buNone/>
              <a:defRPr sz="62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60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3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2" y="4736598"/>
            <a:ext cx="23465671" cy="2225630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24885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27791849"/>
            <a:ext cx="23465671" cy="7133431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>
              <a:buNone/>
              <a:defRPr sz="5599">
                <a:solidFill>
                  <a:schemeClr val="tx1">
                    <a:tint val="75000"/>
                  </a:schemeClr>
                </a:solidFill>
              </a:defRPr>
            </a:lvl2pPr>
            <a:lvl3pPr marL="2844333" indent="0">
              <a:buNone/>
              <a:defRPr sz="4977">
                <a:solidFill>
                  <a:schemeClr val="tx1">
                    <a:tint val="75000"/>
                  </a:schemeClr>
                </a:solidFill>
              </a:defRPr>
            </a:lvl3pPr>
            <a:lvl4pPr marL="4266499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4pPr>
            <a:lvl5pPr marL="5688665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5pPr>
            <a:lvl6pPr marL="7110832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6pPr>
            <a:lvl7pPr marL="8532998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7pPr>
            <a:lvl8pPr marL="9955164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8pPr>
            <a:lvl9pPr marL="11377331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55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892" y="11519175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06052" y="11519181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3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989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0605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0605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6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20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" y="0"/>
            <a:ext cx="9450263" cy="42800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425254" y="0"/>
            <a:ext cx="149327" cy="42800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621" y="3709378"/>
            <a:ext cx="7466350" cy="14266863"/>
          </a:xfrm>
        </p:spPr>
        <p:txBody>
          <a:bodyPr anchor="b">
            <a:norm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9525" y="4565396"/>
            <a:ext cx="15146024" cy="32813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621" y="18261584"/>
            <a:ext cx="7466350" cy="2108901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015" y="40315349"/>
            <a:ext cx="6108835" cy="2278735"/>
          </a:xfrm>
        </p:spPr>
        <p:txBody>
          <a:bodyPr/>
          <a:lstStyle>
            <a:lvl1pPr algn="l">
              <a:defRPr/>
            </a:lvl1pPr>
          </a:lstStyle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199525" y="40315349"/>
            <a:ext cx="10843984" cy="227873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73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0911536"/>
            <a:ext cx="28435832" cy="118890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9" y="30674853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1" y="31672435"/>
            <a:ext cx="23594556" cy="5136071"/>
          </a:xfrm>
        </p:spPr>
        <p:txBody>
          <a:bodyPr tIns="0" bIns="0" anchor="b">
            <a:no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" y="0"/>
            <a:ext cx="28443204" cy="30674853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9954"/>
            </a:lvl1pPr>
            <a:lvl2pPr marL="1422166" indent="0">
              <a:buNone/>
              <a:defRPr sz="8710"/>
            </a:lvl2pPr>
            <a:lvl3pPr marL="2844333" indent="0">
              <a:buNone/>
              <a:defRPr sz="7465"/>
            </a:lvl3pPr>
            <a:lvl4pPr marL="4266499" indent="0">
              <a:buNone/>
              <a:defRPr sz="6221"/>
            </a:lvl4pPr>
            <a:lvl5pPr marL="5688665" indent="0">
              <a:buNone/>
              <a:defRPr sz="6221"/>
            </a:lvl5pPr>
            <a:lvl6pPr marL="7110832" indent="0">
              <a:buNone/>
              <a:defRPr sz="6221"/>
            </a:lvl6pPr>
            <a:lvl7pPr marL="8532998" indent="0">
              <a:buNone/>
              <a:defRPr sz="6221"/>
            </a:lvl7pPr>
            <a:lvl8pPr marL="9955164" indent="0">
              <a:buNone/>
              <a:defRPr sz="6221"/>
            </a:lvl8pPr>
            <a:lvl9pPr marL="11377331" indent="0">
              <a:buNone/>
              <a:defRPr sz="62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891" y="36865573"/>
            <a:ext cx="23607888" cy="37093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866"/>
              </a:spcAft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6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8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354694" y="2573165"/>
            <a:ext cx="6133073" cy="359473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5474" y="2573165"/>
            <a:ext cx="18043679" cy="3594736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61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39947215"/>
            <a:ext cx="28443241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" y="39532288"/>
            <a:ext cx="28443241" cy="4118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0" y="11519175"/>
            <a:ext cx="23465674" cy="251096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59896" y="40315349"/>
            <a:ext cx="576766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fld id="{0C972FCD-9765-44CC-9752-E7B11B5CC4F6}" type="datetimeFigureOut">
              <a:rPr lang="en-IN" smtClean="0"/>
              <a:pPr/>
              <a:t>27-06-2022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99661" y="40315349"/>
            <a:ext cx="1125132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097205" y="40315349"/>
            <a:ext cx="3060880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6">
                <a:solidFill>
                  <a:srgbClr val="FFFFFF"/>
                </a:solidFill>
              </a:defRPr>
            </a:lvl1pPr>
          </a:lstStyle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2784442" y="10845842"/>
            <a:ext cx="2325234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2844333" rtl="0" eaLnBrk="1" latinLnBrk="0" hangingPunct="1">
        <a:lnSpc>
          <a:spcPct val="85000"/>
        </a:lnSpc>
        <a:spcBef>
          <a:spcPct val="0"/>
        </a:spcBef>
        <a:buNone/>
        <a:defRPr sz="14931" kern="1200" spc="-156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4433" indent="-284433" algn="l" defTabSz="2844333" rtl="0" eaLnBrk="1" latinLnBrk="0" hangingPunct="1">
        <a:lnSpc>
          <a:spcPct val="90000"/>
        </a:lnSpc>
        <a:spcBef>
          <a:spcPts val="3733"/>
        </a:spcBef>
        <a:spcAft>
          <a:spcPts val="62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622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94620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55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63486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332353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01219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42166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04378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66590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28802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422166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2pPr>
      <a:lvl3pPr marL="2844333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499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4pPr>
      <a:lvl5pPr marL="5688665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5pPr>
      <a:lvl6pPr marL="7110832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6pPr>
      <a:lvl7pPr marL="8532998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7pPr>
      <a:lvl8pPr marL="9955164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8pPr>
      <a:lvl9pPr marL="11377331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11" y="194475"/>
            <a:ext cx="2857500" cy="2857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31264" y="245289"/>
            <a:ext cx="22707600" cy="3403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Computational Fluid Dynamics</a:t>
            </a:r>
          </a:p>
          <a:p>
            <a:pPr algn="ctr"/>
            <a:r>
              <a:rPr lang="en-IN" sz="8800" b="1" dirty="0"/>
              <a:t>Project based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6405" y="6400800"/>
            <a:ext cx="13658992" cy="7924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 Y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the name of a particular airfoil profile, widely used in general purpose aircraft	 designs,	and	much studied in aerodynamics over the years. The profile was designed in 1922 by </a:t>
            </a:r>
            <a:r>
              <a:rPr lang="en-I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Virginius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E. Clark.</a:t>
            </a:r>
          </a:p>
          <a:p>
            <a:pPr algn="just"/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many applications the Clark Y has been an adequate airfoil section, it gives reasonable overall performance in respect of its lift-to-drag ratio. The Clark Y has found favour for the construction of model aircraft, The Clark Y is appealing for its near-flat lower surface, which aids in the construction of wings on plans mounted on a flat construction board.</a:t>
            </a:r>
          </a:p>
          <a:p>
            <a:pPr algn="just"/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</a:p>
          <a:p>
            <a:pPr algn="just"/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Fig. Clark Y Airfoil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8039" y="5943600"/>
            <a:ext cx="363173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006522" y="5780863"/>
            <a:ext cx="8229600" cy="914400"/>
          </a:xfrm>
          <a:prstGeom prst="roundRect">
            <a:avLst/>
          </a:prstGeom>
          <a:solidFill>
            <a:srgbClr val="F8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43192" y="15132050"/>
            <a:ext cx="12288977" cy="7527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Purpose of this project is to simulate turbulent airfoil flows following “CFD process” by an interactive step-by-step approach and to conduct verifications. using ANSYS to conduct verification for lift coefficient and pressure coefficient distributions, and validation for pressure coefficient distribution, including effect of numerical scheme.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8039" y="14605000"/>
            <a:ext cx="5353851" cy="9144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000" dirty="0"/>
          </a:p>
        </p:txBody>
      </p:sp>
      <p:sp>
        <p:nvSpPr>
          <p:cNvPr id="16" name="Rounded Rectangle 15"/>
          <p:cNvSpPr/>
          <p:nvPr/>
        </p:nvSpPr>
        <p:spPr>
          <a:xfrm>
            <a:off x="14865396" y="15041990"/>
            <a:ext cx="11849195" cy="7755890"/>
          </a:xfrm>
          <a:prstGeom prst="roundRect">
            <a:avLst/>
          </a:prstGeom>
          <a:solidFill>
            <a:srgbClr val="D4D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3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Fig. Residual Plots for an Airfoil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06522" y="14598650"/>
            <a:ext cx="8229600" cy="914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9792" y="23615650"/>
            <a:ext cx="11849195" cy="6383034"/>
          </a:xfrm>
          <a:prstGeom prst="roundRect">
            <a:avLst/>
          </a:prstGeom>
          <a:solidFill>
            <a:srgbClr val="F8E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7807" y="30754335"/>
            <a:ext cx="12693163" cy="8032148"/>
          </a:xfrm>
          <a:prstGeom prst="round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to be solved is that of turbulent flows around a Clark-Y airfoil. Reynolds number is 143,000 based on the inlet velocity and airfoil chord length. The figure 1 show the illustrations for C type and O type domains (Note: the figures are not in the exact scale as the true size of the domain and airfoil).</a:t>
            </a:r>
          </a:p>
          <a:p>
            <a:pPr algn="just"/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oundary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conditions for C type of mesh will be “inlet”, “outlet”, “symmetry” and “airfoil”, as described later. Boundary conditions for O type of meshes will be “inlet”, “outlet”, and “airfoil”. Uniform flow was specified at inlet. For outlet, zero gradients are fixed for all velocities and pressure is constant. No- slip boundary condition will be used on the “airfoil”. Symmetric boundary condition will be applied on the “symmetry”.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792" y="30099000"/>
            <a:ext cx="5213978" cy="857349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dirty="0"/>
              <a:t>Simulation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44700" y="23860125"/>
            <a:ext cx="11801475" cy="619436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3600" dirty="0">
                <a:solidFill>
                  <a:schemeClr val="tx1"/>
                </a:solidFill>
              </a:rPr>
              <a:t>Fig. Pressure Coefficient on Airfoil Surface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1789" y="23087497"/>
            <a:ext cx="8229600" cy="914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101991" y="31584314"/>
            <a:ext cx="11849195" cy="59944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endParaRPr lang="en-IN" sz="3600" dirty="0">
              <a:solidFill>
                <a:schemeClr val="tx1"/>
              </a:solidFill>
            </a:endParaRPr>
          </a:p>
          <a:p>
            <a:pPr algn="ctr"/>
            <a:r>
              <a:rPr lang="en-IN" sz="3600" dirty="0">
                <a:solidFill>
                  <a:schemeClr val="tx1"/>
                </a:solidFill>
              </a:rPr>
              <a:t>Fig. Pressure contour across Airfoil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1789" y="30930850"/>
            <a:ext cx="82296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74889" y="13629154"/>
            <a:ext cx="626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Final Setup of car with Rear Spoiler and Vg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C7247-C33B-47E5-89A5-09F21B3D8D3C}"/>
              </a:ext>
            </a:extLst>
          </p:cNvPr>
          <p:cNvSpPr txBox="1"/>
          <p:nvPr/>
        </p:nvSpPr>
        <p:spPr>
          <a:xfrm>
            <a:off x="1489566" y="39873740"/>
            <a:ext cx="2647959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Submitted by-                                                                                 Instructor</a:t>
            </a:r>
          </a:p>
          <a:p>
            <a:r>
              <a:rPr lang="en-US" sz="7200" b="1" dirty="0" err="1"/>
              <a:t>Mohd</a:t>
            </a:r>
            <a:r>
              <a:rPr lang="en-US" sz="7200" b="1" dirty="0"/>
              <a:t>. </a:t>
            </a:r>
            <a:r>
              <a:rPr lang="en-US" sz="7200" b="1" dirty="0" err="1"/>
              <a:t>Umar</a:t>
            </a:r>
            <a:r>
              <a:rPr lang="en-US" sz="7200" b="1" dirty="0"/>
              <a:t>                                                      </a:t>
            </a:r>
            <a:r>
              <a:rPr lang="en-US" sz="8000" b="1" dirty="0"/>
              <a:t>Mr. Faisal Shameem</a:t>
            </a:r>
          </a:p>
          <a:p>
            <a:endParaRPr lang="en-US" sz="6000" dirty="0"/>
          </a:p>
          <a:p>
            <a:endParaRPr lang="en-US" sz="6000" dirty="0"/>
          </a:p>
          <a:p>
            <a:endParaRPr lang="en-US" sz="6000" dirty="0"/>
          </a:p>
          <a:p>
            <a:endParaRPr lang="en-US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C1B69-6245-4A1F-951A-9268473F7BC7}"/>
              </a:ext>
            </a:extLst>
          </p:cNvPr>
          <p:cNvSpPr txBox="1"/>
          <p:nvPr/>
        </p:nvSpPr>
        <p:spPr>
          <a:xfrm>
            <a:off x="2248039" y="4069373"/>
            <a:ext cx="24703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Topic: Verification and Validation of Turbulent Flow around a Clark-Y Airfoil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8AC2A-6E67-45E9-B434-15FA549192E7}"/>
              </a:ext>
            </a:extLst>
          </p:cNvPr>
          <p:cNvSpPr txBox="1"/>
          <p:nvPr/>
        </p:nvSpPr>
        <p:spPr>
          <a:xfrm>
            <a:off x="2248039" y="38681366"/>
            <a:ext cx="249908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Dept. </a:t>
            </a:r>
            <a:r>
              <a:rPr lang="en-US" sz="5000" b="1"/>
              <a:t>of </a:t>
            </a:r>
            <a:r>
              <a:rPr lang="en-US" sz="5000" b="1" dirty="0"/>
              <a:t>Mechanical </a:t>
            </a:r>
            <a:r>
              <a:rPr lang="en-US" sz="5000" b="1" dirty="0" err="1"/>
              <a:t>Engg</a:t>
            </a:r>
            <a:r>
              <a:rPr lang="en-US" sz="5000" b="1" dirty="0"/>
              <a:t>., </a:t>
            </a:r>
            <a:r>
              <a:rPr lang="en-US" sz="5000" b="1" dirty="0" err="1"/>
              <a:t>Galgotias</a:t>
            </a:r>
            <a:r>
              <a:rPr lang="en-US" sz="5000" b="1" dirty="0"/>
              <a:t> University  </a:t>
            </a:r>
          </a:p>
        </p:txBody>
      </p:sp>
      <p:pic>
        <p:nvPicPr>
          <p:cNvPr id="41" name="image3.jp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43001" y="22860000"/>
            <a:ext cx="12382500" cy="7239000"/>
          </a:xfrm>
          <a:prstGeom prst="rect">
            <a:avLst/>
          </a:prstGeom>
          <a:ln/>
        </p:spPr>
      </p:pic>
      <p:pic>
        <p:nvPicPr>
          <p:cNvPr id="42" name="image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5164594" y="6630806"/>
            <a:ext cx="12172950" cy="8172450"/>
          </a:xfrm>
          <a:prstGeom prst="rect">
            <a:avLst/>
          </a:prstGeom>
          <a:ln/>
        </p:spPr>
      </p:pic>
      <p:pic>
        <p:nvPicPr>
          <p:cNvPr id="44" name="Picture 43" descr="WhatsApp Image 2021-08-05 at 12.44.42 P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4594" y="24376856"/>
            <a:ext cx="10931116" cy="4969669"/>
          </a:xfrm>
          <a:prstGeom prst="rect">
            <a:avLst/>
          </a:prstGeom>
        </p:spPr>
      </p:pic>
      <p:pic>
        <p:nvPicPr>
          <p:cNvPr id="45" name="image10.jp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5597981" y="15875794"/>
            <a:ext cx="10548144" cy="6355556"/>
          </a:xfrm>
          <a:prstGeom prst="rect">
            <a:avLst/>
          </a:prstGeom>
          <a:ln/>
        </p:spPr>
      </p:pic>
      <p:pic>
        <p:nvPicPr>
          <p:cNvPr id="46" name="Picture 45" descr="WhatsApp Image 2021-08-05 at 1.13.57 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8981" y="31963519"/>
            <a:ext cx="9938544" cy="4783931"/>
          </a:xfrm>
          <a:prstGeom prst="rect">
            <a:avLst/>
          </a:prstGeom>
        </p:spPr>
      </p:pic>
      <p:pic>
        <p:nvPicPr>
          <p:cNvPr id="47" name="Picture 46" descr="Clark_y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406" y="12032796"/>
            <a:ext cx="6471444" cy="16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54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1471</TotalTime>
  <Words>398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Times New Roman</vt:lpstr>
      <vt:lpstr>Retrospect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Sartaj Anwar Khan</dc:creator>
  <cp:lastModifiedBy>faisal</cp:lastModifiedBy>
  <cp:revision>19</cp:revision>
  <dcterms:created xsi:type="dcterms:W3CDTF">2021-06-08T20:16:13Z</dcterms:created>
  <dcterms:modified xsi:type="dcterms:W3CDTF">2022-06-27T05:21:00Z</dcterms:modified>
</cp:coreProperties>
</file>