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sldIdLst>
    <p:sldId id="256" r:id="rId2"/>
  </p:sldIdLst>
  <p:sldSz cx="28443238" cy="4280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FFCC"/>
    <a:srgbClr val="FFFF00"/>
    <a:srgbClr val="FF3399"/>
    <a:srgbClr val="FF00FF"/>
    <a:srgbClr val="F8E9BE"/>
    <a:srgbClr val="ECE6CA"/>
    <a:srgbClr val="EBDBCB"/>
    <a:srgbClr val="D4D4E2"/>
    <a:srgbClr val="E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8" d="100"/>
          <a:sy n="18" d="100"/>
        </p:scale>
        <p:origin x="250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9892" y="4736598"/>
            <a:ext cx="23465671" cy="2225630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24885" spc="-156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6355" y="27807407"/>
            <a:ext cx="23465671" cy="7133431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7465" cap="all" spc="622" baseline="0">
                <a:solidFill>
                  <a:schemeClr val="tx2"/>
                </a:solidFill>
                <a:latin typeface="+mj-lt"/>
              </a:defRPr>
            </a:lvl1pPr>
            <a:lvl2pPr marL="1422166" indent="0" algn="ctr">
              <a:buNone/>
              <a:defRPr sz="7465"/>
            </a:lvl2pPr>
            <a:lvl3pPr marL="2844333" indent="0" algn="ctr">
              <a:buNone/>
              <a:defRPr sz="7465"/>
            </a:lvl3pPr>
            <a:lvl4pPr marL="4266499" indent="0" algn="ctr">
              <a:buNone/>
              <a:defRPr sz="6221"/>
            </a:lvl4pPr>
            <a:lvl5pPr marL="5688665" indent="0" algn="ctr">
              <a:buNone/>
              <a:defRPr sz="6221"/>
            </a:lvl5pPr>
            <a:lvl6pPr marL="7110832" indent="0" algn="ctr">
              <a:buNone/>
              <a:defRPr sz="6221"/>
            </a:lvl6pPr>
            <a:lvl7pPr marL="8532998" indent="0" algn="ctr">
              <a:buNone/>
              <a:defRPr sz="6221"/>
            </a:lvl7pPr>
            <a:lvl8pPr marL="9955164" indent="0" algn="ctr">
              <a:buNone/>
              <a:defRPr sz="6221"/>
            </a:lvl8pPr>
            <a:lvl9pPr marL="11377331" indent="0" algn="ctr">
              <a:buNone/>
              <a:defRPr sz="62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817398" y="27107039"/>
            <a:ext cx="230390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60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53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892" y="4736598"/>
            <a:ext cx="23465671" cy="22256306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24885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2" y="27791849"/>
            <a:ext cx="23465671" cy="7133431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7465" cap="all" spc="622" baseline="0">
                <a:solidFill>
                  <a:schemeClr val="tx2"/>
                </a:solidFill>
                <a:latin typeface="+mj-lt"/>
              </a:defRPr>
            </a:lvl1pPr>
            <a:lvl2pPr marL="1422166" indent="0">
              <a:buNone/>
              <a:defRPr sz="5599">
                <a:solidFill>
                  <a:schemeClr val="tx1">
                    <a:tint val="75000"/>
                  </a:schemeClr>
                </a:solidFill>
              </a:defRPr>
            </a:lvl2pPr>
            <a:lvl3pPr marL="2844333" indent="0">
              <a:buNone/>
              <a:defRPr sz="4977">
                <a:solidFill>
                  <a:schemeClr val="tx1">
                    <a:tint val="75000"/>
                  </a:schemeClr>
                </a:solidFill>
              </a:defRPr>
            </a:lvl3pPr>
            <a:lvl4pPr marL="4266499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4pPr>
            <a:lvl5pPr marL="5688665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5pPr>
            <a:lvl6pPr marL="7110832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6pPr>
            <a:lvl7pPr marL="8532998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7pPr>
            <a:lvl8pPr marL="9955164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8pPr>
            <a:lvl9pPr marL="11377331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817398" y="27107039"/>
            <a:ext cx="230390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55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892" y="11519175"/>
            <a:ext cx="11519511" cy="251096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06052" y="11519181"/>
            <a:ext cx="11519511" cy="251096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32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2" y="11521159"/>
            <a:ext cx="11519511" cy="4595116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6221" b="0" cap="all" baseline="0">
                <a:solidFill>
                  <a:schemeClr val="tx2"/>
                </a:solidFill>
              </a:defRPr>
            </a:lvl1pPr>
            <a:lvl2pPr marL="1422166" indent="0">
              <a:buNone/>
              <a:defRPr sz="6221" b="1"/>
            </a:lvl2pPr>
            <a:lvl3pPr marL="2844333" indent="0">
              <a:buNone/>
              <a:defRPr sz="5599" b="1"/>
            </a:lvl3pPr>
            <a:lvl4pPr marL="4266499" indent="0">
              <a:buNone/>
              <a:defRPr sz="4977" b="1"/>
            </a:lvl4pPr>
            <a:lvl5pPr marL="5688665" indent="0">
              <a:buNone/>
              <a:defRPr sz="4977" b="1"/>
            </a:lvl5pPr>
            <a:lvl6pPr marL="7110832" indent="0">
              <a:buNone/>
              <a:defRPr sz="4977" b="1"/>
            </a:lvl6pPr>
            <a:lvl7pPr marL="8532998" indent="0">
              <a:buNone/>
              <a:defRPr sz="4977" b="1"/>
            </a:lvl7pPr>
            <a:lvl8pPr marL="9955164" indent="0">
              <a:buNone/>
              <a:defRPr sz="4977" b="1"/>
            </a:lvl8pPr>
            <a:lvl9pPr marL="11377331" indent="0">
              <a:buNone/>
              <a:defRPr sz="497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9892" y="16116275"/>
            <a:ext cx="11519511" cy="210832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06052" y="11521159"/>
            <a:ext cx="11519511" cy="4595116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6221" b="0" cap="all" baseline="0">
                <a:solidFill>
                  <a:schemeClr val="tx2"/>
                </a:solidFill>
              </a:defRPr>
            </a:lvl1pPr>
            <a:lvl2pPr marL="1422166" indent="0">
              <a:buNone/>
              <a:defRPr sz="6221" b="1"/>
            </a:lvl2pPr>
            <a:lvl3pPr marL="2844333" indent="0">
              <a:buNone/>
              <a:defRPr sz="5599" b="1"/>
            </a:lvl3pPr>
            <a:lvl4pPr marL="4266499" indent="0">
              <a:buNone/>
              <a:defRPr sz="4977" b="1"/>
            </a:lvl4pPr>
            <a:lvl5pPr marL="5688665" indent="0">
              <a:buNone/>
              <a:defRPr sz="4977" b="1"/>
            </a:lvl5pPr>
            <a:lvl6pPr marL="7110832" indent="0">
              <a:buNone/>
              <a:defRPr sz="4977" b="1"/>
            </a:lvl6pPr>
            <a:lvl7pPr marL="8532998" indent="0">
              <a:buNone/>
              <a:defRPr sz="4977" b="1"/>
            </a:lvl7pPr>
            <a:lvl8pPr marL="9955164" indent="0">
              <a:buNone/>
              <a:defRPr sz="4977" b="1"/>
            </a:lvl8pPr>
            <a:lvl9pPr marL="11377331" indent="0">
              <a:buNone/>
              <a:defRPr sz="497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06052" y="16116275"/>
            <a:ext cx="11519511" cy="210832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6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20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8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" y="0"/>
            <a:ext cx="9450263" cy="42800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425254" y="0"/>
            <a:ext cx="149327" cy="42800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621" y="3709378"/>
            <a:ext cx="7466350" cy="14266863"/>
          </a:xfrm>
        </p:spPr>
        <p:txBody>
          <a:bodyPr anchor="b">
            <a:normAutofit/>
          </a:bodyPr>
          <a:lstStyle>
            <a:lvl1pPr>
              <a:defRPr sz="11198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9525" y="4565396"/>
            <a:ext cx="15146024" cy="32813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621" y="18261584"/>
            <a:ext cx="7466350" cy="2108901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4666">
                <a:solidFill>
                  <a:srgbClr val="FFFFFF"/>
                </a:solidFill>
              </a:defRPr>
            </a:lvl1pPr>
            <a:lvl2pPr marL="1422166" indent="0">
              <a:buNone/>
              <a:defRPr sz="3733"/>
            </a:lvl2pPr>
            <a:lvl3pPr marL="2844333" indent="0">
              <a:buNone/>
              <a:defRPr sz="3111"/>
            </a:lvl3pPr>
            <a:lvl4pPr marL="4266499" indent="0">
              <a:buNone/>
              <a:defRPr sz="2800"/>
            </a:lvl4pPr>
            <a:lvl5pPr marL="5688665" indent="0">
              <a:buNone/>
              <a:defRPr sz="2800"/>
            </a:lvl5pPr>
            <a:lvl6pPr marL="7110832" indent="0">
              <a:buNone/>
              <a:defRPr sz="2800"/>
            </a:lvl6pPr>
            <a:lvl7pPr marL="8532998" indent="0">
              <a:buNone/>
              <a:defRPr sz="2800"/>
            </a:lvl7pPr>
            <a:lvl8pPr marL="9955164" indent="0">
              <a:buNone/>
              <a:defRPr sz="2800"/>
            </a:lvl8pPr>
            <a:lvl9pPr marL="11377331" indent="0">
              <a:buNone/>
              <a:defRPr sz="2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015" y="40315349"/>
            <a:ext cx="6108835" cy="2278735"/>
          </a:xfrm>
        </p:spPr>
        <p:txBody>
          <a:bodyPr/>
          <a:lstStyle>
            <a:lvl1pPr algn="l">
              <a:defRPr/>
            </a:lvl1pPr>
          </a:lstStyle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199525" y="40315349"/>
            <a:ext cx="10843984" cy="227873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73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0911536"/>
            <a:ext cx="28435832" cy="118890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9" y="30674853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891" y="31672435"/>
            <a:ext cx="23594556" cy="5136071"/>
          </a:xfrm>
        </p:spPr>
        <p:txBody>
          <a:bodyPr tIns="0" bIns="0" anchor="b">
            <a:noAutofit/>
          </a:bodyPr>
          <a:lstStyle>
            <a:lvl1pPr>
              <a:defRPr sz="11198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" y="0"/>
            <a:ext cx="28443204" cy="30674853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9954"/>
            </a:lvl1pPr>
            <a:lvl2pPr marL="1422166" indent="0">
              <a:buNone/>
              <a:defRPr sz="8710"/>
            </a:lvl2pPr>
            <a:lvl3pPr marL="2844333" indent="0">
              <a:buNone/>
              <a:defRPr sz="7465"/>
            </a:lvl3pPr>
            <a:lvl4pPr marL="4266499" indent="0">
              <a:buNone/>
              <a:defRPr sz="6221"/>
            </a:lvl4pPr>
            <a:lvl5pPr marL="5688665" indent="0">
              <a:buNone/>
              <a:defRPr sz="6221"/>
            </a:lvl5pPr>
            <a:lvl6pPr marL="7110832" indent="0">
              <a:buNone/>
              <a:defRPr sz="6221"/>
            </a:lvl6pPr>
            <a:lvl7pPr marL="8532998" indent="0">
              <a:buNone/>
              <a:defRPr sz="6221"/>
            </a:lvl7pPr>
            <a:lvl8pPr marL="9955164" indent="0">
              <a:buNone/>
              <a:defRPr sz="6221"/>
            </a:lvl8pPr>
            <a:lvl9pPr marL="11377331" indent="0">
              <a:buNone/>
              <a:defRPr sz="62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59891" y="36865573"/>
            <a:ext cx="23607888" cy="370938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1866"/>
              </a:spcAft>
              <a:buNone/>
              <a:defRPr sz="4666">
                <a:solidFill>
                  <a:srgbClr val="FFFFFF"/>
                </a:solidFill>
              </a:defRPr>
            </a:lvl1pPr>
            <a:lvl2pPr marL="1422166" indent="0">
              <a:buNone/>
              <a:defRPr sz="3733"/>
            </a:lvl2pPr>
            <a:lvl3pPr marL="2844333" indent="0">
              <a:buNone/>
              <a:defRPr sz="3111"/>
            </a:lvl3pPr>
            <a:lvl4pPr marL="4266499" indent="0">
              <a:buNone/>
              <a:defRPr sz="2800"/>
            </a:lvl4pPr>
            <a:lvl5pPr marL="5688665" indent="0">
              <a:buNone/>
              <a:defRPr sz="2800"/>
            </a:lvl5pPr>
            <a:lvl6pPr marL="7110832" indent="0">
              <a:buNone/>
              <a:defRPr sz="2800"/>
            </a:lvl6pPr>
            <a:lvl7pPr marL="8532998" indent="0">
              <a:buNone/>
              <a:defRPr sz="2800"/>
            </a:lvl7pPr>
            <a:lvl8pPr marL="9955164" indent="0">
              <a:buNone/>
              <a:defRPr sz="2800"/>
            </a:lvl8pPr>
            <a:lvl9pPr marL="11377331" indent="0">
              <a:buNone/>
              <a:defRPr sz="2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66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68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354694" y="2573165"/>
            <a:ext cx="6133073" cy="359473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5474" y="2573165"/>
            <a:ext cx="18043679" cy="3594736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61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39947215"/>
            <a:ext cx="28443241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" y="39532288"/>
            <a:ext cx="28443241" cy="4118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0" y="11519175"/>
            <a:ext cx="23465674" cy="251096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59896" y="40315349"/>
            <a:ext cx="5767666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fld id="{0C972FCD-9765-44CC-9752-E7B11B5CC4F6}" type="datetimeFigureOut">
              <a:rPr lang="en-IN" smtClean="0"/>
              <a:t>12-08-2021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99661" y="40315349"/>
            <a:ext cx="11251326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097205" y="40315349"/>
            <a:ext cx="3060880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66">
                <a:solidFill>
                  <a:srgbClr val="FFFFFF"/>
                </a:solidFill>
              </a:defRPr>
            </a:lvl1pPr>
          </a:lstStyle>
          <a:p>
            <a:fld id="{1CF6D0B2-FC02-4FCE-96D5-8F676BDAAEE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2784442" y="10845842"/>
            <a:ext cx="2325234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l" defTabSz="2844333" rtl="0" eaLnBrk="1" latinLnBrk="0" hangingPunct="1">
        <a:lnSpc>
          <a:spcPct val="85000"/>
        </a:lnSpc>
        <a:spcBef>
          <a:spcPct val="0"/>
        </a:spcBef>
        <a:buNone/>
        <a:defRPr sz="14931" kern="1200" spc="-156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84433" indent="-284433" algn="l" defTabSz="2844333" rtl="0" eaLnBrk="1" latinLnBrk="0" hangingPunct="1">
        <a:lnSpc>
          <a:spcPct val="90000"/>
        </a:lnSpc>
        <a:spcBef>
          <a:spcPts val="3733"/>
        </a:spcBef>
        <a:spcAft>
          <a:spcPts val="622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622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94620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55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63486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332353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901219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42166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04378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66590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28802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422166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2pPr>
      <a:lvl3pPr marL="2844333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3pPr>
      <a:lvl4pPr marL="4266499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4pPr>
      <a:lvl5pPr marL="5688665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5pPr>
      <a:lvl6pPr marL="7110832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6pPr>
      <a:lvl7pPr marL="8532998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7pPr>
      <a:lvl8pPr marL="9955164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8pPr>
      <a:lvl9pPr marL="11377331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fif"/><Relationship Id="rId5" Type="http://schemas.openxmlformats.org/officeDocument/2006/relationships/image" Target="../media/image4.jfif"/><Relationship Id="rId4" Type="http://schemas.openxmlformats.org/officeDocument/2006/relationships/image" Target="../media/image3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11" y="194475"/>
            <a:ext cx="2857500" cy="2857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31264" y="245289"/>
            <a:ext cx="22707600" cy="3403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800" b="1" dirty="0"/>
              <a:t>Fluid Mechanics</a:t>
            </a:r>
          </a:p>
          <a:p>
            <a:pPr algn="ctr"/>
            <a:r>
              <a:rPr lang="en-IN" sz="8800" b="1" dirty="0"/>
              <a:t>Project based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6405" y="6400800"/>
            <a:ext cx="13658992" cy="7924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600" b="0" i="0" u="none" strike="noStrike" baseline="0" dirty="0">
                <a:solidFill>
                  <a:schemeClr val="tx1"/>
                </a:solidFill>
                <a:latin typeface="ArialMT"/>
              </a:rPr>
              <a:t>The Purpose of CFD Lab is to conduct </a:t>
            </a:r>
            <a:r>
              <a:rPr lang="en-US" sz="3600" b="1" i="0" u="none" strike="noStrike" baseline="0" dirty="0">
                <a:solidFill>
                  <a:schemeClr val="tx1"/>
                </a:solidFill>
                <a:latin typeface="Arial-BoldMT"/>
              </a:rPr>
              <a:t>parametric studies 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MT"/>
              </a:rPr>
              <a:t>for </a:t>
            </a:r>
            <a:r>
              <a:rPr lang="en-US" sz="3600" b="1" i="0" u="none" strike="noStrike" baseline="0" dirty="0">
                <a:solidFill>
                  <a:schemeClr val="tx1"/>
                </a:solidFill>
                <a:latin typeface="Arial-BoldMT"/>
              </a:rPr>
              <a:t>turbulent 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MT"/>
              </a:rPr>
              <a:t>flow around Clark-Y</a:t>
            </a:r>
          </a:p>
          <a:p>
            <a:pPr algn="l"/>
            <a:r>
              <a:rPr lang="en-US" sz="3600" b="0" i="0" u="none" strike="noStrike" baseline="0" dirty="0">
                <a:solidFill>
                  <a:schemeClr val="tx1"/>
                </a:solidFill>
                <a:latin typeface="ArialMT"/>
              </a:rPr>
              <a:t>airfoil following the “CFD process” by an interactive step-by-step approach. Students will have</a:t>
            </a:r>
          </a:p>
          <a:p>
            <a:pPr algn="l"/>
            <a:r>
              <a:rPr lang="en-US" sz="3600" b="0" i="0" u="none" strike="noStrike" baseline="0" dirty="0">
                <a:solidFill>
                  <a:schemeClr val="tx1"/>
                </a:solidFill>
                <a:latin typeface="ArialMT"/>
              </a:rPr>
              <a:t>“hands-on” experiences using ANSYS to investigate the </a:t>
            </a:r>
            <a:r>
              <a:rPr lang="en-US" sz="3600" b="1" i="0" u="none" strike="noStrike" baseline="0" dirty="0">
                <a:solidFill>
                  <a:schemeClr val="tx1"/>
                </a:solidFill>
                <a:latin typeface="Arial-BoldMT"/>
              </a:rPr>
              <a:t>effect of angle of attack 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MT"/>
              </a:rPr>
              <a:t>and </a:t>
            </a:r>
            <a:r>
              <a:rPr lang="en-US" sz="3600" b="1" i="0" u="none" strike="noStrike" baseline="0" dirty="0">
                <a:solidFill>
                  <a:schemeClr val="tx1"/>
                </a:solidFill>
                <a:latin typeface="Arial-BoldMT"/>
              </a:rPr>
              <a:t>effect of</a:t>
            </a:r>
          </a:p>
          <a:p>
            <a:pPr algn="l"/>
            <a:r>
              <a:rPr lang="en-US" sz="3600" b="1" i="0" u="none" strike="noStrike" baseline="0" dirty="0">
                <a:solidFill>
                  <a:schemeClr val="tx1"/>
                </a:solidFill>
                <a:latin typeface="Arial-BoldMT"/>
              </a:rPr>
              <a:t>different turbulence models 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ArialMT"/>
              </a:rPr>
              <a:t>on the simulations results. These effects will be studied by</a:t>
            </a:r>
          </a:p>
          <a:p>
            <a:pPr algn="l"/>
            <a:r>
              <a:rPr lang="en-US" sz="3600" b="0" i="0" u="none" strike="noStrike" baseline="0" dirty="0">
                <a:solidFill>
                  <a:schemeClr val="tx1"/>
                </a:solidFill>
                <a:latin typeface="ArialMT"/>
              </a:rPr>
              <a:t>comparing simulation results with EFD data.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48039" y="5943600"/>
            <a:ext cx="3631731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Introduction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5196725" y="6400800"/>
            <a:ext cx="11849195" cy="7924800"/>
          </a:xfrm>
          <a:prstGeom prst="roundRect">
            <a:avLst/>
          </a:prstGeom>
          <a:solidFill>
            <a:srgbClr val="EA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17006522" y="5943600"/>
            <a:ext cx="8229600" cy="914400"/>
          </a:xfrm>
          <a:prstGeom prst="roundRect">
            <a:avLst/>
          </a:prstGeom>
          <a:solidFill>
            <a:srgbClr val="F8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09792" y="15055850"/>
            <a:ext cx="12288977" cy="75272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ArialMT"/>
              </a:rPr>
              <a:t>In EFD lab you have conducted experimental study for turbulent airfoil</a:t>
            </a:r>
          </a:p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ArialMT"/>
              </a:rPr>
              <a:t>flow around a Clark-Y airfoil (Re»300,000). The data you have</a:t>
            </a:r>
          </a:p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ArialMT"/>
              </a:rPr>
              <a:t>measured were used for CFD </a:t>
            </a:r>
            <a:r>
              <a:rPr lang="en-US" sz="3200" b="0" i="0" u="none" strike="noStrike" baseline="0" dirty="0" err="1">
                <a:solidFill>
                  <a:schemeClr val="tx1"/>
                </a:solidFill>
                <a:latin typeface="ArialMT"/>
              </a:rPr>
              <a:t>PreLab</a:t>
            </a:r>
            <a:r>
              <a:rPr lang="en-US" sz="3200" b="0" i="0" u="none" strike="noStrike" baseline="0" dirty="0">
                <a:solidFill>
                  <a:schemeClr val="tx1"/>
                </a:solidFill>
                <a:latin typeface="ArialMT"/>
              </a:rPr>
              <a:t> 2. In CFD Lab 2, simulation will</a:t>
            </a:r>
          </a:p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ArialMT"/>
              </a:rPr>
              <a:t>be conducted under the same conditions of EFD Lab 3, except angle of</a:t>
            </a:r>
          </a:p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ArialMT"/>
              </a:rPr>
              <a:t>attack and turbulent models that will be changed in this lab.</a:t>
            </a:r>
          </a:p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ArialMT"/>
              </a:rPr>
              <a:t>The problem to be solved is turbulent flow around the Clark-Y airfoil with</a:t>
            </a:r>
          </a:p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ArialMT"/>
              </a:rPr>
              <a:t>angle of attack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48039" y="14605000"/>
            <a:ext cx="5353851" cy="91440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000" dirty="0"/>
          </a:p>
        </p:txBody>
      </p:sp>
      <p:sp>
        <p:nvSpPr>
          <p:cNvPr id="16" name="Rounded Rectangle 15"/>
          <p:cNvSpPr/>
          <p:nvPr/>
        </p:nvSpPr>
        <p:spPr>
          <a:xfrm>
            <a:off x="14865396" y="15041990"/>
            <a:ext cx="11849195" cy="7755890"/>
          </a:xfrm>
          <a:prstGeom prst="roundRect">
            <a:avLst/>
          </a:prstGeom>
          <a:solidFill>
            <a:srgbClr val="D4D4E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ounded Rectangle 16"/>
          <p:cNvSpPr/>
          <p:nvPr/>
        </p:nvSpPr>
        <p:spPr>
          <a:xfrm>
            <a:off x="17006522" y="14598650"/>
            <a:ext cx="8229600" cy="9144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9792" y="23615650"/>
            <a:ext cx="11849195" cy="6383034"/>
          </a:xfrm>
          <a:prstGeom prst="roundRect">
            <a:avLst/>
          </a:prstGeom>
          <a:solidFill>
            <a:srgbClr val="F8E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eriod"/>
            </a:pPr>
            <a:r>
              <a:rPr lang="en-US" sz="2400" b="0" i="0" u="none" strike="noStrike" baseline="0" dirty="0">
                <a:solidFill>
                  <a:schemeClr val="tx1"/>
                </a:solidFill>
                <a:latin typeface="ArialMT"/>
              </a:rPr>
              <a:t>Select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-BoldMT"/>
              </a:rPr>
              <a:t>Double Precision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MT"/>
              </a:rPr>
              <a:t>and click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Arial-BoldMT"/>
              </a:rPr>
              <a:t>OK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ArialMT"/>
              </a:rPr>
              <a:t>.</a:t>
            </a:r>
          </a:p>
          <a:p>
            <a:pPr algn="l"/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Solution Setup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&gt;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Models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&gt;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Viscous –Laminar &gt; Edit…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Change the parameters as per below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and click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OK.</a:t>
            </a:r>
            <a:endParaRPr lang="en-US" sz="2400" dirty="0">
              <a:solidFill>
                <a:schemeClr val="tx1"/>
              </a:solidFill>
              <a:latin typeface="ArialMT"/>
            </a:endParaRPr>
          </a:p>
          <a:p>
            <a:pPr algn="l"/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3.Solution Setup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&gt;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Boundary Conditions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&gt;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inlet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&gt;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Edit…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Change parameters as per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experimental data (blue box) and default values (red boxes) and click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OK.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The experimental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value can be found from the EFD Lab 3 data reduction sheet case, you will select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k-omega (2</a:t>
            </a:r>
          </a:p>
          <a:p>
            <a:pPr algn="l"/>
            <a:r>
              <a:rPr lang="en-US" sz="2400" b="1" i="0" u="none" strike="noStrike" baseline="0" dirty="0" err="1">
                <a:solidFill>
                  <a:schemeClr val="tx1"/>
                </a:solidFill>
                <a:latin typeface="TimesNewRomanPS-BoldMT"/>
              </a:rPr>
              <a:t>eqn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))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.</a:t>
            </a:r>
            <a:endParaRPr lang="en-US" sz="2400" b="0" i="0" u="none" strike="noStrike" baseline="0" dirty="0">
              <a:solidFill>
                <a:schemeClr val="tx1"/>
              </a:solidFill>
              <a:latin typeface="ArialMT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MT"/>
              </a:rPr>
              <a:t>4.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 Solution Setup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&gt;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Boundary Conditions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&gt;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Outlet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&gt;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Edit…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Change the parameters as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per below and click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OK. (Use outlet B.C. for both k-ε and k-ω models)</a:t>
            </a:r>
          </a:p>
          <a:p>
            <a:pPr algn="l"/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5. Solution Setup &gt; Reference Values. Change parameters as per below. The Velocity,</a:t>
            </a:r>
          </a:p>
          <a:p>
            <a:pPr algn="l"/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Temperature, Density, and Viscosity should be entered from EFD data.</a:t>
            </a:r>
          </a:p>
          <a:p>
            <a:pPr algn="l"/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6.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Change parameters as per below for both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k-ε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and </a:t>
            </a:r>
            <a:r>
              <a:rPr lang="en-US" sz="2400" b="1" i="0" u="none" strike="noStrike" baseline="0" dirty="0">
                <a:solidFill>
                  <a:schemeClr val="tx1"/>
                </a:solidFill>
                <a:latin typeface="TimesNewRomanPS-BoldMT"/>
              </a:rPr>
              <a:t>k-ω </a:t>
            </a:r>
            <a:r>
              <a:rPr lang="en-US" sz="2400" b="0" i="0" u="none" strike="noStrike" baseline="0" dirty="0">
                <a:solidFill>
                  <a:schemeClr val="tx1"/>
                </a:solidFill>
                <a:latin typeface="TimesNewRomanPSMT"/>
              </a:rPr>
              <a:t>models.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04861" y="23033990"/>
            <a:ext cx="5353851" cy="914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 set up</a:t>
            </a:r>
            <a:endParaRPr lang="en-IN" sz="4000" dirty="0"/>
          </a:p>
        </p:txBody>
      </p:sp>
      <p:sp>
        <p:nvSpPr>
          <p:cNvPr id="20" name="Rounded Rectangle 19"/>
          <p:cNvSpPr/>
          <p:nvPr/>
        </p:nvSpPr>
        <p:spPr>
          <a:xfrm>
            <a:off x="1255308" y="31263590"/>
            <a:ext cx="12693163" cy="6451600"/>
          </a:xfrm>
          <a:prstGeom prst="roundRect">
            <a:avLst/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Analysis of the air flow around the car without the spoilers and vortex generators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Analysis of the air flow around the car with a concept spoiler designs.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Effect of the aerodynamics on the car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Analysis with the variation of the aerodynamic components on the down force, drag and the stability of the car.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Estimating the CD (Coefficient of Drift) &amp; CL (Coefficient of Lift) on a high speed run of the car.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Comparison of the CD and CL values with (variations in component designs) and without aerodynamic components.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Analysis of all the models on the CFD software ANSYS Fluent.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Drawing out the possible outcomes comparing the results &amp; establishing the relation of using aerodynamic components(spoilers and vortex gen.) for better performance, reduced lift and drag.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dirty="0"/>
          </a:p>
        </p:txBody>
      </p:sp>
      <p:sp>
        <p:nvSpPr>
          <p:cNvPr id="21" name="Rounded Rectangle 20"/>
          <p:cNvSpPr/>
          <p:nvPr/>
        </p:nvSpPr>
        <p:spPr>
          <a:xfrm>
            <a:off x="2387912" y="30406240"/>
            <a:ext cx="5213978" cy="857349"/>
          </a:xfrm>
          <a:prstGeom prst="round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dirty="0"/>
              <a:t>Numerical 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729364" y="23668870"/>
            <a:ext cx="11849195" cy="638561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ounded Rectangle 22"/>
          <p:cNvSpPr/>
          <p:nvPr/>
        </p:nvSpPr>
        <p:spPr>
          <a:xfrm>
            <a:off x="16911789" y="23087497"/>
            <a:ext cx="8229600" cy="9144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101991" y="31555739"/>
            <a:ext cx="11849195" cy="59944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16911789" y="30930850"/>
            <a:ext cx="8229600" cy="914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C7247-C33B-47E5-89A5-09F21B3D8D3C}"/>
              </a:ext>
            </a:extLst>
          </p:cNvPr>
          <p:cNvSpPr txBox="1"/>
          <p:nvPr/>
        </p:nvSpPr>
        <p:spPr>
          <a:xfrm>
            <a:off x="0" y="39873740"/>
            <a:ext cx="2844323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Team Member                                                                                  Instructor</a:t>
            </a:r>
          </a:p>
          <a:p>
            <a:pPr algn="just"/>
            <a:r>
              <a:rPr lang="en-US" sz="6000" dirty="0"/>
              <a:t>1.</a:t>
            </a:r>
            <a:r>
              <a:rPr lang="en-US" sz="3200" dirty="0"/>
              <a:t>SAURAV KUMAR                </a:t>
            </a:r>
            <a:r>
              <a:rPr lang="en-US" sz="6000" dirty="0"/>
              <a:t>3</a:t>
            </a:r>
            <a:r>
              <a:rPr lang="en-US" sz="6000" b="1" dirty="0"/>
              <a:t>. </a:t>
            </a:r>
            <a:r>
              <a:rPr lang="en-US" sz="3200" i="0" dirty="0">
                <a:solidFill>
                  <a:srgbClr val="252424"/>
                </a:solidFill>
                <a:effectLst/>
                <a:latin typeface="Segoe UI" panose="020B0502040204020203" pitchFamily="34" charset="0"/>
              </a:rPr>
              <a:t>Shuvam Chowdhury</a:t>
            </a:r>
            <a:r>
              <a:rPr lang="en-US" sz="3200" dirty="0"/>
              <a:t>  </a:t>
            </a:r>
            <a:r>
              <a:rPr lang="en-US" sz="6000" dirty="0"/>
              <a:t>5.</a:t>
            </a:r>
            <a:r>
              <a:rPr lang="en-US" sz="3200" dirty="0"/>
              <a:t>Sandip prasad Yadav                                </a:t>
            </a:r>
            <a:r>
              <a:rPr lang="en-US" sz="8000" b="1" dirty="0"/>
              <a:t>Mr. Faisal Shameem</a:t>
            </a:r>
          </a:p>
          <a:p>
            <a:r>
              <a:rPr lang="en-US" sz="6000" dirty="0"/>
              <a:t>2 .</a:t>
            </a:r>
            <a:r>
              <a:rPr lang="en-US" sz="3200" dirty="0"/>
              <a:t>SHAGUN MISHRA           </a:t>
            </a:r>
            <a:r>
              <a:rPr lang="en-US" sz="6000" dirty="0"/>
              <a:t>4.</a:t>
            </a:r>
            <a:r>
              <a:rPr lang="en-US" sz="60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320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HARIDWAR NARAYAN PRATAP SINGH</a:t>
            </a:r>
            <a:endParaRPr lang="en-US" sz="3200" dirty="0"/>
          </a:p>
          <a:p>
            <a:endParaRPr lang="en-US" sz="6000" dirty="0"/>
          </a:p>
          <a:p>
            <a:endParaRPr lang="en-US" sz="6000" dirty="0"/>
          </a:p>
          <a:p>
            <a:endParaRPr lang="en-US"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C1B69-6245-4A1F-951A-9268473F7BC7}"/>
              </a:ext>
            </a:extLst>
          </p:cNvPr>
          <p:cNvSpPr txBox="1"/>
          <p:nvPr/>
        </p:nvSpPr>
        <p:spPr>
          <a:xfrm>
            <a:off x="2248039" y="4069373"/>
            <a:ext cx="24703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Topic: </a:t>
            </a:r>
            <a:r>
              <a:rPr lang="en-US" sz="6000" u="sng" dirty="0"/>
              <a:t>Simulation of Turbulent Flow around an Airfoil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18AC2A-6E67-45E9-B434-15FA549192E7}"/>
              </a:ext>
            </a:extLst>
          </p:cNvPr>
          <p:cNvSpPr txBox="1"/>
          <p:nvPr/>
        </p:nvSpPr>
        <p:spPr>
          <a:xfrm>
            <a:off x="2248039" y="38450520"/>
            <a:ext cx="249908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Dept. Of Mechanical Eng., </a:t>
            </a:r>
            <a:r>
              <a:rPr lang="en-US" sz="6000" b="1" dirty="0" err="1"/>
              <a:t>Galgotias</a:t>
            </a:r>
            <a:r>
              <a:rPr lang="en-US" sz="6000" b="1" dirty="0"/>
              <a:t> University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3517AF-22C1-44DC-A606-1E6B27D23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4067" y="7894461"/>
            <a:ext cx="10069330" cy="48870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F23DB29-6B2C-46A8-AE6D-9CF998B2A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6726" y="16094133"/>
            <a:ext cx="11214416" cy="570043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9BBF7D5-1CD5-4CBE-ABC9-2A6736899C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797" y="24367852"/>
            <a:ext cx="9256325" cy="519875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F8D27B0-2542-4E69-9E7B-2A0FA36097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1316" y="32397930"/>
            <a:ext cx="9104707" cy="473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545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195</TotalTime>
  <Words>522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Arial-BoldMT</vt:lpstr>
      <vt:lpstr>ArialMT</vt:lpstr>
      <vt:lpstr>Calibri</vt:lpstr>
      <vt:lpstr>Calibri Light</vt:lpstr>
      <vt:lpstr>Segoe UI</vt:lpstr>
      <vt:lpstr>Times New Roman</vt:lpstr>
      <vt:lpstr>TimesNewRomanPS-BoldMT</vt:lpstr>
      <vt:lpstr>TimesNewRomanPSMT</vt:lpstr>
      <vt:lpstr>Wingdings</vt:lpstr>
      <vt:lpstr>Retrospect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Sartaj Anwar Khan</dc:creator>
  <cp:lastModifiedBy>SAURAV KUMAR 20SCME1010001</cp:lastModifiedBy>
  <cp:revision>19</cp:revision>
  <cp:lastPrinted>2021-08-11T15:38:48Z</cp:lastPrinted>
  <dcterms:created xsi:type="dcterms:W3CDTF">2021-06-08T20:16:13Z</dcterms:created>
  <dcterms:modified xsi:type="dcterms:W3CDTF">2021-08-12T14:57:15Z</dcterms:modified>
</cp:coreProperties>
</file>