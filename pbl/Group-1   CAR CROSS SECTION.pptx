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8443238" cy="4280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ECE6CA"/>
    <a:srgbClr val="D4D4E2"/>
    <a:srgbClr val="E7CFE7"/>
    <a:srgbClr val="FF99FF"/>
    <a:srgbClr val="FFFF00"/>
    <a:srgbClr val="FF3399"/>
    <a:srgbClr val="FF00FF"/>
    <a:srgbClr val="F8E9BE"/>
    <a:srgbClr val="EBDBC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1" d="100"/>
          <a:sy n="41" d="100"/>
        </p:scale>
        <p:origin x="-154" y="1637"/>
      </p:cViewPr>
      <p:guideLst>
        <p:guide orient="horz" pos="13480"/>
        <p:guide pos="89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48771F-A8DD-413A-830C-08D31DEE19DB}" type="doc">
      <dgm:prSet loTypeId="urn:microsoft.com/office/officeart/2005/8/layout/arrow2" loCatId="process" qsTypeId="urn:microsoft.com/office/officeart/2005/8/quickstyle/simple1" qsCatId="simple" csTypeId="urn:microsoft.com/office/officeart/2005/8/colors/accent5_3" csCatId="accent5" phldr="1"/>
      <dgm:spPr/>
    </dgm:pt>
    <dgm:pt modelId="{ABC707AC-B84F-46D3-BD3F-A70D086D6EBD}">
      <dgm:prSet phldrT="[Text]" custT="1"/>
      <dgm:spPr/>
      <dgm:t>
        <a:bodyPr/>
        <a:lstStyle/>
        <a:p>
          <a:r>
            <a:rPr lang="en-IN" sz="3200" dirty="0">
              <a:latin typeface="+mn-lt"/>
              <a:ea typeface="Adobe Ming Std L" pitchFamily="18" charset="-128"/>
              <a:cs typeface="Times New Roman" panose="02020603050405020304" pitchFamily="18" charset="0"/>
            </a:rPr>
            <a:t>Modelling in </a:t>
          </a:r>
          <a:r>
            <a:rPr lang="en-IN" sz="3200" dirty="0" err="1">
              <a:latin typeface="+mn-lt"/>
              <a:ea typeface="Adobe Ming Std L" pitchFamily="18" charset="-128"/>
              <a:cs typeface="Times New Roman" panose="02020603050405020304" pitchFamily="18" charset="0"/>
            </a:rPr>
            <a:t>Solidworks</a:t>
          </a:r>
          <a:endParaRPr lang="en-IN" sz="3200" dirty="0">
            <a:latin typeface="+mn-lt"/>
            <a:ea typeface="Adobe Ming Std L" pitchFamily="18" charset="-128"/>
            <a:cs typeface="Times New Roman" panose="02020603050405020304" pitchFamily="18" charset="0"/>
          </a:endParaRPr>
        </a:p>
      </dgm:t>
    </dgm:pt>
    <dgm:pt modelId="{9CAFC0E0-BC2D-4C09-816C-65F8874CD389}" type="parTrans" cxnId="{A1598359-5FCA-4C11-8344-1348C8B2C014}">
      <dgm:prSet/>
      <dgm:spPr/>
      <dgm:t>
        <a:bodyPr/>
        <a:lstStyle/>
        <a:p>
          <a:endParaRPr lang="en-IN"/>
        </a:p>
      </dgm:t>
    </dgm:pt>
    <dgm:pt modelId="{767C5CE1-52EE-4EAD-926F-FDDAA2A9E9B4}" type="sibTrans" cxnId="{A1598359-5FCA-4C11-8344-1348C8B2C014}">
      <dgm:prSet/>
      <dgm:spPr/>
      <dgm:t>
        <a:bodyPr/>
        <a:lstStyle/>
        <a:p>
          <a:endParaRPr lang="en-IN"/>
        </a:p>
      </dgm:t>
    </dgm:pt>
    <dgm:pt modelId="{4CFFADFD-58F9-4AD8-B2C3-2D64C08A33EF}">
      <dgm:prSet phldrT="[Text]" custT="1"/>
      <dgm:spPr/>
      <dgm:t>
        <a:bodyPr/>
        <a:lstStyle/>
        <a:p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Car model designing</a:t>
          </a:r>
        </a:p>
      </dgm:t>
    </dgm:pt>
    <dgm:pt modelId="{135902E8-AD90-4327-9AD5-CA674D3D7447}" type="parTrans" cxnId="{67F31A37-5F3B-4EE2-B8EA-60911E85442B}">
      <dgm:prSet/>
      <dgm:spPr/>
      <dgm:t>
        <a:bodyPr/>
        <a:lstStyle/>
        <a:p>
          <a:endParaRPr lang="en-IN"/>
        </a:p>
      </dgm:t>
    </dgm:pt>
    <dgm:pt modelId="{D004ED54-A8F1-4573-8143-B09DEF118EBD}" type="sibTrans" cxnId="{67F31A37-5F3B-4EE2-B8EA-60911E85442B}">
      <dgm:prSet/>
      <dgm:spPr/>
      <dgm:t>
        <a:bodyPr/>
        <a:lstStyle/>
        <a:p>
          <a:endParaRPr lang="en-IN"/>
        </a:p>
      </dgm:t>
    </dgm:pt>
    <dgm:pt modelId="{9907941D-37EB-4DC7-9CF2-726FCD77EE85}" type="pres">
      <dgm:prSet presAssocID="{C448771F-A8DD-413A-830C-08D31DEE19DB}" presName="arrowDiagram" presStyleCnt="0">
        <dgm:presLayoutVars>
          <dgm:chMax val="5"/>
          <dgm:dir/>
          <dgm:resizeHandles val="exact"/>
        </dgm:presLayoutVars>
      </dgm:prSet>
      <dgm:spPr/>
    </dgm:pt>
    <dgm:pt modelId="{EFA5218C-A7CF-41E5-B080-C0B0D7572769}" type="pres">
      <dgm:prSet presAssocID="{C448771F-A8DD-413A-830C-08D31DEE19DB}" presName="arrow" presStyleLbl="bgShp" presStyleIdx="0" presStyleCnt="1" custScaleX="104325" custLinFactNeighborX="-283" custLinFactNeighborY="-1251"/>
      <dgm:spPr/>
    </dgm:pt>
    <dgm:pt modelId="{CD7EF514-BB72-4334-8B4F-125B324A162E}" type="pres">
      <dgm:prSet presAssocID="{C448771F-A8DD-413A-830C-08D31DEE19DB}" presName="arrowDiagram2" presStyleCnt="0"/>
      <dgm:spPr/>
    </dgm:pt>
    <dgm:pt modelId="{6B07E78D-C737-41C9-9B4D-43308388E9F8}" type="pres">
      <dgm:prSet presAssocID="{ABC707AC-B84F-46D3-BD3F-A70D086D6EBD}" presName="bullet2a" presStyleLbl="node1" presStyleIdx="0" presStyleCnt="2"/>
      <dgm:spPr/>
    </dgm:pt>
    <dgm:pt modelId="{E2B3184C-87EC-48CB-BC21-55D0376F0378}" type="pres">
      <dgm:prSet presAssocID="{ABC707AC-B84F-46D3-BD3F-A70D086D6EBD}" presName="textBox2a" presStyleLbl="revTx" presStyleIdx="0" presStyleCnt="2" custLinFactNeighborX="97030" custLinFactNeighborY="-67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11820C-DDDE-44CF-B48E-FC1B3A0710A8}" type="pres">
      <dgm:prSet presAssocID="{4CFFADFD-58F9-4AD8-B2C3-2D64C08A33EF}" presName="bullet2b" presStyleLbl="node1" presStyleIdx="1" presStyleCnt="2"/>
      <dgm:spPr/>
    </dgm:pt>
    <dgm:pt modelId="{D75F19F3-90CC-417B-B7A9-0D855ABBA1DB}" type="pres">
      <dgm:prSet presAssocID="{4CFFADFD-58F9-4AD8-B2C3-2D64C08A33EF}" presName="textBox2b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8B8093-0A6B-45B2-A216-02C18A7393E5}" type="presOf" srcId="{4CFFADFD-58F9-4AD8-B2C3-2D64C08A33EF}" destId="{D75F19F3-90CC-417B-B7A9-0D855ABBA1DB}" srcOrd="0" destOrd="0" presId="urn:microsoft.com/office/officeart/2005/8/layout/arrow2"/>
    <dgm:cxn modelId="{960D0724-E479-456D-9655-359DEF5DFF64}" type="presOf" srcId="{C448771F-A8DD-413A-830C-08D31DEE19DB}" destId="{9907941D-37EB-4DC7-9CF2-726FCD77EE85}" srcOrd="0" destOrd="0" presId="urn:microsoft.com/office/officeart/2005/8/layout/arrow2"/>
    <dgm:cxn modelId="{F7B0BB7E-D1FF-48C7-8944-0856AF41DF7D}" type="presOf" srcId="{ABC707AC-B84F-46D3-BD3F-A70D086D6EBD}" destId="{E2B3184C-87EC-48CB-BC21-55D0376F0378}" srcOrd="0" destOrd="0" presId="urn:microsoft.com/office/officeart/2005/8/layout/arrow2"/>
    <dgm:cxn modelId="{A1598359-5FCA-4C11-8344-1348C8B2C014}" srcId="{C448771F-A8DD-413A-830C-08D31DEE19DB}" destId="{ABC707AC-B84F-46D3-BD3F-A70D086D6EBD}" srcOrd="0" destOrd="0" parTransId="{9CAFC0E0-BC2D-4C09-816C-65F8874CD389}" sibTransId="{767C5CE1-52EE-4EAD-926F-FDDAA2A9E9B4}"/>
    <dgm:cxn modelId="{67F31A37-5F3B-4EE2-B8EA-60911E85442B}" srcId="{C448771F-A8DD-413A-830C-08D31DEE19DB}" destId="{4CFFADFD-58F9-4AD8-B2C3-2D64C08A33EF}" srcOrd="1" destOrd="0" parTransId="{135902E8-AD90-4327-9AD5-CA674D3D7447}" sibTransId="{D004ED54-A8F1-4573-8143-B09DEF118EBD}"/>
    <dgm:cxn modelId="{5F60BD2B-992C-41CC-B060-3A81D70E0ABD}" type="presParOf" srcId="{9907941D-37EB-4DC7-9CF2-726FCD77EE85}" destId="{EFA5218C-A7CF-41E5-B080-C0B0D7572769}" srcOrd="0" destOrd="0" presId="urn:microsoft.com/office/officeart/2005/8/layout/arrow2"/>
    <dgm:cxn modelId="{36D2E70C-8881-4CC1-BB85-136AD582171F}" type="presParOf" srcId="{9907941D-37EB-4DC7-9CF2-726FCD77EE85}" destId="{CD7EF514-BB72-4334-8B4F-125B324A162E}" srcOrd="1" destOrd="0" presId="urn:microsoft.com/office/officeart/2005/8/layout/arrow2"/>
    <dgm:cxn modelId="{D6505A55-19D0-405D-AEFB-DA45EB335F1C}" type="presParOf" srcId="{CD7EF514-BB72-4334-8B4F-125B324A162E}" destId="{6B07E78D-C737-41C9-9B4D-43308388E9F8}" srcOrd="0" destOrd="0" presId="urn:microsoft.com/office/officeart/2005/8/layout/arrow2"/>
    <dgm:cxn modelId="{DC0ADFE2-D9D9-4CB5-92B9-200D5423F112}" type="presParOf" srcId="{CD7EF514-BB72-4334-8B4F-125B324A162E}" destId="{E2B3184C-87EC-48CB-BC21-55D0376F0378}" srcOrd="1" destOrd="0" presId="urn:microsoft.com/office/officeart/2005/8/layout/arrow2"/>
    <dgm:cxn modelId="{2429C364-5B86-4A59-AEDF-8E4A3AE1C524}" type="presParOf" srcId="{CD7EF514-BB72-4334-8B4F-125B324A162E}" destId="{3C11820C-DDDE-44CF-B48E-FC1B3A0710A8}" srcOrd="2" destOrd="0" presId="urn:microsoft.com/office/officeart/2005/8/layout/arrow2"/>
    <dgm:cxn modelId="{0DDAC074-F8D1-43C4-84B6-F5553009675B}" type="presParOf" srcId="{CD7EF514-BB72-4334-8B4F-125B324A162E}" destId="{D75F19F3-90CC-417B-B7A9-0D855ABBA1DB}" srcOrd="3" destOrd="0" presId="urn:microsoft.com/office/officeart/2005/8/layout/arrow2"/>
  </dgm:cxnLst>
  <dgm:bg/>
  <dgm:whole>
    <a:ln>
      <a:solidFill>
        <a:srgbClr val="FFFF00"/>
      </a:solidFill>
    </a:ln>
  </dgm:whole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FA5218C-A7CF-41E5-B080-C0B0D7572769}">
      <dsp:nvSpPr>
        <dsp:cNvPr id="0" name=""/>
        <dsp:cNvSpPr/>
      </dsp:nvSpPr>
      <dsp:spPr>
        <a:xfrm>
          <a:off x="671958" y="0"/>
          <a:ext cx="9754294" cy="584369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07E78D-C737-41C9-9B4D-43308388E9F8}">
      <dsp:nvSpPr>
        <dsp:cNvPr id="0" name=""/>
        <dsp:cNvSpPr/>
      </dsp:nvSpPr>
      <dsp:spPr>
        <a:xfrm>
          <a:off x="3074464" y="3184813"/>
          <a:ext cx="327246" cy="327246"/>
        </a:xfrm>
        <a:prstGeom prst="ellipse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3184C-87EC-48CB-BC21-55D0376F0378}">
      <dsp:nvSpPr>
        <dsp:cNvPr id="0" name=""/>
        <dsp:cNvSpPr/>
      </dsp:nvSpPr>
      <dsp:spPr>
        <a:xfrm>
          <a:off x="6186558" y="3180480"/>
          <a:ext cx="3038720" cy="2495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401" tIns="0" rIns="0" bIns="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200" kern="1200" dirty="0">
              <a:latin typeface="+mn-lt"/>
              <a:ea typeface="Adobe Ming Std L" pitchFamily="18" charset="-128"/>
              <a:cs typeface="Times New Roman" panose="02020603050405020304" pitchFamily="18" charset="0"/>
            </a:rPr>
            <a:t>Modelling in </a:t>
          </a:r>
          <a:r>
            <a:rPr lang="en-IN" sz="3200" kern="1200" dirty="0" err="1">
              <a:latin typeface="+mn-lt"/>
              <a:ea typeface="Adobe Ming Std L" pitchFamily="18" charset="-128"/>
              <a:cs typeface="Times New Roman" panose="02020603050405020304" pitchFamily="18" charset="0"/>
            </a:rPr>
            <a:t>Solidworks</a:t>
          </a:r>
          <a:endParaRPr lang="en-IN" sz="3200" kern="1200" dirty="0">
            <a:latin typeface="+mn-lt"/>
            <a:ea typeface="Adobe Ming Std L" pitchFamily="18" charset="-128"/>
            <a:cs typeface="Times New Roman" panose="02020603050405020304" pitchFamily="18" charset="0"/>
          </a:endParaRPr>
        </a:p>
      </dsp:txBody>
      <dsp:txXfrm>
        <a:off x="6186558" y="3180480"/>
        <a:ext cx="3038720" cy="2495257"/>
      </dsp:txXfrm>
    </dsp:sp>
    <dsp:sp modelId="{3C11820C-DDDE-44CF-B48E-FC1B3A0710A8}">
      <dsp:nvSpPr>
        <dsp:cNvPr id="0" name=""/>
        <dsp:cNvSpPr/>
      </dsp:nvSpPr>
      <dsp:spPr>
        <a:xfrm>
          <a:off x="6089810" y="1694671"/>
          <a:ext cx="560994" cy="560994"/>
        </a:xfrm>
        <a:prstGeom prst="ellipse">
          <a:avLst/>
        </a:prstGeom>
        <a:solidFill>
          <a:schemeClr val="accent5">
            <a:shade val="80000"/>
            <a:hueOff val="203550"/>
            <a:satOff val="2780"/>
            <a:lumOff val="247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F19F3-90CC-417B-B7A9-0D855ABBA1DB}">
      <dsp:nvSpPr>
        <dsp:cNvPr id="0" name=""/>
        <dsp:cNvSpPr/>
      </dsp:nvSpPr>
      <dsp:spPr>
        <a:xfrm>
          <a:off x="6370307" y="1975168"/>
          <a:ext cx="3038720" cy="3868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259" tIns="0" rIns="0" bIns="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Car model designing</a:t>
          </a:r>
        </a:p>
      </dsp:txBody>
      <dsp:txXfrm>
        <a:off x="6370307" y="1975168"/>
        <a:ext cx="3038720" cy="3868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GROUP-1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D28BF-1125-4DE6-B57A-77C5B601C669}" type="datetimeFigureOut">
              <a:rPr lang="en-US" smtClean="0"/>
              <a:t>8/2/2021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E47EB-2AEE-4E8B-9E7E-78BF537347D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GROUP-1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3C860-6533-43AF-A1A7-2620CCA612AA}" type="datetimeFigureOut">
              <a:rPr lang="en-US" smtClean="0"/>
              <a:t>8/2/2021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9175" y="685800"/>
            <a:ext cx="227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869D4-BDED-4686-98B8-E34A107FBAE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GROUP-1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9892" y="4736598"/>
            <a:ext cx="23465671" cy="2225630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24885" spc="-156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6355" y="27807407"/>
            <a:ext cx="23465671" cy="7133431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 algn="ctr">
              <a:buNone/>
              <a:defRPr sz="7465"/>
            </a:lvl2pPr>
            <a:lvl3pPr marL="2844333" indent="0" algn="ctr">
              <a:buNone/>
              <a:defRPr sz="7465"/>
            </a:lvl3pPr>
            <a:lvl4pPr marL="4266499" indent="0" algn="ctr">
              <a:buNone/>
              <a:defRPr sz="6221"/>
            </a:lvl4pPr>
            <a:lvl5pPr marL="5688665" indent="0" algn="ctr">
              <a:buNone/>
              <a:defRPr sz="6221"/>
            </a:lvl5pPr>
            <a:lvl6pPr marL="7110832" indent="0" algn="ctr">
              <a:buNone/>
              <a:defRPr sz="6221"/>
            </a:lvl6pPr>
            <a:lvl7pPr marL="8532998" indent="0" algn="ctr">
              <a:buNone/>
              <a:defRPr sz="6221"/>
            </a:lvl7pPr>
            <a:lvl8pPr marL="9955164" indent="0" algn="ctr">
              <a:buNone/>
              <a:defRPr sz="6221"/>
            </a:lvl8pPr>
            <a:lvl9pPr marL="11377331" indent="0" algn="ctr">
              <a:buNone/>
              <a:defRPr sz="622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3260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1253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2" y="4736598"/>
            <a:ext cx="23465671" cy="2225630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24885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27791849"/>
            <a:ext cx="23465671" cy="7133431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7465" cap="all" spc="622" baseline="0">
                <a:solidFill>
                  <a:schemeClr val="tx2"/>
                </a:solidFill>
                <a:latin typeface="+mj-lt"/>
              </a:defRPr>
            </a:lvl1pPr>
            <a:lvl2pPr marL="1422166" indent="0">
              <a:buNone/>
              <a:defRPr sz="5599">
                <a:solidFill>
                  <a:schemeClr val="tx1">
                    <a:tint val="75000"/>
                  </a:schemeClr>
                </a:solidFill>
              </a:defRPr>
            </a:lvl2pPr>
            <a:lvl3pPr marL="2844333" indent="0">
              <a:buNone/>
              <a:defRPr sz="4977">
                <a:solidFill>
                  <a:schemeClr val="tx1">
                    <a:tint val="75000"/>
                  </a:schemeClr>
                </a:solidFill>
              </a:defRPr>
            </a:lvl3pPr>
            <a:lvl4pPr marL="4266499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4pPr>
            <a:lvl5pPr marL="5688665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5pPr>
            <a:lvl6pPr marL="7110832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6pPr>
            <a:lvl7pPr marL="8532998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7pPr>
            <a:lvl8pPr marL="9955164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8pPr>
            <a:lvl9pPr marL="11377331" indent="0">
              <a:buNone/>
              <a:defRPr sz="43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2817398" y="27107039"/>
            <a:ext cx="230390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3355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892" y="11519175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06052" y="11519181"/>
            <a:ext cx="11519511" cy="25109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543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989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06052" y="11521159"/>
            <a:ext cx="11519511" cy="4595116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6221" b="0" cap="all" baseline="0">
                <a:solidFill>
                  <a:schemeClr val="tx2"/>
                </a:solidFill>
              </a:defRPr>
            </a:lvl1pPr>
            <a:lvl2pPr marL="1422166" indent="0">
              <a:buNone/>
              <a:defRPr sz="6221" b="1"/>
            </a:lvl2pPr>
            <a:lvl3pPr marL="2844333" indent="0">
              <a:buNone/>
              <a:defRPr sz="5599" b="1"/>
            </a:lvl3pPr>
            <a:lvl4pPr marL="4266499" indent="0">
              <a:buNone/>
              <a:defRPr sz="4977" b="1"/>
            </a:lvl4pPr>
            <a:lvl5pPr marL="5688665" indent="0">
              <a:buNone/>
              <a:defRPr sz="4977" b="1"/>
            </a:lvl5pPr>
            <a:lvl6pPr marL="7110832" indent="0">
              <a:buNone/>
              <a:defRPr sz="4977" b="1"/>
            </a:lvl6pPr>
            <a:lvl7pPr marL="8532998" indent="0">
              <a:buNone/>
              <a:defRPr sz="4977" b="1"/>
            </a:lvl7pPr>
            <a:lvl8pPr marL="9955164" indent="0">
              <a:buNone/>
              <a:defRPr sz="4977" b="1"/>
            </a:lvl8pPr>
            <a:lvl9pPr marL="11377331" indent="0">
              <a:buNone/>
              <a:defRPr sz="497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06052" y="16116275"/>
            <a:ext cx="11519511" cy="210832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886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5520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968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2" y="0"/>
            <a:ext cx="9450263" cy="42800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425254" y="0"/>
            <a:ext cx="149327" cy="42800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621" y="3709378"/>
            <a:ext cx="7466350" cy="14266863"/>
          </a:xfrm>
        </p:spPr>
        <p:txBody>
          <a:bodyPr anchor="b">
            <a:norm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9525" y="4565396"/>
            <a:ext cx="15146024" cy="32813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621" y="18261584"/>
            <a:ext cx="7466350" cy="2108901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015" y="40315349"/>
            <a:ext cx="6108835" cy="2278735"/>
          </a:xfrm>
        </p:spPr>
        <p:txBody>
          <a:bodyPr/>
          <a:lstStyle>
            <a:lvl1pPr algn="l">
              <a:defRPr/>
            </a:lvl1pPr>
          </a:lstStyle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199525" y="40315349"/>
            <a:ext cx="10843984" cy="227873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1973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0911536"/>
            <a:ext cx="28435832" cy="118890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9" y="30674853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891" y="31672435"/>
            <a:ext cx="23594556" cy="5136071"/>
          </a:xfrm>
        </p:spPr>
        <p:txBody>
          <a:bodyPr tIns="0" bIns="0" anchor="b">
            <a:noAutofit/>
          </a:bodyPr>
          <a:lstStyle>
            <a:lvl1pPr>
              <a:defRPr sz="11198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" y="0"/>
            <a:ext cx="28443204" cy="30674853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9954"/>
            </a:lvl1pPr>
            <a:lvl2pPr marL="1422166" indent="0">
              <a:buNone/>
              <a:defRPr sz="8710"/>
            </a:lvl2pPr>
            <a:lvl3pPr marL="2844333" indent="0">
              <a:buNone/>
              <a:defRPr sz="7465"/>
            </a:lvl3pPr>
            <a:lvl4pPr marL="4266499" indent="0">
              <a:buNone/>
              <a:defRPr sz="6221"/>
            </a:lvl4pPr>
            <a:lvl5pPr marL="5688665" indent="0">
              <a:buNone/>
              <a:defRPr sz="6221"/>
            </a:lvl5pPr>
            <a:lvl6pPr marL="7110832" indent="0">
              <a:buNone/>
              <a:defRPr sz="6221"/>
            </a:lvl6pPr>
            <a:lvl7pPr marL="8532998" indent="0">
              <a:buNone/>
              <a:defRPr sz="6221"/>
            </a:lvl7pPr>
            <a:lvl8pPr marL="9955164" indent="0">
              <a:buNone/>
              <a:defRPr sz="6221"/>
            </a:lvl8pPr>
            <a:lvl9pPr marL="11377331" indent="0">
              <a:buNone/>
              <a:defRPr sz="62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891" y="36865573"/>
            <a:ext cx="23607888" cy="37093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866"/>
              </a:spcAft>
              <a:buNone/>
              <a:defRPr sz="4666">
                <a:solidFill>
                  <a:srgbClr val="FFFFFF"/>
                </a:solidFill>
              </a:defRPr>
            </a:lvl1pPr>
            <a:lvl2pPr marL="1422166" indent="0">
              <a:buNone/>
              <a:defRPr sz="3733"/>
            </a:lvl2pPr>
            <a:lvl3pPr marL="2844333" indent="0">
              <a:buNone/>
              <a:defRPr sz="3111"/>
            </a:lvl3pPr>
            <a:lvl4pPr marL="4266499" indent="0">
              <a:buNone/>
              <a:defRPr sz="2800"/>
            </a:lvl4pPr>
            <a:lvl5pPr marL="5688665" indent="0">
              <a:buNone/>
              <a:defRPr sz="2800"/>
            </a:lvl5pPr>
            <a:lvl6pPr marL="7110832" indent="0">
              <a:buNone/>
              <a:defRPr sz="2800"/>
            </a:lvl6pPr>
            <a:lvl7pPr marL="8532998" indent="0">
              <a:buNone/>
              <a:defRPr sz="2800"/>
            </a:lvl7pPr>
            <a:lvl8pPr marL="9955164" indent="0">
              <a:buNone/>
              <a:defRPr sz="2800"/>
            </a:lvl8pPr>
            <a:lvl9pPr marL="11377331" indent="0">
              <a:buNone/>
              <a:defRPr sz="2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4166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4668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11" y="39947215"/>
            <a:ext cx="28435832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9" y="39532291"/>
            <a:ext cx="28435832" cy="399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354694" y="2573165"/>
            <a:ext cx="6133073" cy="359473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5474" y="2573165"/>
            <a:ext cx="18043679" cy="3594736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9961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39947215"/>
            <a:ext cx="28443241" cy="28533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" y="39532288"/>
            <a:ext cx="28443241" cy="4118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59892" y="1788691"/>
            <a:ext cx="23465671" cy="905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890" y="11519175"/>
            <a:ext cx="23465674" cy="251096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59896" y="40315349"/>
            <a:ext cx="576766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fld id="{0C972FCD-9765-44CC-9752-E7B11B5CC4F6}" type="datetimeFigureOut">
              <a:rPr lang="en-IN" smtClean="0"/>
              <a:pPr/>
              <a:t>02-08-2021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99661" y="40315349"/>
            <a:ext cx="11251326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097205" y="40315349"/>
            <a:ext cx="3060880" cy="227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66">
                <a:solidFill>
                  <a:srgbClr val="FFFFFF"/>
                </a:solidFill>
              </a:defRPr>
            </a:lvl1pPr>
          </a:lstStyle>
          <a:p>
            <a:fld id="{1CF6D0B2-FC02-4FCE-96D5-8F676BDAAEE6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2784442" y="10845842"/>
            <a:ext cx="2325234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2193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2844333" rtl="0" eaLnBrk="1" latinLnBrk="0" hangingPunct="1">
        <a:lnSpc>
          <a:spcPct val="85000"/>
        </a:lnSpc>
        <a:spcBef>
          <a:spcPct val="0"/>
        </a:spcBef>
        <a:buNone/>
        <a:defRPr sz="14931" kern="1200" spc="-156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84433" indent="-284433" algn="l" defTabSz="2844333" rtl="0" eaLnBrk="1" latinLnBrk="0" hangingPunct="1">
        <a:lnSpc>
          <a:spcPct val="90000"/>
        </a:lnSpc>
        <a:spcBef>
          <a:spcPts val="3733"/>
        </a:spcBef>
        <a:spcAft>
          <a:spcPts val="62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622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94620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55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63486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332353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01219" indent="-568867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42166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04378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66590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288020" indent="-711083" algn="l" defTabSz="2844333" rtl="0" eaLnBrk="1" latinLnBrk="0" hangingPunct="1">
        <a:lnSpc>
          <a:spcPct val="90000"/>
        </a:lnSpc>
        <a:spcBef>
          <a:spcPts val="622"/>
        </a:spcBef>
        <a:spcAft>
          <a:spcPts val="1244"/>
        </a:spcAft>
        <a:buClr>
          <a:schemeClr val="accent1"/>
        </a:buClr>
        <a:buFont typeface="Calibri" pitchFamily="34" charset="0"/>
        <a:buChar char="◦"/>
        <a:defRPr sz="43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422166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2pPr>
      <a:lvl3pPr marL="2844333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499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4pPr>
      <a:lvl5pPr marL="5688665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5pPr>
      <a:lvl6pPr marL="7110832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6pPr>
      <a:lvl7pPr marL="8532998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7pPr>
      <a:lvl8pPr marL="9955164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8pPr>
      <a:lvl9pPr marL="11377331" algn="l" defTabSz="2844333" rtl="0" eaLnBrk="1" latinLnBrk="0" hangingPunct="1">
        <a:defRPr sz="5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jpeg"/><Relationship Id="rId1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840963" y="485191"/>
            <a:ext cx="16104638" cy="3163697"/>
          </a:xfrm>
          <a:prstGeom prst="roundRect">
            <a:avLst/>
          </a:prstGeom>
          <a:solidFill>
            <a:srgbClr val="FFFFCC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800" b="1" dirty="0">
                <a:latin typeface="Adobe Ming Std L" pitchFamily="18" charset="-128"/>
                <a:ea typeface="Adobe Ming Std L" pitchFamily="18" charset="-128"/>
              </a:rPr>
              <a:t>Fluid Mechanics</a:t>
            </a:r>
          </a:p>
          <a:p>
            <a:pPr algn="ctr"/>
            <a:r>
              <a:rPr lang="en-IN" sz="8800" b="1" dirty="0">
                <a:latin typeface="Adobe Ming Std L" pitchFamily="18" charset="-128"/>
                <a:ea typeface="Adobe Ming Std L" pitchFamily="18" charset="-128"/>
              </a:rPr>
              <a:t>Project based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0422" y="6363478"/>
            <a:ext cx="13658992" cy="7924800"/>
          </a:xfrm>
          <a:prstGeom prst="roundRect">
            <a:avLst/>
          </a:prstGeom>
          <a:solidFill>
            <a:srgbClr val="FFFFCC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Automobiles 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roads today have various shapes and sizes, like sedans,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hatchbacks, pick-up trucks, SUVs, sports cars and more. Each car model is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a specific operation; for example, a sports car is designed to optimize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lift and drag forces acting on the car so that it can reach top speeds over a short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 and enhance maneuvering capabilities at high </a:t>
            </a: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speeds.</a:t>
            </a:r>
          </a:p>
          <a:p>
            <a:pPr algn="just"/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Aerodynamic Forces</a:t>
            </a:r>
          </a:p>
          <a:p>
            <a:pPr algn="just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 - which assists with pushing an object ahead.</a:t>
            </a:r>
          </a:p>
          <a:p>
            <a:pPr algn="just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 - which keeps it down.</a:t>
            </a:r>
          </a:p>
          <a:p>
            <a:pPr algn="just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Lift - which keeps it airborne.</a:t>
            </a:r>
          </a:p>
          <a:p>
            <a:pPr algn="ctr"/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2248039" y="5943600"/>
            <a:ext cx="4936532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196725" y="6400800"/>
            <a:ext cx="11849195" cy="7924800"/>
          </a:xfrm>
          <a:prstGeom prst="roundRect">
            <a:avLst/>
          </a:prstGeom>
          <a:solidFill>
            <a:srgbClr val="FFFFCC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6440539" y="5850294"/>
            <a:ext cx="3918857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09792" y="15055850"/>
            <a:ext cx="13245963" cy="7527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simulation, you will learn how to set up a simulation to analyze the flow over a 2D sedan cross section and to calculate various forces acting on the car. By using “ANSYS FLUENT.”</a:t>
            </a:r>
          </a:p>
          <a:p>
            <a:pPr algn="ctr"/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2322685" y="14605000"/>
            <a:ext cx="3928826" cy="9144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400" dirty="0"/>
          </a:p>
        </p:txBody>
      </p:sp>
      <p:sp>
        <p:nvSpPr>
          <p:cNvPr id="17" name="Rounded Rectangle 16"/>
          <p:cNvSpPr/>
          <p:nvPr/>
        </p:nvSpPr>
        <p:spPr>
          <a:xfrm>
            <a:off x="16571169" y="14673295"/>
            <a:ext cx="4148938" cy="9144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9792" y="23615650"/>
            <a:ext cx="13245963" cy="6383034"/>
          </a:xfrm>
          <a:prstGeom prst="roundRect">
            <a:avLst/>
          </a:prstGeom>
          <a:solidFill>
            <a:srgbClr val="F8E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u="sng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Steps </a:t>
            </a:r>
            <a:r>
              <a:rPr lang="en-US" sz="2800" u="sng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involved in Physics Setup: </a:t>
            </a:r>
            <a:endParaRPr lang="en-US" sz="2800" u="sng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/>
            <a:endParaRPr lang="en-US" sz="28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 Use steady state pressure based solver and select all the options.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2.Set viscous model. Use realizable k-epsilon model with enhanced wall treatment and click ok.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3.Set material properties. Use constant density.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4.Define boundary conditions. Set inlet as Velocity- Inlet with Velocity Magnitude of 25 m/s. 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Set outlet as Pressure-Outlet and symmetry as Symmetry.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67539" y="23071312"/>
            <a:ext cx="5353851" cy="914400"/>
          </a:xfrm>
          <a:prstGeom prst="roundRect">
            <a:avLst/>
          </a:prstGeom>
          <a:solidFill>
            <a:srgbClr val="C0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set up</a:t>
            </a:r>
            <a:endParaRPr lang="en-IN" sz="4400" dirty="0"/>
          </a:p>
        </p:txBody>
      </p:sp>
      <p:sp>
        <p:nvSpPr>
          <p:cNvPr id="20" name="Rounded Rectangle 19"/>
          <p:cNvSpPr/>
          <p:nvPr/>
        </p:nvSpPr>
        <p:spPr>
          <a:xfrm>
            <a:off x="970384" y="31406841"/>
            <a:ext cx="13034071" cy="7204088"/>
          </a:xfrm>
          <a:prstGeom prst="roundRect">
            <a:avLst/>
          </a:prstGeom>
          <a:solidFill>
            <a:srgbClr val="E7CF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 methods and controls. Use defaults. </a:t>
            </a: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2.Set residuals criteria to 1e-3. </a:t>
            </a: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3.Define monitors for drag and lift coefficients. </a:t>
            </a: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4.Initialize and fill no. of iterations 500 and run the simulation </a:t>
            </a:r>
            <a:endParaRPr lang="en-IN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182638" y="30854110"/>
            <a:ext cx="5213978" cy="85734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Numerical 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46008" y="31462432"/>
            <a:ext cx="11849195" cy="6998352"/>
          </a:xfrm>
          <a:prstGeom prst="roundRect">
            <a:avLst/>
          </a:prstGeom>
          <a:solidFill>
            <a:srgbClr val="D4D4E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sz="36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Velocity </a:t>
            </a:r>
            <a:r>
              <a:rPr lang="en-US" sz="36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vectors</a:t>
            </a:r>
            <a:endParaRPr lang="en-IN" sz="3600" b="1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6048652" y="31033616"/>
            <a:ext cx="4520735" cy="92360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xmlns="" val="3116482557"/>
              </p:ext>
            </p:extLst>
          </p:nvPr>
        </p:nvGraphicFramePr>
        <p:xfrm>
          <a:off x="15563461" y="7165910"/>
          <a:ext cx="11151131" cy="5843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AAC1B69-6245-4A1F-951A-9268473F7BC7}"/>
              </a:ext>
            </a:extLst>
          </p:cNvPr>
          <p:cNvSpPr txBox="1"/>
          <p:nvPr/>
        </p:nvSpPr>
        <p:spPr>
          <a:xfrm>
            <a:off x="2248039" y="4069373"/>
            <a:ext cx="24703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latin typeface="Adobe Ming Std L" pitchFamily="18" charset="-128"/>
                <a:ea typeface="Adobe Ming Std L" pitchFamily="18" charset="-128"/>
              </a:rPr>
              <a:t>Topic :  CAR CROSS-SECTION </a:t>
            </a:r>
            <a:endParaRPr lang="en-US" sz="6000" b="1" dirty="0">
              <a:solidFill>
                <a:srgbClr val="FF0000"/>
              </a:solidFill>
              <a:latin typeface="Adobe Ming Std L" pitchFamily="18" charset="-128"/>
              <a:ea typeface="Adobe Ming Std L" pitchFamily="18" charset="-128"/>
            </a:endParaRPr>
          </a:p>
        </p:txBody>
      </p:sp>
      <p:pic>
        <p:nvPicPr>
          <p:cNvPr id="39" name="Picture 38"/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34256" t="19694" b="23598"/>
          <a:stretch/>
        </p:blipFill>
        <p:spPr bwMode="auto">
          <a:xfrm>
            <a:off x="21821874" y="15722396"/>
            <a:ext cx="5348870" cy="3741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  <p:sp>
        <p:nvSpPr>
          <p:cNvPr id="40" name="Rounded Rectangle 39"/>
          <p:cNvSpPr/>
          <p:nvPr/>
        </p:nvSpPr>
        <p:spPr>
          <a:xfrm>
            <a:off x="15414170" y="23708958"/>
            <a:ext cx="12338601" cy="6383034"/>
          </a:xfrm>
          <a:prstGeom prst="roundRect">
            <a:avLst/>
          </a:prstGeom>
          <a:solidFill>
            <a:srgbClr val="F8E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2800" dirty="0" smtClean="0"/>
          </a:p>
          <a:p>
            <a:r>
              <a:rPr lang="en-US" sz="2800" b="1" u="sng" dirty="0" smtClean="0">
                <a:solidFill>
                  <a:schemeClr val="bg2">
                    <a:lumMod val="25000"/>
                  </a:schemeClr>
                </a:solidFill>
              </a:rPr>
              <a:t> Contours of stream function</a:t>
            </a: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                               </a:t>
            </a:r>
            <a:r>
              <a:rPr lang="en-US" sz="2800" b="1" u="sng" dirty="0" smtClean="0">
                <a:solidFill>
                  <a:schemeClr val="bg2">
                    <a:lumMod val="25000"/>
                  </a:schemeClr>
                </a:solidFill>
              </a:rPr>
              <a:t>Contours of velocity magnitude</a:t>
            </a:r>
            <a:endParaRPr lang="en-IN" sz="1400" b="1" u="sng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6029991" y="31033616"/>
            <a:ext cx="4520735" cy="92360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880702" y="23251886"/>
            <a:ext cx="4520735" cy="92360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4" name="image6.jpe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750073" y="7725747"/>
            <a:ext cx="5505062" cy="45906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8" name="image15.jpe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762936" y="15795462"/>
            <a:ext cx="5753456" cy="3649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0" name="image18.jpe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002431" y="32522518"/>
            <a:ext cx="8488802" cy="42400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" name="Picture 50"/>
          <p:cNvPicPr/>
          <p:nvPr/>
        </p:nvPicPr>
        <p:blipFill rotWithShape="1">
          <a:blip r:embed="rId12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34359" t="22975" r="616" b="26151"/>
          <a:stretch/>
        </p:blipFill>
        <p:spPr bwMode="auto">
          <a:xfrm>
            <a:off x="15556983" y="24573401"/>
            <a:ext cx="6257986" cy="35117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  <p:pic>
        <p:nvPicPr>
          <p:cNvPr id="52" name="image17.jpeg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063226" y="24577411"/>
            <a:ext cx="5331450" cy="35637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3" name="Rectangle 52"/>
          <p:cNvSpPr/>
          <p:nvPr/>
        </p:nvSpPr>
        <p:spPr>
          <a:xfrm>
            <a:off x="20060817" y="20151143"/>
            <a:ext cx="4665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u="sng" dirty="0" smtClean="0">
                <a:latin typeface="Times New Roman" pitchFamily="18" charset="0"/>
                <a:cs typeface="Times New Roman" pitchFamily="18" charset="0"/>
              </a:rPr>
              <a:t>Graph of Drag</a:t>
            </a:r>
            <a:endParaRPr lang="en-US" sz="4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See the source imag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299092" y="11532636"/>
            <a:ext cx="6964368" cy="2176365"/>
          </a:xfrm>
          <a:prstGeom prst="rect">
            <a:avLst/>
          </a:prstGeom>
          <a:noFill/>
        </p:spPr>
      </p:pic>
      <p:sp>
        <p:nvSpPr>
          <p:cNvPr id="54" name="TextBox 53"/>
          <p:cNvSpPr txBox="1"/>
          <p:nvPr/>
        </p:nvSpPr>
        <p:spPr>
          <a:xfrm>
            <a:off x="-1" y="39972343"/>
            <a:ext cx="80243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cs typeface="Times New Roman" pitchFamily="18" charset="0"/>
              </a:rPr>
              <a:t>Team Members :</a:t>
            </a:r>
          </a:p>
          <a:p>
            <a:endParaRPr lang="en-US" sz="3200" dirty="0" smtClean="0"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3200" dirty="0" smtClean="0">
                <a:cs typeface="Times New Roman" pitchFamily="18" charset="0"/>
              </a:rPr>
              <a:t> </a:t>
            </a:r>
            <a:r>
              <a:rPr lang="en-US" sz="3200" dirty="0" err="1" smtClean="0">
                <a:cs typeface="Times New Roman" pitchFamily="18" charset="0"/>
              </a:rPr>
              <a:t>Siddharth</a:t>
            </a:r>
            <a:r>
              <a:rPr lang="en-US" sz="3200" dirty="0" smtClean="0">
                <a:cs typeface="Times New Roman" pitchFamily="18" charset="0"/>
              </a:rPr>
              <a:t> </a:t>
            </a:r>
            <a:r>
              <a:rPr lang="en-US" sz="3200" dirty="0" err="1" smtClean="0">
                <a:cs typeface="Times New Roman" pitchFamily="18" charset="0"/>
              </a:rPr>
              <a:t>Yadav</a:t>
            </a:r>
            <a:r>
              <a:rPr lang="en-US" sz="3200" dirty="0" smtClean="0">
                <a:cs typeface="Times New Roman" pitchFamily="18" charset="0"/>
              </a:rPr>
              <a:t>     2. </a:t>
            </a:r>
            <a:r>
              <a:rPr lang="en-US" sz="3200" dirty="0" err="1" smtClean="0">
                <a:cs typeface="Times New Roman" pitchFamily="18" charset="0"/>
              </a:rPr>
              <a:t>Fakidul</a:t>
            </a:r>
            <a:r>
              <a:rPr lang="en-US" sz="3200" dirty="0" smtClean="0">
                <a:cs typeface="Times New Roman" pitchFamily="18" charset="0"/>
              </a:rPr>
              <a:t> </a:t>
            </a:r>
            <a:r>
              <a:rPr lang="en-US" sz="3200" dirty="0" err="1" smtClean="0">
                <a:cs typeface="Times New Roman" pitchFamily="18" charset="0"/>
              </a:rPr>
              <a:t>Azam</a:t>
            </a:r>
            <a:endParaRPr lang="en-US" sz="3200" dirty="0" smtClean="0">
              <a:cs typeface="Times New Roman" pitchFamily="18" charset="0"/>
            </a:endParaRPr>
          </a:p>
          <a:p>
            <a:pPr marL="342900" indent="-342900"/>
            <a:r>
              <a:rPr lang="en-US" sz="3200" dirty="0" smtClean="0">
                <a:cs typeface="Times New Roman" pitchFamily="18" charset="0"/>
              </a:rPr>
              <a:t>3. </a:t>
            </a:r>
            <a:r>
              <a:rPr lang="en-US" sz="3200" dirty="0" err="1" smtClean="0">
                <a:cs typeface="Times New Roman" pitchFamily="18" charset="0"/>
              </a:rPr>
              <a:t>Jogesh</a:t>
            </a:r>
            <a:r>
              <a:rPr lang="en-US" sz="3200" dirty="0" smtClean="0">
                <a:cs typeface="Times New Roman" pitchFamily="18" charset="0"/>
              </a:rPr>
              <a:t> </a:t>
            </a:r>
            <a:r>
              <a:rPr lang="en-US" sz="3200" dirty="0" err="1" smtClean="0">
                <a:cs typeface="Times New Roman" pitchFamily="18" charset="0"/>
              </a:rPr>
              <a:t>Bhardwaj</a:t>
            </a:r>
            <a:r>
              <a:rPr lang="en-US" sz="3200" dirty="0" smtClean="0">
                <a:cs typeface="Times New Roman" pitchFamily="18" charset="0"/>
              </a:rPr>
              <a:t>    </a:t>
            </a:r>
            <a:r>
              <a:rPr lang="en-US" sz="3200" dirty="0" smtClean="0">
                <a:cs typeface="Times New Roman" pitchFamily="18" charset="0"/>
              </a:rPr>
              <a:t>4</a:t>
            </a:r>
            <a:r>
              <a:rPr lang="en-US" sz="3200" dirty="0" smtClean="0">
                <a:cs typeface="Times New Roman" pitchFamily="18" charset="0"/>
              </a:rPr>
              <a:t>. </a:t>
            </a:r>
            <a:r>
              <a:rPr lang="en-US" sz="3200" dirty="0" err="1" smtClean="0">
                <a:cs typeface="Times New Roman" pitchFamily="18" charset="0"/>
              </a:rPr>
              <a:t>Shahbaz</a:t>
            </a:r>
            <a:r>
              <a:rPr lang="en-US" sz="3200" dirty="0" smtClean="0">
                <a:cs typeface="Times New Roman" pitchFamily="18" charset="0"/>
              </a:rPr>
              <a:t> </a:t>
            </a:r>
            <a:r>
              <a:rPr lang="en-US" sz="3200" dirty="0" smtClean="0">
                <a:cs typeface="Times New Roman" pitchFamily="18" charset="0"/>
              </a:rPr>
              <a:t>Khan </a:t>
            </a:r>
          </a:p>
          <a:p>
            <a:pPr marL="342900" indent="-342900"/>
            <a:r>
              <a:rPr lang="en-US" sz="3200" dirty="0" smtClean="0">
                <a:cs typeface="Times New Roman" pitchFamily="18" charset="0"/>
              </a:rPr>
              <a:t>5. </a:t>
            </a:r>
            <a:r>
              <a:rPr lang="en-US" sz="3200" dirty="0" err="1" smtClean="0">
                <a:cs typeface="Times New Roman" pitchFamily="18" charset="0"/>
              </a:rPr>
              <a:t>Shahzeb</a:t>
            </a:r>
            <a:r>
              <a:rPr lang="en-US" sz="3200" dirty="0" smtClean="0">
                <a:cs typeface="Times New Roman" pitchFamily="18" charset="0"/>
              </a:rPr>
              <a:t> Anwar</a:t>
            </a:r>
            <a:endParaRPr lang="en-US" sz="3200" dirty="0">
              <a:cs typeface="Times New Roman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908278" y="40606824"/>
            <a:ext cx="5757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/>
              <a:t>Instructor : MR. Faisal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xmlns="" val="1985454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241</TotalTime>
  <Words>313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Retrospect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Sartaj Anwar Khan</dc:creator>
  <cp:lastModifiedBy>dell</cp:lastModifiedBy>
  <cp:revision>24</cp:revision>
  <dcterms:created xsi:type="dcterms:W3CDTF">2021-06-08T20:16:13Z</dcterms:created>
  <dcterms:modified xsi:type="dcterms:W3CDTF">2021-08-02T07:03:47Z</dcterms:modified>
</cp:coreProperties>
</file>